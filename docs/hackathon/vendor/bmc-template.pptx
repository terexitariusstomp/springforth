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1.xml" ContentType="application/vnd.openxmlformats-officedocument.drawingml.diagram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810" r:id="rId2"/>
    <p:sldId id="811" r:id="rId3"/>
    <p:sldId id="809" r:id="rId4"/>
    <p:sldId id="298" r:id="rId5"/>
    <p:sldId id="132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4" autoAdjust="0"/>
    <p:restoredTop sz="94365" autoAdjust="0"/>
  </p:normalViewPr>
  <p:slideViewPr>
    <p:cSldViewPr snapToGrid="0">
      <p:cViewPr varScale="1">
        <p:scale>
          <a:sx n="105" d="100"/>
          <a:sy n="105"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91585B-FD9B-4FDC-940E-F16B188611DF}" type="doc">
      <dgm:prSet loTypeId="urn:microsoft.com/office/officeart/2005/8/layout/chevronAccent+Icon" loCatId="process" qsTypeId="urn:microsoft.com/office/officeart/2005/8/quickstyle/simple1" qsCatId="simple" csTypeId="urn:microsoft.com/office/officeart/2005/8/colors/accent0_3" csCatId="mainScheme" phldr="1"/>
      <dgm:spPr/>
      <dgm:t>
        <a:bodyPr/>
        <a:lstStyle/>
        <a:p>
          <a:endParaRPr lang="en-US"/>
        </a:p>
      </dgm:t>
    </dgm:pt>
    <dgm:pt modelId="{3D196BA1-8327-42F7-B9E5-87D503CB93F4}">
      <dgm:prSet phldrT="[Text]" custT="1"/>
      <dgm:spPr/>
      <dgm:t>
        <a:bodyPr/>
        <a:lstStyle/>
        <a:p>
          <a:pPr marL="0" lvl="0" algn="l" defTabSz="622300">
            <a:lnSpc>
              <a:spcPct val="90000"/>
            </a:lnSpc>
            <a:spcBef>
              <a:spcPct val="0"/>
            </a:spcBef>
            <a:spcAft>
              <a:spcPct val="35000"/>
            </a:spcAft>
            <a:buNone/>
          </a:pPr>
          <a:r>
            <a:rPr lang="en-US" sz="1400" kern="1200" dirty="0"/>
            <a:t>POC  first wave clients signed</a:t>
          </a:r>
        </a:p>
        <a:p>
          <a:pPr marL="0" lvl="0" algn="l" defTabSz="622300">
            <a:lnSpc>
              <a:spcPct val="90000"/>
            </a:lnSpc>
            <a:spcBef>
              <a:spcPct val="0"/>
            </a:spcBef>
            <a:spcAft>
              <a:spcPct val="35000"/>
            </a:spcAft>
            <a:buNone/>
          </a:pPr>
          <a:endParaRPr lang="en-US" sz="1400" kern="1200" dirty="0">
            <a:solidFill>
              <a:srgbClr val="404040">
                <a:hueOff val="0"/>
                <a:satOff val="0"/>
                <a:lumOff val="0"/>
                <a:alphaOff val="0"/>
              </a:srgbClr>
            </a:solidFill>
            <a:latin typeface="Corbel"/>
            <a:ea typeface="+mn-ea"/>
            <a:cs typeface="+mn-cs"/>
          </a:endParaRPr>
        </a:p>
        <a:p>
          <a:pPr marL="0" lvl="0" algn="l" defTabSz="622300" rtl="0">
            <a:lnSpc>
              <a:spcPct val="90000"/>
            </a:lnSpc>
            <a:spcBef>
              <a:spcPct val="0"/>
            </a:spcBef>
            <a:spcAft>
              <a:spcPct val="35000"/>
            </a:spcAft>
            <a:buNone/>
          </a:pPr>
          <a:r>
            <a:rPr lang="en-US" sz="1400" kern="1200" dirty="0">
              <a:solidFill>
                <a:srgbClr val="404040">
                  <a:hueOff val="0"/>
                  <a:satOff val="0"/>
                  <a:lumOff val="0"/>
                  <a:alphaOff val="0"/>
                </a:srgbClr>
              </a:solidFill>
              <a:latin typeface="Corbel"/>
              <a:ea typeface="+mn-ea"/>
              <a:cs typeface="+mn-cs"/>
            </a:rPr>
            <a:t>May 30 </a:t>
          </a:r>
          <a:r>
            <a:rPr lang="en-US" sz="1400" kern="1200" dirty="0">
              <a:latin typeface="Corbel"/>
              <a:ea typeface="+mn-ea"/>
              <a:cs typeface="+mn-cs"/>
            </a:rPr>
            <a:t>2025</a:t>
          </a:r>
          <a:endParaRPr lang="en-US" sz="1400" kern="1200" dirty="0"/>
        </a:p>
        <a:p>
          <a:pPr marL="0" lvl="0" algn="l" defTabSz="622300">
            <a:lnSpc>
              <a:spcPct val="90000"/>
            </a:lnSpc>
            <a:spcBef>
              <a:spcPct val="0"/>
            </a:spcBef>
            <a:spcAft>
              <a:spcPct val="35000"/>
            </a:spcAft>
            <a:buNone/>
          </a:pPr>
          <a:endParaRPr lang="en-US" sz="1400" kern="1200" dirty="0">
            <a:latin typeface="Corbel"/>
            <a:ea typeface="+mn-ea"/>
            <a:cs typeface="+mn-cs"/>
          </a:endParaRPr>
        </a:p>
      </dgm:t>
    </dgm:pt>
    <dgm:pt modelId="{A2507B0B-8670-490A-A262-42446148EFC1}" type="parTrans" cxnId="{3034C04C-4B99-4452-89EF-B3C28EEE5939}">
      <dgm:prSet/>
      <dgm:spPr/>
      <dgm:t>
        <a:bodyPr/>
        <a:lstStyle/>
        <a:p>
          <a:endParaRPr lang="en-US"/>
        </a:p>
      </dgm:t>
    </dgm:pt>
    <dgm:pt modelId="{2F8CDDFD-859D-49A6-83DB-88370576A339}" type="sibTrans" cxnId="{3034C04C-4B99-4452-89EF-B3C28EEE5939}">
      <dgm:prSet/>
      <dgm:spPr/>
      <dgm:t>
        <a:bodyPr/>
        <a:lstStyle/>
        <a:p>
          <a:endParaRPr lang="en-US"/>
        </a:p>
      </dgm:t>
    </dgm:pt>
    <dgm:pt modelId="{4C944641-FCF5-4AD8-B261-60AA0024A79E}">
      <dgm:prSet phldrT="[Text]" custT="1"/>
      <dgm:spPr/>
      <dgm:t>
        <a:bodyPr/>
        <a:lstStyle/>
        <a:p>
          <a:pPr marL="0" lvl="0" algn="l" defTabSz="622300">
            <a:lnSpc>
              <a:spcPct val="90000"/>
            </a:lnSpc>
            <a:spcBef>
              <a:spcPct val="0"/>
            </a:spcBef>
            <a:spcAft>
              <a:spcPct val="35000"/>
            </a:spcAft>
            <a:buNone/>
          </a:pPr>
          <a:r>
            <a:rPr lang="en-US" sz="1400" kern="1200" dirty="0"/>
            <a:t>Onboarded first wave clients</a:t>
          </a:r>
        </a:p>
        <a:p>
          <a:pPr marL="0" lvl="0" algn="l" defTabSz="622300">
            <a:lnSpc>
              <a:spcPct val="90000"/>
            </a:lnSpc>
            <a:spcBef>
              <a:spcPct val="0"/>
            </a:spcBef>
            <a:spcAft>
              <a:spcPct val="35000"/>
            </a:spcAft>
            <a:buNone/>
          </a:pPr>
          <a:endParaRPr lang="en-US" sz="1400" kern="1200" dirty="0"/>
        </a:p>
        <a:p>
          <a:pPr marL="0" lvl="0" algn="l" defTabSz="622300">
            <a:lnSpc>
              <a:spcPct val="90000"/>
            </a:lnSpc>
            <a:spcBef>
              <a:spcPct val="0"/>
            </a:spcBef>
            <a:spcAft>
              <a:spcPct val="35000"/>
            </a:spcAft>
            <a:buNone/>
          </a:pPr>
          <a:r>
            <a:rPr lang="en-US" sz="1400" kern="1200" dirty="0"/>
            <a:t> </a:t>
          </a:r>
        </a:p>
      </dgm:t>
    </dgm:pt>
    <dgm:pt modelId="{8E5E79D8-FB05-4739-B0F5-8BE6ED2F29C8}" type="parTrans" cxnId="{DA278ECD-ED39-4044-9E8D-6DE29F7C3FB3}">
      <dgm:prSet/>
      <dgm:spPr/>
      <dgm:t>
        <a:bodyPr/>
        <a:lstStyle/>
        <a:p>
          <a:endParaRPr lang="en-US"/>
        </a:p>
      </dgm:t>
    </dgm:pt>
    <dgm:pt modelId="{FCC9CB30-198F-41E6-B00A-25E93E3DC839}" type="sibTrans" cxnId="{DA278ECD-ED39-4044-9E8D-6DE29F7C3FB3}">
      <dgm:prSet/>
      <dgm:spPr/>
      <dgm:t>
        <a:bodyPr/>
        <a:lstStyle/>
        <a:p>
          <a:endParaRPr lang="en-US"/>
        </a:p>
      </dgm:t>
    </dgm:pt>
    <dgm:pt modelId="{F8FB1AE1-7950-4301-88C4-3D45B2DAEABD}">
      <dgm:prSet phldrT="[Text]" custT="1"/>
      <dgm:spPr/>
      <dgm:t>
        <a:bodyPr/>
        <a:lstStyle/>
        <a:p>
          <a:pPr marL="0" lvl="0" algn="l" defTabSz="622300">
            <a:lnSpc>
              <a:spcPct val="90000"/>
            </a:lnSpc>
            <a:spcBef>
              <a:spcPct val="0"/>
            </a:spcBef>
            <a:spcAft>
              <a:spcPct val="35000"/>
            </a:spcAft>
            <a:buNone/>
          </a:pPr>
          <a:r>
            <a:rPr lang="en-US" sz="1400" kern="1200" dirty="0"/>
            <a:t>Transactional Testing  commences </a:t>
          </a:r>
        </a:p>
        <a:p>
          <a:pPr marL="0" lvl="0" algn="l" defTabSz="622300">
            <a:lnSpc>
              <a:spcPct val="90000"/>
            </a:lnSpc>
            <a:spcBef>
              <a:spcPct val="0"/>
            </a:spcBef>
            <a:spcAft>
              <a:spcPct val="35000"/>
            </a:spcAft>
            <a:buNone/>
          </a:pPr>
          <a:endParaRPr lang="en-US" sz="1400" kern="1200" dirty="0"/>
        </a:p>
        <a:p>
          <a:pPr marL="0" lvl="0" algn="l" defTabSz="622300">
            <a:lnSpc>
              <a:spcPct val="90000"/>
            </a:lnSpc>
            <a:spcBef>
              <a:spcPct val="0"/>
            </a:spcBef>
            <a:spcAft>
              <a:spcPct val="35000"/>
            </a:spcAft>
            <a:buNone/>
          </a:pPr>
          <a:endParaRPr lang="en-US" sz="1400" kern="1200" dirty="0"/>
        </a:p>
      </dgm:t>
    </dgm:pt>
    <dgm:pt modelId="{DE3B344A-4481-4A7F-BF08-FA41E5323599}" type="parTrans" cxnId="{977E16C2-B327-4A54-873C-9FB8292020C4}">
      <dgm:prSet/>
      <dgm:spPr/>
      <dgm:t>
        <a:bodyPr/>
        <a:lstStyle/>
        <a:p>
          <a:endParaRPr lang="en-US"/>
        </a:p>
      </dgm:t>
    </dgm:pt>
    <dgm:pt modelId="{1995DAFA-2969-47AE-BAD4-7226AF43A4A9}" type="sibTrans" cxnId="{977E16C2-B327-4A54-873C-9FB8292020C4}">
      <dgm:prSet/>
      <dgm:spPr/>
      <dgm:t>
        <a:bodyPr/>
        <a:lstStyle/>
        <a:p>
          <a:endParaRPr lang="en-US"/>
        </a:p>
      </dgm:t>
    </dgm:pt>
    <dgm:pt modelId="{B7F213D6-AC1C-4269-8455-91A2A9931F05}">
      <dgm:prSet phldrT="[Text]" custT="1"/>
      <dgm:spPr/>
      <dgm:t>
        <a:bodyPr/>
        <a:lstStyle/>
        <a:p>
          <a:pPr marL="0" lvl="0" algn="l" defTabSz="711200">
            <a:lnSpc>
              <a:spcPct val="90000"/>
            </a:lnSpc>
            <a:spcBef>
              <a:spcPct val="0"/>
            </a:spcBef>
            <a:spcAft>
              <a:spcPct val="35000"/>
            </a:spcAft>
            <a:buNone/>
          </a:pPr>
          <a:r>
            <a:rPr lang="en-US" sz="1600" kern="1200" dirty="0"/>
            <a:t>Go Live with wave  1 FI clients</a:t>
          </a:r>
        </a:p>
      </dgm:t>
    </dgm:pt>
    <dgm:pt modelId="{3D956855-F314-45DD-A7E4-9DA3886AB7CC}" type="parTrans" cxnId="{2029BA2A-2457-4A98-99FA-B61D86B6DFC0}">
      <dgm:prSet/>
      <dgm:spPr/>
      <dgm:t>
        <a:bodyPr/>
        <a:lstStyle/>
        <a:p>
          <a:endParaRPr lang="en-US"/>
        </a:p>
      </dgm:t>
    </dgm:pt>
    <dgm:pt modelId="{D614A336-5FF3-4391-AE65-C801E6B1982D}" type="sibTrans" cxnId="{2029BA2A-2457-4A98-99FA-B61D86B6DFC0}">
      <dgm:prSet/>
      <dgm:spPr/>
      <dgm:t>
        <a:bodyPr/>
        <a:lstStyle/>
        <a:p>
          <a:endParaRPr lang="en-US"/>
        </a:p>
      </dgm:t>
    </dgm:pt>
    <dgm:pt modelId="{E8D8B103-69EC-4511-8358-B6CC928047DB}">
      <dgm:prSet phldrT="[Text]" custT="1"/>
      <dgm:spPr/>
      <dgm:t>
        <a:bodyPr/>
        <a:lstStyle/>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Sept 31 2025</a:t>
          </a:r>
        </a:p>
      </dgm:t>
    </dgm:pt>
    <dgm:pt modelId="{1D637EAC-CE50-46EA-AF5F-9FB480601BFE}" type="parTrans" cxnId="{EDABE1D7-6258-4908-B8B9-20F990FF78F7}">
      <dgm:prSet/>
      <dgm:spPr/>
      <dgm:t>
        <a:bodyPr/>
        <a:lstStyle/>
        <a:p>
          <a:endParaRPr lang="en-US"/>
        </a:p>
      </dgm:t>
    </dgm:pt>
    <dgm:pt modelId="{50AADD8D-53DE-40A4-9EDE-515AFE7CDEB8}" type="sibTrans" cxnId="{EDABE1D7-6258-4908-B8B9-20F990FF78F7}">
      <dgm:prSet/>
      <dgm:spPr/>
      <dgm:t>
        <a:bodyPr/>
        <a:lstStyle/>
        <a:p>
          <a:endParaRPr lang="en-US"/>
        </a:p>
      </dgm:t>
    </dgm:pt>
    <dgm:pt modelId="{2B0D741D-EB87-4383-BCA6-9A64848CD872}">
      <dgm:prSet phldrT="[Text]" custT="1"/>
      <dgm:spPr/>
      <dgm:t>
        <a:bodyPr/>
        <a:lstStyle/>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Oct 31 2025</a:t>
          </a:r>
        </a:p>
      </dgm:t>
    </dgm:pt>
    <dgm:pt modelId="{D7AE170C-5D08-45BE-B66C-ADCCEA2B6070}" type="parTrans" cxnId="{B20B877B-28D3-4AE4-B151-2E6BB83A2BAF}">
      <dgm:prSet/>
      <dgm:spPr/>
      <dgm:t>
        <a:bodyPr/>
        <a:lstStyle/>
        <a:p>
          <a:endParaRPr lang="en-US"/>
        </a:p>
      </dgm:t>
    </dgm:pt>
    <dgm:pt modelId="{C9E91C8C-F01A-4A22-961D-58CB0B96BE74}" type="sibTrans" cxnId="{B20B877B-28D3-4AE4-B151-2E6BB83A2BAF}">
      <dgm:prSet/>
      <dgm:spPr/>
      <dgm:t>
        <a:bodyPr/>
        <a:lstStyle/>
        <a:p>
          <a:endParaRPr lang="en-US"/>
        </a:p>
      </dgm:t>
    </dgm:pt>
    <dgm:pt modelId="{67A02677-135E-4B0F-BC35-8E5F1E51F9A6}">
      <dgm:prSet phldrT="[Text]" custT="1"/>
      <dgm:spPr/>
      <dgm:t>
        <a:bodyPr/>
        <a:lstStyle/>
        <a:p>
          <a:pPr marL="114300" lvl="1" indent="-114300" algn="l" defTabSz="62230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Dec 1 2025</a:t>
          </a:r>
        </a:p>
      </dgm:t>
    </dgm:pt>
    <dgm:pt modelId="{ECA723FB-08BB-4F59-8B80-29F6E90B7D83}" type="parTrans" cxnId="{71DF218E-037B-4DC0-A6DE-BE09006DC683}">
      <dgm:prSet/>
      <dgm:spPr/>
      <dgm:t>
        <a:bodyPr/>
        <a:lstStyle/>
        <a:p>
          <a:endParaRPr lang="en-US"/>
        </a:p>
      </dgm:t>
    </dgm:pt>
    <dgm:pt modelId="{5114D3EC-BCB3-4290-900A-CD5F9605A204}" type="sibTrans" cxnId="{71DF218E-037B-4DC0-A6DE-BE09006DC683}">
      <dgm:prSet/>
      <dgm:spPr/>
      <dgm:t>
        <a:bodyPr/>
        <a:lstStyle/>
        <a:p>
          <a:endParaRPr lang="en-US"/>
        </a:p>
      </dgm:t>
    </dgm:pt>
    <dgm:pt modelId="{F557FBA8-2662-4A56-B094-C6E2D6AF0C49}">
      <dgm:prSet phldrT="[Text]" custT="1"/>
      <dgm:spPr/>
      <dgm:t>
        <a:bodyPr/>
        <a:lstStyle/>
        <a:p>
          <a:pPr marL="0" lvl="0" algn="l" defTabSz="622300">
            <a:lnSpc>
              <a:spcPct val="90000"/>
            </a:lnSpc>
            <a:spcBef>
              <a:spcPct val="0"/>
            </a:spcBef>
            <a:spcAft>
              <a:spcPct val="35000"/>
            </a:spcAft>
            <a:buNone/>
          </a:pPr>
          <a:r>
            <a:rPr lang="en-US" sz="1400" kern="1200" dirty="0"/>
            <a:t>Partnership marketing launch and internal readiness</a:t>
          </a:r>
        </a:p>
        <a:p>
          <a:pPr marL="0" lvl="0" algn="l" defTabSz="622300">
            <a:lnSpc>
              <a:spcPct val="90000"/>
            </a:lnSpc>
            <a:spcBef>
              <a:spcPct val="0"/>
            </a:spcBef>
            <a:spcAft>
              <a:spcPct val="35000"/>
            </a:spcAft>
            <a:buNone/>
          </a:pPr>
          <a:endParaRPr lang="en-US" sz="1400" kern="1200" dirty="0"/>
        </a:p>
      </dgm:t>
    </dgm:pt>
    <dgm:pt modelId="{600C8D9D-FC11-47E2-A690-CD6399A95DA8}" type="parTrans" cxnId="{1D58A580-0847-48AB-89AD-356C676E8D79}">
      <dgm:prSet/>
      <dgm:spPr/>
      <dgm:t>
        <a:bodyPr/>
        <a:lstStyle/>
        <a:p>
          <a:endParaRPr lang="en-GB"/>
        </a:p>
      </dgm:t>
    </dgm:pt>
    <dgm:pt modelId="{979398BF-9B21-4CB5-9534-92AD7A98B32B}" type="sibTrans" cxnId="{1D58A580-0847-48AB-89AD-356C676E8D79}">
      <dgm:prSet/>
      <dgm:spPr/>
      <dgm:t>
        <a:bodyPr/>
        <a:lstStyle/>
        <a:p>
          <a:endParaRPr lang="en-GB"/>
        </a:p>
      </dgm:t>
    </dgm:pt>
    <dgm:pt modelId="{DC9D62F4-940B-40ED-8777-216AB6FED381}">
      <dgm:prSet phldrT="[Text]" custT="1"/>
      <dgm:spPr/>
      <dgm:t>
        <a:bodyPr/>
        <a:lstStyle/>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Feb 30 2025</a:t>
          </a:r>
        </a:p>
      </dgm:t>
    </dgm:pt>
    <dgm:pt modelId="{5449E223-0F91-4427-90DA-637F09F35279}" type="parTrans" cxnId="{71D18B59-0228-43BE-9C7E-47C10E3D1CF6}">
      <dgm:prSet/>
      <dgm:spPr/>
      <dgm:t>
        <a:bodyPr/>
        <a:lstStyle/>
        <a:p>
          <a:endParaRPr lang="en-GB"/>
        </a:p>
      </dgm:t>
    </dgm:pt>
    <dgm:pt modelId="{F647B436-D4E7-4600-86F0-7C264BD46288}" type="sibTrans" cxnId="{71D18B59-0228-43BE-9C7E-47C10E3D1CF6}">
      <dgm:prSet/>
      <dgm:spPr/>
      <dgm:t>
        <a:bodyPr/>
        <a:lstStyle/>
        <a:p>
          <a:endParaRPr lang="en-GB"/>
        </a:p>
      </dgm:t>
    </dgm:pt>
    <dgm:pt modelId="{4ED498D2-F774-469C-BCDF-5F0024AB2BD1}">
      <dgm:prSet phldrT="[Text]" custT="1"/>
      <dgm:spPr/>
      <dgm:t>
        <a:bodyPr/>
        <a:lstStyle/>
        <a:p>
          <a:pPr marL="0" lvl="0" algn="l" defTabSz="622300">
            <a:lnSpc>
              <a:spcPct val="90000"/>
            </a:lnSpc>
            <a:spcBef>
              <a:spcPct val="0"/>
            </a:spcBef>
            <a:spcAft>
              <a:spcPct val="35000"/>
            </a:spcAft>
            <a:buNone/>
          </a:pPr>
          <a:r>
            <a:rPr lang="en-US" sz="1400" kern="1200" dirty="0"/>
            <a:t>Partnering contracts complete</a:t>
          </a:r>
        </a:p>
      </dgm:t>
    </dgm:pt>
    <dgm:pt modelId="{DBD789E4-A0C7-4F03-A099-8A70DA2D6845}" type="parTrans" cxnId="{5A04BA7A-EA6D-4F24-9FD6-335F9F584E52}">
      <dgm:prSet/>
      <dgm:spPr/>
      <dgm:t>
        <a:bodyPr/>
        <a:lstStyle/>
        <a:p>
          <a:endParaRPr lang="en-GB"/>
        </a:p>
      </dgm:t>
    </dgm:pt>
    <dgm:pt modelId="{CD830F1E-1D21-40BA-98E0-984D63CF08EB}" type="sibTrans" cxnId="{5A04BA7A-EA6D-4F24-9FD6-335F9F584E52}">
      <dgm:prSet/>
      <dgm:spPr/>
      <dgm:t>
        <a:bodyPr/>
        <a:lstStyle/>
        <a:p>
          <a:endParaRPr lang="en-GB"/>
        </a:p>
      </dgm:t>
    </dgm:pt>
    <dgm:pt modelId="{A923E0E0-9125-4C94-BC14-5E7E3A31C6F2}">
      <dgm:prSet phldrT="[Text]" custT="1"/>
      <dgm:spPr/>
      <dgm:t>
        <a:bodyPr/>
        <a:lstStyle/>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Dec 1 2024</a:t>
          </a:r>
        </a:p>
      </dgm:t>
    </dgm:pt>
    <dgm:pt modelId="{9F46F3E6-CC6E-4420-80A5-83007CC9932B}" type="parTrans" cxnId="{BA1885A8-8B5A-4A8F-95B0-D8D5E34FB199}">
      <dgm:prSet/>
      <dgm:spPr/>
      <dgm:t>
        <a:bodyPr/>
        <a:lstStyle/>
        <a:p>
          <a:endParaRPr lang="en-GB"/>
        </a:p>
      </dgm:t>
    </dgm:pt>
    <dgm:pt modelId="{95980518-77A6-40F1-971F-F1E6E2E25AD1}" type="sibTrans" cxnId="{BA1885A8-8B5A-4A8F-95B0-D8D5E34FB199}">
      <dgm:prSet/>
      <dgm:spPr/>
      <dgm:t>
        <a:bodyPr/>
        <a:lstStyle/>
        <a:p>
          <a:endParaRPr lang="en-GB"/>
        </a:p>
      </dgm:t>
    </dgm:pt>
    <dgm:pt modelId="{238F2FF3-7C72-4D7D-893D-9830790A6247}">
      <dgm:prSet phldrT="[Text]" custT="1"/>
      <dgm:spPr/>
      <dgm:t>
        <a:bodyPr/>
        <a:lstStyle/>
        <a:p>
          <a:pPr marL="114300" lvl="1" indent="-114300" algn="l" defTabSz="622300">
            <a:lnSpc>
              <a:spcPct val="90000"/>
            </a:lnSpc>
            <a:spcBef>
              <a:spcPct val="0"/>
            </a:spcBef>
            <a:spcAft>
              <a:spcPct val="15000"/>
            </a:spcAft>
            <a:buChar char="•"/>
          </a:pPr>
          <a:endParaRPr lang="en-US" sz="1400" kern="1200" dirty="0">
            <a:solidFill>
              <a:srgbClr val="404040">
                <a:hueOff val="0"/>
                <a:satOff val="0"/>
                <a:lumOff val="0"/>
                <a:alphaOff val="0"/>
              </a:srgbClr>
            </a:solidFill>
            <a:latin typeface="Corbel"/>
            <a:ea typeface="+mn-ea"/>
            <a:cs typeface="+mn-cs"/>
          </a:endParaRPr>
        </a:p>
      </dgm:t>
    </dgm:pt>
    <dgm:pt modelId="{00F481EF-D6ED-4CE6-BC0D-05CC9A89C5F2}" type="parTrans" cxnId="{54B130BC-B8A6-425C-89FD-217830FDE525}">
      <dgm:prSet/>
      <dgm:spPr/>
      <dgm:t>
        <a:bodyPr/>
        <a:lstStyle/>
        <a:p>
          <a:endParaRPr lang="en-GB"/>
        </a:p>
      </dgm:t>
    </dgm:pt>
    <dgm:pt modelId="{541A08AF-37AE-4D57-A46D-3B292CCA1A16}" type="sibTrans" cxnId="{54B130BC-B8A6-425C-89FD-217830FDE525}">
      <dgm:prSet/>
      <dgm:spPr/>
      <dgm:t>
        <a:bodyPr/>
        <a:lstStyle/>
        <a:p>
          <a:endParaRPr lang="en-GB"/>
        </a:p>
      </dgm:t>
    </dgm:pt>
    <dgm:pt modelId="{1A43483D-68D6-4A62-BA37-3C649D3DF030}">
      <dgm:prSet phldrT="[Text]" custT="1"/>
      <dgm:spPr/>
      <dgm:t>
        <a:bodyPr/>
        <a:lstStyle/>
        <a:p>
          <a:pPr marL="114300" lvl="1" indent="-114300" algn="l" defTabSz="622300">
            <a:lnSpc>
              <a:spcPct val="90000"/>
            </a:lnSpc>
            <a:spcBef>
              <a:spcPct val="0"/>
            </a:spcBef>
            <a:spcAft>
              <a:spcPct val="15000"/>
            </a:spcAft>
            <a:buChar char="•"/>
          </a:pPr>
          <a:endParaRPr lang="en-US" sz="1400" kern="1200" dirty="0">
            <a:solidFill>
              <a:srgbClr val="404040">
                <a:hueOff val="0"/>
                <a:satOff val="0"/>
                <a:lumOff val="0"/>
                <a:alphaOff val="0"/>
              </a:srgbClr>
            </a:solidFill>
            <a:latin typeface="Corbel"/>
            <a:ea typeface="+mn-ea"/>
            <a:cs typeface="+mn-cs"/>
          </a:endParaRPr>
        </a:p>
      </dgm:t>
    </dgm:pt>
    <dgm:pt modelId="{7918191C-4C7A-4DEA-96B8-8E831D03B101}" type="parTrans" cxnId="{C35B0CD8-ED18-4B0F-98EC-CDB751CA8778}">
      <dgm:prSet/>
      <dgm:spPr/>
      <dgm:t>
        <a:bodyPr/>
        <a:lstStyle/>
        <a:p>
          <a:endParaRPr lang="en-GB"/>
        </a:p>
      </dgm:t>
    </dgm:pt>
    <dgm:pt modelId="{3898CDB0-21E7-46D1-B9EA-A66B2A549403}" type="sibTrans" cxnId="{C35B0CD8-ED18-4B0F-98EC-CDB751CA8778}">
      <dgm:prSet/>
      <dgm:spPr/>
      <dgm:t>
        <a:bodyPr/>
        <a:lstStyle/>
        <a:p>
          <a:endParaRPr lang="en-GB"/>
        </a:p>
      </dgm:t>
    </dgm:pt>
    <dgm:pt modelId="{D365C50F-9082-419E-8032-2322CB66E449}">
      <dgm:prSet phldrT="[Text]" custT="1"/>
      <dgm:spPr/>
      <dgm:t>
        <a:bodyPr/>
        <a:lstStyle/>
        <a:p>
          <a:pPr marL="0" lvl="0" indent="0" algn="l" defTabSz="622300">
            <a:lnSpc>
              <a:spcPct val="90000"/>
            </a:lnSpc>
            <a:spcBef>
              <a:spcPct val="0"/>
            </a:spcBef>
            <a:spcAft>
              <a:spcPct val="35000"/>
            </a:spcAft>
            <a:buNone/>
          </a:pPr>
          <a:r>
            <a:rPr lang="en-US" sz="1400" kern="1200" dirty="0">
              <a:solidFill>
                <a:srgbClr val="404040">
                  <a:hueOff val="0"/>
                  <a:satOff val="0"/>
                  <a:lumOff val="0"/>
                  <a:alphaOff val="0"/>
                </a:srgbClr>
              </a:solidFill>
              <a:latin typeface="Corbel"/>
              <a:ea typeface="+mn-ea"/>
              <a:cs typeface="+mn-cs"/>
            </a:rPr>
            <a:t>Sales and Marketing value prop  MVP </a:t>
          </a:r>
        </a:p>
      </dgm:t>
    </dgm:pt>
    <dgm:pt modelId="{497216D4-B4CB-4A7F-9C5C-FFA6144E54BE}" type="parTrans" cxnId="{8D8597CA-9FDF-4D68-B462-ED651C585A18}">
      <dgm:prSet/>
      <dgm:spPr/>
      <dgm:t>
        <a:bodyPr/>
        <a:lstStyle/>
        <a:p>
          <a:endParaRPr lang="en-GB"/>
        </a:p>
      </dgm:t>
    </dgm:pt>
    <dgm:pt modelId="{A7AF3FE5-1047-47EF-8F31-1173EC99A9E6}" type="sibTrans" cxnId="{8D8597CA-9FDF-4D68-B462-ED651C585A18}">
      <dgm:prSet/>
      <dgm:spPr/>
      <dgm:t>
        <a:bodyPr/>
        <a:lstStyle/>
        <a:p>
          <a:endParaRPr lang="en-GB"/>
        </a:p>
      </dgm:t>
    </dgm:pt>
    <dgm:pt modelId="{03C1E04F-85F6-40B3-A0F3-213FB8AE107E}" type="pres">
      <dgm:prSet presAssocID="{4E91585B-FD9B-4FDC-940E-F16B188611DF}" presName="Name0" presStyleCnt="0">
        <dgm:presLayoutVars>
          <dgm:dir/>
          <dgm:resizeHandles val="exact"/>
        </dgm:presLayoutVars>
      </dgm:prSet>
      <dgm:spPr/>
    </dgm:pt>
    <dgm:pt modelId="{6EBEF91B-0965-462D-B68A-D828C8EFF54A}" type="pres">
      <dgm:prSet presAssocID="{4ED498D2-F774-469C-BCDF-5F0024AB2BD1}" presName="composite" presStyleCnt="0"/>
      <dgm:spPr/>
    </dgm:pt>
    <dgm:pt modelId="{1F14F00F-F2F2-4F08-A955-3ABA778016C0}" type="pres">
      <dgm:prSet presAssocID="{4ED498D2-F774-469C-BCDF-5F0024AB2BD1}" presName="bgChev" presStyleLbl="node1" presStyleIdx="0" presStyleCnt="6"/>
      <dgm:spPr/>
    </dgm:pt>
    <dgm:pt modelId="{778BBFC6-0C34-4B5F-BB4E-76A95A658CB1}" type="pres">
      <dgm:prSet presAssocID="{4ED498D2-F774-469C-BCDF-5F0024AB2BD1}" presName="txNode" presStyleLbl="fgAcc1" presStyleIdx="0" presStyleCnt="6" custScaleX="116306" custScaleY="315359">
        <dgm:presLayoutVars>
          <dgm:bulletEnabled val="1"/>
        </dgm:presLayoutVars>
      </dgm:prSet>
      <dgm:spPr/>
    </dgm:pt>
    <dgm:pt modelId="{B85D3EA5-921C-4957-9692-EA8C0720D5B6}" type="pres">
      <dgm:prSet presAssocID="{CD830F1E-1D21-40BA-98E0-984D63CF08EB}" presName="compositeSpace" presStyleCnt="0"/>
      <dgm:spPr/>
    </dgm:pt>
    <dgm:pt modelId="{B08FFD81-E870-4CB3-94CD-5023522C0D1C}" type="pres">
      <dgm:prSet presAssocID="{F557FBA8-2662-4A56-B094-C6E2D6AF0C49}" presName="composite" presStyleCnt="0"/>
      <dgm:spPr/>
    </dgm:pt>
    <dgm:pt modelId="{9A2BEE76-1EA1-4590-BEAC-A096A886FECD}" type="pres">
      <dgm:prSet presAssocID="{F557FBA8-2662-4A56-B094-C6E2D6AF0C49}" presName="bgChev" presStyleLbl="node1" presStyleIdx="1" presStyleCnt="6"/>
      <dgm:spPr/>
    </dgm:pt>
    <dgm:pt modelId="{9989C3AB-7CA5-4C0A-B47E-1CB01CBA7BC6}" type="pres">
      <dgm:prSet presAssocID="{F557FBA8-2662-4A56-B094-C6E2D6AF0C49}" presName="txNode" presStyleLbl="fgAcc1" presStyleIdx="1" presStyleCnt="6" custScaleX="100629" custScaleY="286065">
        <dgm:presLayoutVars>
          <dgm:bulletEnabled val="1"/>
        </dgm:presLayoutVars>
      </dgm:prSet>
      <dgm:spPr/>
    </dgm:pt>
    <dgm:pt modelId="{C8D5D671-16C8-461F-80B1-0104179B76C2}" type="pres">
      <dgm:prSet presAssocID="{979398BF-9B21-4CB5-9534-92AD7A98B32B}" presName="compositeSpace" presStyleCnt="0"/>
      <dgm:spPr/>
    </dgm:pt>
    <dgm:pt modelId="{A5DD43A9-1DAF-4AF8-B93F-002231B340F4}" type="pres">
      <dgm:prSet presAssocID="{3D196BA1-8327-42F7-B9E5-87D503CB93F4}" presName="composite" presStyleCnt="0"/>
      <dgm:spPr/>
    </dgm:pt>
    <dgm:pt modelId="{F1B29D40-6158-4812-B2C1-953BF9959822}" type="pres">
      <dgm:prSet presAssocID="{3D196BA1-8327-42F7-B9E5-87D503CB93F4}" presName="bgChev" presStyleLbl="node1" presStyleIdx="2" presStyleCnt="6"/>
      <dgm:spPr/>
    </dgm:pt>
    <dgm:pt modelId="{73A53A56-C7DC-4AAC-A87E-DB3D1036D1EE}" type="pres">
      <dgm:prSet presAssocID="{3D196BA1-8327-42F7-B9E5-87D503CB93F4}" presName="txNode" presStyleLbl="fgAcc1" presStyleIdx="2" presStyleCnt="6" custScaleY="280248" custLinFactNeighborX="5882" custLinFactNeighborY="1527">
        <dgm:presLayoutVars>
          <dgm:bulletEnabled val="1"/>
        </dgm:presLayoutVars>
      </dgm:prSet>
      <dgm:spPr/>
    </dgm:pt>
    <dgm:pt modelId="{8B17F3B4-600A-4CE5-A22F-67422DEA3775}" type="pres">
      <dgm:prSet presAssocID="{2F8CDDFD-859D-49A6-83DB-88370576A339}" presName="compositeSpace" presStyleCnt="0"/>
      <dgm:spPr/>
    </dgm:pt>
    <dgm:pt modelId="{269B63CB-5ED7-42FC-B24E-49B9E6479AD2}" type="pres">
      <dgm:prSet presAssocID="{4C944641-FCF5-4AD8-B261-60AA0024A79E}" presName="composite" presStyleCnt="0"/>
      <dgm:spPr/>
    </dgm:pt>
    <dgm:pt modelId="{A33B6407-611A-47C1-8F11-11F4B43E3BA6}" type="pres">
      <dgm:prSet presAssocID="{4C944641-FCF5-4AD8-B261-60AA0024A79E}" presName="bgChev" presStyleLbl="node1" presStyleIdx="3" presStyleCnt="6"/>
      <dgm:spPr/>
    </dgm:pt>
    <dgm:pt modelId="{A9EA7C76-27AE-4735-BCE5-63AC65591A0F}" type="pres">
      <dgm:prSet presAssocID="{4C944641-FCF5-4AD8-B261-60AA0024A79E}" presName="txNode" presStyleLbl="fgAcc1" presStyleIdx="3" presStyleCnt="6" custScaleY="265464">
        <dgm:presLayoutVars>
          <dgm:bulletEnabled val="1"/>
        </dgm:presLayoutVars>
      </dgm:prSet>
      <dgm:spPr/>
    </dgm:pt>
    <dgm:pt modelId="{295420C1-1D20-4824-A2A2-917C15D92A2B}" type="pres">
      <dgm:prSet presAssocID="{FCC9CB30-198F-41E6-B00A-25E93E3DC839}" presName="compositeSpace" presStyleCnt="0"/>
      <dgm:spPr/>
    </dgm:pt>
    <dgm:pt modelId="{48E6F5D5-9146-43D5-BB44-65B9F611FA24}" type="pres">
      <dgm:prSet presAssocID="{F8FB1AE1-7950-4301-88C4-3D45B2DAEABD}" presName="composite" presStyleCnt="0"/>
      <dgm:spPr/>
    </dgm:pt>
    <dgm:pt modelId="{8A97269C-C120-4B0D-8241-794015A53C15}" type="pres">
      <dgm:prSet presAssocID="{F8FB1AE1-7950-4301-88C4-3D45B2DAEABD}" presName="bgChev" presStyleLbl="node1" presStyleIdx="4" presStyleCnt="6"/>
      <dgm:spPr/>
    </dgm:pt>
    <dgm:pt modelId="{3287C711-09C1-47F4-9A59-F2DE2A83CBA5}" type="pres">
      <dgm:prSet presAssocID="{F8FB1AE1-7950-4301-88C4-3D45B2DAEABD}" presName="txNode" presStyleLbl="fgAcc1" presStyleIdx="4" presStyleCnt="6" custScaleY="274762">
        <dgm:presLayoutVars>
          <dgm:bulletEnabled val="1"/>
        </dgm:presLayoutVars>
      </dgm:prSet>
      <dgm:spPr/>
    </dgm:pt>
    <dgm:pt modelId="{7662593A-0DBA-4DD1-9B80-A9CDE3EEA36F}" type="pres">
      <dgm:prSet presAssocID="{1995DAFA-2969-47AE-BAD4-7226AF43A4A9}" presName="compositeSpace" presStyleCnt="0"/>
      <dgm:spPr/>
    </dgm:pt>
    <dgm:pt modelId="{8EC6BC53-5DB8-4769-9D7D-706542416C7F}" type="pres">
      <dgm:prSet presAssocID="{B7F213D6-AC1C-4269-8455-91A2A9931F05}" presName="composite" presStyleCnt="0"/>
      <dgm:spPr/>
    </dgm:pt>
    <dgm:pt modelId="{2E5F26DE-5046-425E-8CE5-81AABA87F06B}" type="pres">
      <dgm:prSet presAssocID="{B7F213D6-AC1C-4269-8455-91A2A9931F05}" presName="bgChev" presStyleLbl="node1" presStyleIdx="5" presStyleCnt="6"/>
      <dgm:spPr/>
    </dgm:pt>
    <dgm:pt modelId="{6A304773-9EB8-4E73-8888-D75C2036D148}" type="pres">
      <dgm:prSet presAssocID="{B7F213D6-AC1C-4269-8455-91A2A9931F05}" presName="txNode" presStyleLbl="fgAcc1" presStyleIdx="5" presStyleCnt="6" custScaleY="286065">
        <dgm:presLayoutVars>
          <dgm:bulletEnabled val="1"/>
        </dgm:presLayoutVars>
      </dgm:prSet>
      <dgm:spPr/>
    </dgm:pt>
  </dgm:ptLst>
  <dgm:cxnLst>
    <dgm:cxn modelId="{49389629-C342-4310-974D-8F29AC80DB4A}" type="presOf" srcId="{F8FB1AE1-7950-4301-88C4-3D45B2DAEABD}" destId="{3287C711-09C1-47F4-9A59-F2DE2A83CBA5}" srcOrd="0" destOrd="0" presId="urn:microsoft.com/office/officeart/2005/8/layout/chevronAccent+Icon"/>
    <dgm:cxn modelId="{2029BA2A-2457-4A98-99FA-B61D86B6DFC0}" srcId="{4E91585B-FD9B-4FDC-940E-F16B188611DF}" destId="{B7F213D6-AC1C-4269-8455-91A2A9931F05}" srcOrd="5" destOrd="0" parTransId="{3D956855-F314-45DD-A7E4-9DA3886AB7CC}" sibTransId="{D614A336-5FF3-4391-AE65-C801E6B1982D}"/>
    <dgm:cxn modelId="{42307F2D-F814-465A-A0FC-18F165DDDF27}" type="presOf" srcId="{2B0D741D-EB87-4383-BCA6-9A64848CD872}" destId="{3287C711-09C1-47F4-9A59-F2DE2A83CBA5}" srcOrd="0" destOrd="1" presId="urn:microsoft.com/office/officeart/2005/8/layout/chevronAccent+Icon"/>
    <dgm:cxn modelId="{ACFD0A30-8F4E-4F8F-83BD-6B1071B359A6}" type="presOf" srcId="{67A02677-135E-4B0F-BC35-8E5F1E51F9A6}" destId="{6A304773-9EB8-4E73-8888-D75C2036D148}" srcOrd="0" destOrd="3" presId="urn:microsoft.com/office/officeart/2005/8/layout/chevronAccent+Icon"/>
    <dgm:cxn modelId="{EABC6B37-2203-495B-B03E-66580DBDDE54}" type="presOf" srcId="{4ED498D2-F774-469C-BCDF-5F0024AB2BD1}" destId="{778BBFC6-0C34-4B5F-BB4E-76A95A658CB1}" srcOrd="0" destOrd="0" presId="urn:microsoft.com/office/officeart/2005/8/layout/chevronAccent+Icon"/>
    <dgm:cxn modelId="{26B3BA3D-19AC-48FD-9C9E-F94E4894799A}" type="presOf" srcId="{A923E0E0-9125-4C94-BC14-5E7E3A31C6F2}" destId="{778BBFC6-0C34-4B5F-BB4E-76A95A658CB1}" srcOrd="0" destOrd="2" presId="urn:microsoft.com/office/officeart/2005/8/layout/chevronAccent+Icon"/>
    <dgm:cxn modelId="{D14BB740-54F2-4206-9DB4-DD9C51FF3ABE}" type="presOf" srcId="{4C944641-FCF5-4AD8-B261-60AA0024A79E}" destId="{A9EA7C76-27AE-4735-BCE5-63AC65591A0F}" srcOrd="0" destOrd="0" presId="urn:microsoft.com/office/officeart/2005/8/layout/chevronAccent+Icon"/>
    <dgm:cxn modelId="{7BA47D49-49BD-49FE-B1BC-8F618022CD43}" type="presOf" srcId="{238F2FF3-7C72-4D7D-893D-9830790A6247}" destId="{6A304773-9EB8-4E73-8888-D75C2036D148}" srcOrd="0" destOrd="1" presId="urn:microsoft.com/office/officeart/2005/8/layout/chevronAccent+Icon"/>
    <dgm:cxn modelId="{3034C04C-4B99-4452-89EF-B3C28EEE5939}" srcId="{4E91585B-FD9B-4FDC-940E-F16B188611DF}" destId="{3D196BA1-8327-42F7-B9E5-87D503CB93F4}" srcOrd="2" destOrd="0" parTransId="{A2507B0B-8670-490A-A262-42446148EFC1}" sibTransId="{2F8CDDFD-859D-49A6-83DB-88370576A339}"/>
    <dgm:cxn modelId="{71D18B59-0228-43BE-9C7E-47C10E3D1CF6}" srcId="{F557FBA8-2662-4A56-B094-C6E2D6AF0C49}" destId="{DC9D62F4-940B-40ED-8777-216AB6FED381}" srcOrd="0" destOrd="0" parTransId="{5449E223-0F91-4427-90DA-637F09F35279}" sibTransId="{F647B436-D4E7-4600-86F0-7C264BD46288}"/>
    <dgm:cxn modelId="{5A04BA7A-EA6D-4F24-9FD6-335F9F584E52}" srcId="{4E91585B-FD9B-4FDC-940E-F16B188611DF}" destId="{4ED498D2-F774-469C-BCDF-5F0024AB2BD1}" srcOrd="0" destOrd="0" parTransId="{DBD789E4-A0C7-4F03-A099-8A70DA2D6845}" sibTransId="{CD830F1E-1D21-40BA-98E0-984D63CF08EB}"/>
    <dgm:cxn modelId="{B20B877B-28D3-4AE4-B151-2E6BB83A2BAF}" srcId="{F8FB1AE1-7950-4301-88C4-3D45B2DAEABD}" destId="{2B0D741D-EB87-4383-BCA6-9A64848CD872}" srcOrd="0" destOrd="0" parTransId="{D7AE170C-5D08-45BE-B66C-ADCCEA2B6070}" sibTransId="{C9E91C8C-F01A-4A22-961D-58CB0B96BE74}"/>
    <dgm:cxn modelId="{1D58A580-0847-48AB-89AD-356C676E8D79}" srcId="{4E91585B-FD9B-4FDC-940E-F16B188611DF}" destId="{F557FBA8-2662-4A56-B094-C6E2D6AF0C49}" srcOrd="1" destOrd="0" parTransId="{600C8D9D-FC11-47E2-A690-CD6399A95DA8}" sibTransId="{979398BF-9B21-4CB5-9534-92AD7A98B32B}"/>
    <dgm:cxn modelId="{71DF218E-037B-4DC0-A6DE-BE09006DC683}" srcId="{B7F213D6-AC1C-4269-8455-91A2A9931F05}" destId="{67A02677-135E-4B0F-BC35-8E5F1E51F9A6}" srcOrd="2" destOrd="0" parTransId="{ECA723FB-08BB-4F59-8B80-29F6E90B7D83}" sibTransId="{5114D3EC-BCB3-4290-900A-CD5F9605A204}"/>
    <dgm:cxn modelId="{0ED7A59D-F571-4C70-BC73-16374553CA58}" type="presOf" srcId="{E8D8B103-69EC-4511-8358-B6CC928047DB}" destId="{A9EA7C76-27AE-4735-BCE5-63AC65591A0F}" srcOrd="0" destOrd="1" presId="urn:microsoft.com/office/officeart/2005/8/layout/chevronAccent+Icon"/>
    <dgm:cxn modelId="{4527699F-63E4-46E6-B4A8-DF6D91D7A108}" type="presOf" srcId="{DC9D62F4-940B-40ED-8777-216AB6FED381}" destId="{9989C3AB-7CA5-4C0A-B47E-1CB01CBA7BC6}" srcOrd="0" destOrd="1" presId="urn:microsoft.com/office/officeart/2005/8/layout/chevronAccent+Icon"/>
    <dgm:cxn modelId="{A2DE95A4-8792-4B6E-8A89-B3D6428F64E6}" type="presOf" srcId="{F557FBA8-2662-4A56-B094-C6E2D6AF0C49}" destId="{9989C3AB-7CA5-4C0A-B47E-1CB01CBA7BC6}" srcOrd="0" destOrd="0" presId="urn:microsoft.com/office/officeart/2005/8/layout/chevronAccent+Icon"/>
    <dgm:cxn modelId="{BA1885A8-8B5A-4A8F-95B0-D8D5E34FB199}" srcId="{4ED498D2-F774-469C-BCDF-5F0024AB2BD1}" destId="{A923E0E0-9125-4C94-BC14-5E7E3A31C6F2}" srcOrd="1" destOrd="0" parTransId="{9F46F3E6-CC6E-4420-80A5-83007CC9932B}" sibTransId="{95980518-77A6-40F1-971F-F1E6E2E25AD1}"/>
    <dgm:cxn modelId="{54B130BC-B8A6-425C-89FD-217830FDE525}" srcId="{B7F213D6-AC1C-4269-8455-91A2A9931F05}" destId="{238F2FF3-7C72-4D7D-893D-9830790A6247}" srcOrd="0" destOrd="0" parTransId="{00F481EF-D6ED-4CE6-BC0D-05CC9A89C5F2}" sibTransId="{541A08AF-37AE-4D57-A46D-3B292CCA1A16}"/>
    <dgm:cxn modelId="{B603ADBF-4E06-4F30-9F06-CE5EAE9ABBC0}" type="presOf" srcId="{1A43483D-68D6-4A62-BA37-3C649D3DF030}" destId="{6A304773-9EB8-4E73-8888-D75C2036D148}" srcOrd="0" destOrd="2" presId="urn:microsoft.com/office/officeart/2005/8/layout/chevronAccent+Icon"/>
    <dgm:cxn modelId="{977E16C2-B327-4A54-873C-9FB8292020C4}" srcId="{4E91585B-FD9B-4FDC-940E-F16B188611DF}" destId="{F8FB1AE1-7950-4301-88C4-3D45B2DAEABD}" srcOrd="4" destOrd="0" parTransId="{DE3B344A-4481-4A7F-BF08-FA41E5323599}" sibTransId="{1995DAFA-2969-47AE-BAD4-7226AF43A4A9}"/>
    <dgm:cxn modelId="{8D8597CA-9FDF-4D68-B462-ED651C585A18}" srcId="{4ED498D2-F774-469C-BCDF-5F0024AB2BD1}" destId="{D365C50F-9082-419E-8032-2322CB66E449}" srcOrd="0" destOrd="0" parTransId="{497216D4-B4CB-4A7F-9C5C-FFA6144E54BE}" sibTransId="{A7AF3FE5-1047-47EF-8F31-1173EC99A9E6}"/>
    <dgm:cxn modelId="{DA278ECD-ED39-4044-9E8D-6DE29F7C3FB3}" srcId="{4E91585B-FD9B-4FDC-940E-F16B188611DF}" destId="{4C944641-FCF5-4AD8-B261-60AA0024A79E}" srcOrd="3" destOrd="0" parTransId="{8E5E79D8-FB05-4739-B0F5-8BE6ED2F29C8}" sibTransId="{FCC9CB30-198F-41E6-B00A-25E93E3DC839}"/>
    <dgm:cxn modelId="{EDABE1D7-6258-4908-B8B9-20F990FF78F7}" srcId="{4C944641-FCF5-4AD8-B261-60AA0024A79E}" destId="{E8D8B103-69EC-4511-8358-B6CC928047DB}" srcOrd="0" destOrd="0" parTransId="{1D637EAC-CE50-46EA-AF5F-9FB480601BFE}" sibTransId="{50AADD8D-53DE-40A4-9EDE-515AFE7CDEB8}"/>
    <dgm:cxn modelId="{C35B0CD8-ED18-4B0F-98EC-CDB751CA8778}" srcId="{B7F213D6-AC1C-4269-8455-91A2A9931F05}" destId="{1A43483D-68D6-4A62-BA37-3C649D3DF030}" srcOrd="1" destOrd="0" parTransId="{7918191C-4C7A-4DEA-96B8-8E831D03B101}" sibTransId="{3898CDB0-21E7-46D1-B9EA-A66B2A549403}"/>
    <dgm:cxn modelId="{0BC418DD-0307-45EC-AB6B-3B765E27B354}" type="presOf" srcId="{4E91585B-FD9B-4FDC-940E-F16B188611DF}" destId="{03C1E04F-85F6-40B3-A0F3-213FB8AE107E}" srcOrd="0" destOrd="0" presId="urn:microsoft.com/office/officeart/2005/8/layout/chevronAccent+Icon"/>
    <dgm:cxn modelId="{22F10FEA-00DC-4947-8961-3C5E0A09A4ED}" type="presOf" srcId="{D365C50F-9082-419E-8032-2322CB66E449}" destId="{778BBFC6-0C34-4B5F-BB4E-76A95A658CB1}" srcOrd="0" destOrd="1" presId="urn:microsoft.com/office/officeart/2005/8/layout/chevronAccent+Icon"/>
    <dgm:cxn modelId="{9F9815ED-458E-4413-BBD9-5AA96F00EDA8}" type="presOf" srcId="{B7F213D6-AC1C-4269-8455-91A2A9931F05}" destId="{6A304773-9EB8-4E73-8888-D75C2036D148}" srcOrd="0" destOrd="0" presId="urn:microsoft.com/office/officeart/2005/8/layout/chevronAccent+Icon"/>
    <dgm:cxn modelId="{71E077FD-77A0-4218-96A2-232E48796826}" type="presOf" srcId="{3D196BA1-8327-42F7-B9E5-87D503CB93F4}" destId="{73A53A56-C7DC-4AAC-A87E-DB3D1036D1EE}" srcOrd="0" destOrd="0" presId="urn:microsoft.com/office/officeart/2005/8/layout/chevronAccent+Icon"/>
    <dgm:cxn modelId="{E5F574E6-04E0-4BD1-8108-960D5EF4642C}" type="presParOf" srcId="{03C1E04F-85F6-40B3-A0F3-213FB8AE107E}" destId="{6EBEF91B-0965-462D-B68A-D828C8EFF54A}" srcOrd="0" destOrd="0" presId="urn:microsoft.com/office/officeart/2005/8/layout/chevronAccent+Icon"/>
    <dgm:cxn modelId="{2998DB2C-EF80-466C-BD72-C92C7D655C2B}" type="presParOf" srcId="{6EBEF91B-0965-462D-B68A-D828C8EFF54A}" destId="{1F14F00F-F2F2-4F08-A955-3ABA778016C0}" srcOrd="0" destOrd="0" presId="urn:microsoft.com/office/officeart/2005/8/layout/chevronAccent+Icon"/>
    <dgm:cxn modelId="{0E3674DD-A265-4A54-92C7-E3AE42EFC2EC}" type="presParOf" srcId="{6EBEF91B-0965-462D-B68A-D828C8EFF54A}" destId="{778BBFC6-0C34-4B5F-BB4E-76A95A658CB1}" srcOrd="1" destOrd="0" presId="urn:microsoft.com/office/officeart/2005/8/layout/chevronAccent+Icon"/>
    <dgm:cxn modelId="{34E3CE32-6864-4872-8A8E-D0DD6019CD53}" type="presParOf" srcId="{03C1E04F-85F6-40B3-A0F3-213FB8AE107E}" destId="{B85D3EA5-921C-4957-9692-EA8C0720D5B6}" srcOrd="1" destOrd="0" presId="urn:microsoft.com/office/officeart/2005/8/layout/chevronAccent+Icon"/>
    <dgm:cxn modelId="{B86D09CD-A69A-4E6A-AB2A-AFEB351FE88A}" type="presParOf" srcId="{03C1E04F-85F6-40B3-A0F3-213FB8AE107E}" destId="{B08FFD81-E870-4CB3-94CD-5023522C0D1C}" srcOrd="2" destOrd="0" presId="urn:microsoft.com/office/officeart/2005/8/layout/chevronAccent+Icon"/>
    <dgm:cxn modelId="{BB7754D5-5DCB-4E87-8BBF-CE807014F241}" type="presParOf" srcId="{B08FFD81-E870-4CB3-94CD-5023522C0D1C}" destId="{9A2BEE76-1EA1-4590-BEAC-A096A886FECD}" srcOrd="0" destOrd="0" presId="urn:microsoft.com/office/officeart/2005/8/layout/chevronAccent+Icon"/>
    <dgm:cxn modelId="{544981AC-0393-45A7-A2D4-3982D1F6752E}" type="presParOf" srcId="{B08FFD81-E870-4CB3-94CD-5023522C0D1C}" destId="{9989C3AB-7CA5-4C0A-B47E-1CB01CBA7BC6}" srcOrd="1" destOrd="0" presId="urn:microsoft.com/office/officeart/2005/8/layout/chevronAccent+Icon"/>
    <dgm:cxn modelId="{F124676B-9B23-41C3-8F42-DBE505E70001}" type="presParOf" srcId="{03C1E04F-85F6-40B3-A0F3-213FB8AE107E}" destId="{C8D5D671-16C8-461F-80B1-0104179B76C2}" srcOrd="3" destOrd="0" presId="urn:microsoft.com/office/officeart/2005/8/layout/chevronAccent+Icon"/>
    <dgm:cxn modelId="{7681925B-DCA2-4235-8C1F-A2F47F135D4F}" type="presParOf" srcId="{03C1E04F-85F6-40B3-A0F3-213FB8AE107E}" destId="{A5DD43A9-1DAF-4AF8-B93F-002231B340F4}" srcOrd="4" destOrd="0" presId="urn:microsoft.com/office/officeart/2005/8/layout/chevronAccent+Icon"/>
    <dgm:cxn modelId="{453433A2-52BB-45E6-865E-7A9A56B82E23}" type="presParOf" srcId="{A5DD43A9-1DAF-4AF8-B93F-002231B340F4}" destId="{F1B29D40-6158-4812-B2C1-953BF9959822}" srcOrd="0" destOrd="0" presId="urn:microsoft.com/office/officeart/2005/8/layout/chevronAccent+Icon"/>
    <dgm:cxn modelId="{F180A7DD-2C03-41A3-A5C5-5C481A8399EF}" type="presParOf" srcId="{A5DD43A9-1DAF-4AF8-B93F-002231B340F4}" destId="{73A53A56-C7DC-4AAC-A87E-DB3D1036D1EE}" srcOrd="1" destOrd="0" presId="urn:microsoft.com/office/officeart/2005/8/layout/chevronAccent+Icon"/>
    <dgm:cxn modelId="{0DA8E18B-F11E-4A77-82F2-C0F1F4C03787}" type="presParOf" srcId="{03C1E04F-85F6-40B3-A0F3-213FB8AE107E}" destId="{8B17F3B4-600A-4CE5-A22F-67422DEA3775}" srcOrd="5" destOrd="0" presId="urn:microsoft.com/office/officeart/2005/8/layout/chevronAccent+Icon"/>
    <dgm:cxn modelId="{C21E9893-34E4-4D6D-98A5-8EC0F1967E97}" type="presParOf" srcId="{03C1E04F-85F6-40B3-A0F3-213FB8AE107E}" destId="{269B63CB-5ED7-42FC-B24E-49B9E6479AD2}" srcOrd="6" destOrd="0" presId="urn:microsoft.com/office/officeart/2005/8/layout/chevronAccent+Icon"/>
    <dgm:cxn modelId="{30FF3382-49D7-4ED7-9ED2-5AA086A4D125}" type="presParOf" srcId="{269B63CB-5ED7-42FC-B24E-49B9E6479AD2}" destId="{A33B6407-611A-47C1-8F11-11F4B43E3BA6}" srcOrd="0" destOrd="0" presId="urn:microsoft.com/office/officeart/2005/8/layout/chevronAccent+Icon"/>
    <dgm:cxn modelId="{FA6AB1F2-32EA-4966-BA56-E149FDFA4FE3}" type="presParOf" srcId="{269B63CB-5ED7-42FC-B24E-49B9E6479AD2}" destId="{A9EA7C76-27AE-4735-BCE5-63AC65591A0F}" srcOrd="1" destOrd="0" presId="urn:microsoft.com/office/officeart/2005/8/layout/chevronAccent+Icon"/>
    <dgm:cxn modelId="{86199E1D-32B0-4545-8D32-9FAA17A74BB6}" type="presParOf" srcId="{03C1E04F-85F6-40B3-A0F3-213FB8AE107E}" destId="{295420C1-1D20-4824-A2A2-917C15D92A2B}" srcOrd="7" destOrd="0" presId="urn:microsoft.com/office/officeart/2005/8/layout/chevronAccent+Icon"/>
    <dgm:cxn modelId="{5D7D548E-6BAA-4483-B4C1-0EF5273CDE10}" type="presParOf" srcId="{03C1E04F-85F6-40B3-A0F3-213FB8AE107E}" destId="{48E6F5D5-9146-43D5-BB44-65B9F611FA24}" srcOrd="8" destOrd="0" presId="urn:microsoft.com/office/officeart/2005/8/layout/chevronAccent+Icon"/>
    <dgm:cxn modelId="{C6CF56B4-6F63-478A-8B0A-DA7D61232231}" type="presParOf" srcId="{48E6F5D5-9146-43D5-BB44-65B9F611FA24}" destId="{8A97269C-C120-4B0D-8241-794015A53C15}" srcOrd="0" destOrd="0" presId="urn:microsoft.com/office/officeart/2005/8/layout/chevronAccent+Icon"/>
    <dgm:cxn modelId="{59C2EC51-7D1E-4035-9D89-FAD0AD345D67}" type="presParOf" srcId="{48E6F5D5-9146-43D5-BB44-65B9F611FA24}" destId="{3287C711-09C1-47F4-9A59-F2DE2A83CBA5}" srcOrd="1" destOrd="0" presId="urn:microsoft.com/office/officeart/2005/8/layout/chevronAccent+Icon"/>
    <dgm:cxn modelId="{6B85A956-80B8-4A01-8D80-01295DC3CAD2}" type="presParOf" srcId="{03C1E04F-85F6-40B3-A0F3-213FB8AE107E}" destId="{7662593A-0DBA-4DD1-9B80-A9CDE3EEA36F}" srcOrd="9" destOrd="0" presId="urn:microsoft.com/office/officeart/2005/8/layout/chevronAccent+Icon"/>
    <dgm:cxn modelId="{6F2A5FD8-6E1B-40FA-9282-17028E4FE322}" type="presParOf" srcId="{03C1E04F-85F6-40B3-A0F3-213FB8AE107E}" destId="{8EC6BC53-5DB8-4769-9D7D-706542416C7F}" srcOrd="10" destOrd="0" presId="urn:microsoft.com/office/officeart/2005/8/layout/chevronAccent+Icon"/>
    <dgm:cxn modelId="{DEAE862E-9917-429F-B265-F75A3161E95A}" type="presParOf" srcId="{8EC6BC53-5DB8-4769-9D7D-706542416C7F}" destId="{2E5F26DE-5046-425E-8CE5-81AABA87F06B}" srcOrd="0" destOrd="0" presId="urn:microsoft.com/office/officeart/2005/8/layout/chevronAccent+Icon"/>
    <dgm:cxn modelId="{DB84F00F-B337-457B-B919-2F8BC8676F97}" type="presParOf" srcId="{8EC6BC53-5DB8-4769-9D7D-706542416C7F}" destId="{6A304773-9EB8-4E73-8888-D75C2036D148}"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4F00F-F2F2-4F08-A955-3ABA778016C0}">
      <dsp:nvSpPr>
        <dsp:cNvPr id="0" name=""/>
        <dsp:cNvSpPr/>
      </dsp:nvSpPr>
      <dsp:spPr>
        <a:xfrm>
          <a:off x="1416" y="1840085"/>
          <a:ext cx="1493656" cy="576551"/>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8BBFC6-0C34-4B5F-BB4E-76A95A658CB1}">
      <dsp:nvSpPr>
        <dsp:cNvPr id="0" name=""/>
        <dsp:cNvSpPr/>
      </dsp:nvSpPr>
      <dsp:spPr>
        <a:xfrm>
          <a:off x="296890" y="1363395"/>
          <a:ext cx="1466978" cy="1818206"/>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Partnering contracts complete</a:t>
          </a:r>
        </a:p>
        <a:p>
          <a:pPr marL="0" lvl="0" indent="0" algn="l" defTabSz="622300">
            <a:lnSpc>
              <a:spcPct val="90000"/>
            </a:lnSpc>
            <a:spcBef>
              <a:spcPct val="0"/>
            </a:spcBef>
            <a:spcAft>
              <a:spcPct val="35000"/>
            </a:spcAft>
            <a:buNone/>
          </a:pPr>
          <a:r>
            <a:rPr lang="en-US" sz="1400" kern="1200" dirty="0">
              <a:solidFill>
                <a:srgbClr val="404040">
                  <a:hueOff val="0"/>
                  <a:satOff val="0"/>
                  <a:lumOff val="0"/>
                  <a:alphaOff val="0"/>
                </a:srgbClr>
              </a:solidFill>
              <a:latin typeface="Corbel"/>
              <a:ea typeface="+mn-ea"/>
              <a:cs typeface="+mn-cs"/>
            </a:rPr>
            <a:t>Sales and Marketing value prop  MVP </a:t>
          </a:r>
        </a:p>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Dec 1 2024</a:t>
          </a:r>
        </a:p>
      </dsp:txBody>
      <dsp:txXfrm>
        <a:off x="339856" y="1406361"/>
        <a:ext cx="1381046" cy="1732274"/>
      </dsp:txXfrm>
    </dsp:sp>
    <dsp:sp modelId="{9A2BEE76-1EA1-4590-BEAC-A096A886FECD}">
      <dsp:nvSpPr>
        <dsp:cNvPr id="0" name=""/>
        <dsp:cNvSpPr/>
      </dsp:nvSpPr>
      <dsp:spPr>
        <a:xfrm>
          <a:off x="1810339" y="1840085"/>
          <a:ext cx="1493656" cy="576551"/>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89C3AB-7CA5-4C0A-B47E-1CB01CBA7BC6}">
      <dsp:nvSpPr>
        <dsp:cNvPr id="0" name=""/>
        <dsp:cNvSpPr/>
      </dsp:nvSpPr>
      <dsp:spPr>
        <a:xfrm>
          <a:off x="2204680" y="1447843"/>
          <a:ext cx="1269243" cy="1649311"/>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Partnership marketing launch and internal readiness</a:t>
          </a:r>
        </a:p>
        <a:p>
          <a:pPr marL="0" lvl="0" indent="0" algn="l" defTabSz="622300">
            <a:lnSpc>
              <a:spcPct val="90000"/>
            </a:lnSpc>
            <a:spcBef>
              <a:spcPct val="0"/>
            </a:spcBef>
            <a:spcAft>
              <a:spcPct val="35000"/>
            </a:spcAft>
            <a:buNone/>
          </a:pPr>
          <a:endParaRPr lang="en-US" sz="1400" kern="1200" dirty="0"/>
        </a:p>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Feb 30 2025</a:t>
          </a:r>
        </a:p>
      </dsp:txBody>
      <dsp:txXfrm>
        <a:off x="2241855" y="1485018"/>
        <a:ext cx="1194893" cy="1574961"/>
      </dsp:txXfrm>
    </dsp:sp>
    <dsp:sp modelId="{F1B29D40-6158-4812-B2C1-953BF9959822}">
      <dsp:nvSpPr>
        <dsp:cNvPr id="0" name=""/>
        <dsp:cNvSpPr/>
      </dsp:nvSpPr>
      <dsp:spPr>
        <a:xfrm>
          <a:off x="3520393" y="1840085"/>
          <a:ext cx="1493656" cy="576551"/>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A53A56-C7DC-4AAC-A87E-DB3D1036D1EE}">
      <dsp:nvSpPr>
        <dsp:cNvPr id="0" name=""/>
        <dsp:cNvSpPr/>
      </dsp:nvSpPr>
      <dsp:spPr>
        <a:xfrm>
          <a:off x="3992891" y="1473416"/>
          <a:ext cx="1261309" cy="1615773"/>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POC  first wave clients signed</a:t>
          </a:r>
        </a:p>
        <a:p>
          <a:pPr marL="0" lvl="0" indent="0" algn="l" defTabSz="622300">
            <a:lnSpc>
              <a:spcPct val="90000"/>
            </a:lnSpc>
            <a:spcBef>
              <a:spcPct val="0"/>
            </a:spcBef>
            <a:spcAft>
              <a:spcPct val="35000"/>
            </a:spcAft>
            <a:buNone/>
          </a:pPr>
          <a:endParaRPr lang="en-US" sz="1400" kern="1200" dirty="0">
            <a:solidFill>
              <a:srgbClr val="404040">
                <a:hueOff val="0"/>
                <a:satOff val="0"/>
                <a:lumOff val="0"/>
                <a:alphaOff val="0"/>
              </a:srgbClr>
            </a:solidFill>
            <a:latin typeface="Corbel"/>
            <a:ea typeface="+mn-ea"/>
            <a:cs typeface="+mn-cs"/>
          </a:endParaRPr>
        </a:p>
        <a:p>
          <a:pPr marL="0" lvl="0" indent="0" algn="l" defTabSz="622300" rtl="0">
            <a:lnSpc>
              <a:spcPct val="90000"/>
            </a:lnSpc>
            <a:spcBef>
              <a:spcPct val="0"/>
            </a:spcBef>
            <a:spcAft>
              <a:spcPct val="35000"/>
            </a:spcAft>
            <a:buNone/>
          </a:pPr>
          <a:r>
            <a:rPr lang="en-US" sz="1400" kern="1200" dirty="0">
              <a:solidFill>
                <a:srgbClr val="404040">
                  <a:hueOff val="0"/>
                  <a:satOff val="0"/>
                  <a:lumOff val="0"/>
                  <a:alphaOff val="0"/>
                </a:srgbClr>
              </a:solidFill>
              <a:latin typeface="Corbel"/>
              <a:ea typeface="+mn-ea"/>
              <a:cs typeface="+mn-cs"/>
            </a:rPr>
            <a:t>May 30 </a:t>
          </a:r>
          <a:r>
            <a:rPr lang="en-US" sz="1400" kern="1200" dirty="0">
              <a:latin typeface="Corbel"/>
              <a:ea typeface="+mn-ea"/>
              <a:cs typeface="+mn-cs"/>
            </a:rPr>
            <a:t>2025</a:t>
          </a:r>
          <a:endParaRPr lang="en-US" sz="1400" kern="1200" dirty="0"/>
        </a:p>
        <a:p>
          <a:pPr marL="0" lvl="0" indent="0" algn="l" defTabSz="622300">
            <a:lnSpc>
              <a:spcPct val="90000"/>
            </a:lnSpc>
            <a:spcBef>
              <a:spcPct val="0"/>
            </a:spcBef>
            <a:spcAft>
              <a:spcPct val="35000"/>
            </a:spcAft>
            <a:buNone/>
          </a:pPr>
          <a:endParaRPr lang="en-US" sz="1400" kern="1200" dirty="0">
            <a:latin typeface="Corbel"/>
            <a:ea typeface="+mn-ea"/>
            <a:cs typeface="+mn-cs"/>
          </a:endParaRPr>
        </a:p>
      </dsp:txBody>
      <dsp:txXfrm>
        <a:off x="4029833" y="1510358"/>
        <a:ext cx="1187425" cy="1541889"/>
      </dsp:txXfrm>
    </dsp:sp>
    <dsp:sp modelId="{A33B6407-611A-47C1-8F11-11F4B43E3BA6}">
      <dsp:nvSpPr>
        <dsp:cNvPr id="0" name=""/>
        <dsp:cNvSpPr/>
      </dsp:nvSpPr>
      <dsp:spPr>
        <a:xfrm>
          <a:off x="5226480" y="1840085"/>
          <a:ext cx="1493656" cy="576551"/>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EA7C76-27AE-4735-BCE5-63AC65591A0F}">
      <dsp:nvSpPr>
        <dsp:cNvPr id="0" name=""/>
        <dsp:cNvSpPr/>
      </dsp:nvSpPr>
      <dsp:spPr>
        <a:xfrm>
          <a:off x="5624789" y="1507230"/>
          <a:ext cx="1261309" cy="1530536"/>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Onboarded first wave clients</a:t>
          </a:r>
        </a:p>
        <a:p>
          <a:pPr marL="0" lvl="0" indent="0" algn="l" defTabSz="622300">
            <a:lnSpc>
              <a:spcPct val="90000"/>
            </a:lnSpc>
            <a:spcBef>
              <a:spcPct val="0"/>
            </a:spcBef>
            <a:spcAft>
              <a:spcPct val="35000"/>
            </a:spcAft>
            <a:buNone/>
          </a:pPr>
          <a:endParaRPr lang="en-US" sz="1400" kern="1200" dirty="0"/>
        </a:p>
        <a:p>
          <a:pPr marL="0" lvl="0" indent="0" algn="l" defTabSz="622300">
            <a:lnSpc>
              <a:spcPct val="90000"/>
            </a:lnSpc>
            <a:spcBef>
              <a:spcPct val="0"/>
            </a:spcBef>
            <a:spcAft>
              <a:spcPct val="35000"/>
            </a:spcAft>
            <a:buNone/>
          </a:pPr>
          <a:r>
            <a:rPr lang="en-US" sz="1400" kern="1200" dirty="0"/>
            <a:t> </a:t>
          </a:r>
        </a:p>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Sept 31 2025</a:t>
          </a:r>
        </a:p>
      </dsp:txBody>
      <dsp:txXfrm>
        <a:off x="5661731" y="1544172"/>
        <a:ext cx="1187425" cy="1456652"/>
      </dsp:txXfrm>
    </dsp:sp>
    <dsp:sp modelId="{8A97269C-C120-4B0D-8241-794015A53C15}">
      <dsp:nvSpPr>
        <dsp:cNvPr id="0" name=""/>
        <dsp:cNvSpPr/>
      </dsp:nvSpPr>
      <dsp:spPr>
        <a:xfrm>
          <a:off x="6932568" y="1840085"/>
          <a:ext cx="1493656" cy="576551"/>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87C711-09C1-47F4-9A59-F2DE2A83CBA5}">
      <dsp:nvSpPr>
        <dsp:cNvPr id="0" name=""/>
        <dsp:cNvSpPr/>
      </dsp:nvSpPr>
      <dsp:spPr>
        <a:xfrm>
          <a:off x="7330876" y="1480426"/>
          <a:ext cx="1261309" cy="1584144"/>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Transactional Testing  commences </a:t>
          </a:r>
        </a:p>
        <a:p>
          <a:pPr marL="0" lvl="0" indent="0" algn="l" defTabSz="622300">
            <a:lnSpc>
              <a:spcPct val="90000"/>
            </a:lnSpc>
            <a:spcBef>
              <a:spcPct val="0"/>
            </a:spcBef>
            <a:spcAft>
              <a:spcPct val="35000"/>
            </a:spcAft>
            <a:buNone/>
          </a:pPr>
          <a:endParaRPr lang="en-US" sz="1400" kern="1200" dirty="0"/>
        </a:p>
        <a:p>
          <a:pPr marL="0" lvl="0" indent="0" algn="l" defTabSz="622300">
            <a:lnSpc>
              <a:spcPct val="90000"/>
            </a:lnSpc>
            <a:spcBef>
              <a:spcPct val="0"/>
            </a:spcBef>
            <a:spcAft>
              <a:spcPct val="35000"/>
            </a:spcAft>
            <a:buNone/>
          </a:pPr>
          <a:endParaRPr lang="en-US" sz="1400" kern="1200" dirty="0"/>
        </a:p>
        <a:p>
          <a:pPr marL="114300" lvl="1" indent="-114300" algn="l" defTabSz="622300" rtl="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Oct 31 2025</a:t>
          </a:r>
        </a:p>
      </dsp:txBody>
      <dsp:txXfrm>
        <a:off x="7367818" y="1517368"/>
        <a:ext cx="1187425" cy="1510260"/>
      </dsp:txXfrm>
    </dsp:sp>
    <dsp:sp modelId="{2E5F26DE-5046-425E-8CE5-81AABA87F06B}">
      <dsp:nvSpPr>
        <dsp:cNvPr id="0" name=""/>
        <dsp:cNvSpPr/>
      </dsp:nvSpPr>
      <dsp:spPr>
        <a:xfrm>
          <a:off x="8638655" y="1840085"/>
          <a:ext cx="1493656" cy="576551"/>
        </a:xfrm>
        <a:prstGeom prst="chevron">
          <a:avLst>
            <a:gd name="adj" fmla="val 4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304773-9EB8-4E73-8888-D75C2036D148}">
      <dsp:nvSpPr>
        <dsp:cNvPr id="0" name=""/>
        <dsp:cNvSpPr/>
      </dsp:nvSpPr>
      <dsp:spPr>
        <a:xfrm>
          <a:off x="9036964" y="1447843"/>
          <a:ext cx="1261309" cy="1649311"/>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l" defTabSz="711200">
            <a:lnSpc>
              <a:spcPct val="90000"/>
            </a:lnSpc>
            <a:spcBef>
              <a:spcPct val="0"/>
            </a:spcBef>
            <a:spcAft>
              <a:spcPct val="35000"/>
            </a:spcAft>
            <a:buNone/>
          </a:pPr>
          <a:r>
            <a:rPr lang="en-US" sz="1600" kern="1200" dirty="0"/>
            <a:t>Go Live with wave  1 FI clients</a:t>
          </a:r>
        </a:p>
        <a:p>
          <a:pPr marL="114300" lvl="1" indent="-114300" algn="l" defTabSz="622300">
            <a:lnSpc>
              <a:spcPct val="90000"/>
            </a:lnSpc>
            <a:spcBef>
              <a:spcPct val="0"/>
            </a:spcBef>
            <a:spcAft>
              <a:spcPct val="15000"/>
            </a:spcAft>
            <a:buChar char="•"/>
          </a:pPr>
          <a:endParaRPr lang="en-US" sz="1400" kern="1200" dirty="0">
            <a:solidFill>
              <a:srgbClr val="404040">
                <a:hueOff val="0"/>
                <a:satOff val="0"/>
                <a:lumOff val="0"/>
                <a:alphaOff val="0"/>
              </a:srgbClr>
            </a:solidFill>
            <a:latin typeface="Corbel"/>
            <a:ea typeface="+mn-ea"/>
            <a:cs typeface="+mn-cs"/>
          </a:endParaRPr>
        </a:p>
        <a:p>
          <a:pPr marL="114300" lvl="1" indent="-114300" algn="l" defTabSz="622300">
            <a:lnSpc>
              <a:spcPct val="90000"/>
            </a:lnSpc>
            <a:spcBef>
              <a:spcPct val="0"/>
            </a:spcBef>
            <a:spcAft>
              <a:spcPct val="15000"/>
            </a:spcAft>
            <a:buChar char="•"/>
          </a:pPr>
          <a:endParaRPr lang="en-US" sz="1400" kern="1200" dirty="0">
            <a:solidFill>
              <a:srgbClr val="404040">
                <a:hueOff val="0"/>
                <a:satOff val="0"/>
                <a:lumOff val="0"/>
                <a:alphaOff val="0"/>
              </a:srgbClr>
            </a:solidFill>
            <a:latin typeface="Corbel"/>
            <a:ea typeface="+mn-ea"/>
            <a:cs typeface="+mn-cs"/>
          </a:endParaRPr>
        </a:p>
        <a:p>
          <a:pPr marL="114300" lvl="1" indent="-114300" algn="l" defTabSz="622300">
            <a:lnSpc>
              <a:spcPct val="90000"/>
            </a:lnSpc>
            <a:spcBef>
              <a:spcPct val="0"/>
            </a:spcBef>
            <a:spcAft>
              <a:spcPct val="15000"/>
            </a:spcAft>
            <a:buChar char="•"/>
          </a:pPr>
          <a:r>
            <a:rPr lang="en-US" sz="1400" kern="1200" dirty="0">
              <a:solidFill>
                <a:srgbClr val="404040">
                  <a:hueOff val="0"/>
                  <a:satOff val="0"/>
                  <a:lumOff val="0"/>
                  <a:alphaOff val="0"/>
                </a:srgbClr>
              </a:solidFill>
              <a:latin typeface="Corbel"/>
              <a:ea typeface="+mn-ea"/>
              <a:cs typeface="+mn-cs"/>
            </a:rPr>
            <a:t>Dec 1 2025</a:t>
          </a:r>
        </a:p>
      </dsp:txBody>
      <dsp:txXfrm>
        <a:off x="9073906" y="1484785"/>
        <a:ext cx="1187425" cy="15754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4D223B-A688-4336-8E01-8BA7F29A1620}" type="datetimeFigureOut">
              <a:rPr lang="en-GB" smtClean="0"/>
              <a:t>30/10/2025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7585E3-16CD-4008-B3F7-E4A803395103}" type="slidenum">
              <a:rPr lang="en-GB" smtClean="0"/>
              <a:t>‹#›</a:t>
            </a:fld>
            <a:endParaRPr lang="en-GB"/>
          </a:p>
        </p:txBody>
      </p:sp>
    </p:spTree>
    <p:extLst>
      <p:ext uri="{BB962C8B-B14F-4D97-AF65-F5344CB8AC3E}">
        <p14:creationId xmlns:p14="http://schemas.microsoft.com/office/powerpoint/2010/main" val="74183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macmillandictionary.com/buzzword/entries/green-swan.html"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apg.nl/en/publication/we-discovered-1320-new-teslas/"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icebreakerone.org/report-nfdf/"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cbd.int/doc/c/efb0/1f84/a892b98d2982a829962b6371/wg2020-02-03-en.pdf"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Green swan definition </a:t>
            </a:r>
            <a:r>
              <a:rPr lang="en-GB" dirty="0" err="1">
                <a:hlinkClick r:id="rId3"/>
              </a:rPr>
              <a:t>Definition</a:t>
            </a:r>
            <a:r>
              <a:rPr lang="en-GB" dirty="0">
                <a:hlinkClick r:id="rId3"/>
              </a:rPr>
              <a:t> of Green swan, </a:t>
            </a:r>
            <a:r>
              <a:rPr lang="en-GB" dirty="0" err="1">
                <a:hlinkClick r:id="rId3"/>
              </a:rPr>
              <a:t>BuzzWord</a:t>
            </a:r>
            <a:r>
              <a:rPr lang="en-GB" dirty="0">
                <a:hlinkClick r:id="rId3"/>
              </a:rPr>
              <a:t> from Macmillan Dictionary</a:t>
            </a:r>
            <a:endParaRPr lang="en-GB" dirty="0"/>
          </a:p>
          <a:p>
            <a:r>
              <a:rPr lang="en-GB" dirty="0">
                <a:hlinkClick r:id="rId4"/>
              </a:rPr>
              <a:t>‘We discovered 1320 new </a:t>
            </a:r>
            <a:r>
              <a:rPr lang="en-GB" dirty="0" err="1">
                <a:hlinkClick r:id="rId4"/>
              </a:rPr>
              <a:t>Teslas’</a:t>
            </a:r>
            <a:r>
              <a:rPr lang="en-GB" dirty="0">
                <a:hlinkClick r:id="rId4"/>
              </a:rPr>
              <a:t> | APG</a:t>
            </a:r>
            <a:endParaRPr lang="en-GB" dirty="0"/>
          </a:p>
        </p:txBody>
      </p:sp>
    </p:spTree>
    <p:extLst>
      <p:ext uri="{BB962C8B-B14F-4D97-AF65-F5344CB8AC3E}">
        <p14:creationId xmlns:p14="http://schemas.microsoft.com/office/powerpoint/2010/main" val="3952568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hlinkClick r:id="rId3"/>
              </a:rPr>
              <a:t>Report — Enabling secure and scalable non-financial reporting and data flows ► (icebreakerone.org)</a:t>
            </a:r>
            <a:endParaRPr lang="en-US" dirty="0">
              <a:solidFill>
                <a:srgbClr val="CB0935"/>
              </a:solidFill>
            </a:endParaRPr>
          </a:p>
          <a:p>
            <a:endParaRPr lang="en-GB" dirty="0"/>
          </a:p>
          <a:p>
            <a:r>
              <a:rPr lang="en-GB" dirty="0"/>
              <a:t>B. Convention on biological diversity </a:t>
            </a:r>
            <a:r>
              <a:rPr lang="en-GB" dirty="0">
                <a:hlinkClick r:id="rId4"/>
              </a:rPr>
              <a:t>Zero draft of the post-2020 global biodiversity framework (cbd.int)</a:t>
            </a:r>
            <a:endParaRPr lang="en-GB" dirty="0"/>
          </a:p>
          <a:p>
            <a:r>
              <a:rPr lang="en-GB" dirty="0"/>
              <a:t>2030 and 2050 Goals 10. </a:t>
            </a:r>
          </a:p>
          <a:p>
            <a:r>
              <a:rPr lang="en-GB" dirty="0"/>
              <a:t>The Framework has five long-term goals for 2050 related to the 2050 Vision for Biodiversity. Each of these goals has an associated outcome for 2030. 11 </a:t>
            </a:r>
          </a:p>
          <a:p>
            <a:r>
              <a:rPr lang="en-GB" dirty="0"/>
              <a:t>The five goals are: </a:t>
            </a:r>
          </a:p>
          <a:p>
            <a:pPr>
              <a:buAutoNum type="alphaLcParenBoth"/>
            </a:pPr>
            <a:r>
              <a:rPr lang="en-GB" dirty="0"/>
              <a:t>No net loss by 2030 in the area and integrity of freshwater, marine and terrestrial ecosystems, and increases of at least [20%] by 2050, ensuring ecosystem resilience; </a:t>
            </a:r>
          </a:p>
          <a:p>
            <a:pPr>
              <a:buAutoNum type="alphaLcParenBoth"/>
            </a:pPr>
            <a:r>
              <a:rPr lang="en-GB" dirty="0"/>
              <a:t>The percentage of species threatened with extinction is reduced by [X%] and the abundance of species has increased on average by [X%] by 2030 and by [X%] by 2050; </a:t>
            </a:r>
          </a:p>
          <a:p>
            <a:pPr>
              <a:buAutoNum type="alphaLcParenBoth"/>
            </a:pPr>
            <a:r>
              <a:rPr lang="en-GB" dirty="0"/>
              <a:t>Genetic diversity is maintained or enhanced on average by 2030, and for [90%] of species by 2050; </a:t>
            </a:r>
          </a:p>
          <a:p>
            <a:pPr>
              <a:buAutoNum type="alphaLcParenBoth"/>
            </a:pPr>
            <a:r>
              <a:rPr lang="en-GB" dirty="0"/>
              <a:t>Nature provides benefits to people contributing to: (i) Improvements in nutrition for at least [X million] people by 2030 and [Y million] by 2050; (ii) Improvements in sustainable access to safe and drinkable water for at least [X million] people, by 2030 and [Y million] by 2050; (iii) Improvements in resilience to natural disasters for at least [X million] people by 2030 and [Y million] by 2050; (iv) At least [30%] of efforts to achieve the targets of the Paris Agreement in 2030 and 2050. </a:t>
            </a:r>
          </a:p>
          <a:p>
            <a:pPr>
              <a:buAutoNum type="alphaLcParenBoth"/>
            </a:pPr>
            <a:r>
              <a:rPr lang="en-GB" dirty="0"/>
              <a:t>The benefits, shared fairly and equitably, from the use of genetic resources and associated traditional knowledge have increased by [X] by 2030 and reached [X] by 2050. C. 2030 Mission 11. The 2030 Mission for this framework is: To take urgent action across society to put biodiversity on a path to recovery for the benefit of planet and people. 12 D. 2030 action targets 12. The Framework has 20 action-oriented targets for 2030 which, if achieved, will contribute to the outcome-oriented goals for 2030 and 2050. Actions to reach these targets should be implemented consistently and in harmony with the Convention on Biological Diversity and other relevant international obligations, taking into account national socioeconomic conditions.13</a:t>
            </a:r>
          </a:p>
        </p:txBody>
      </p:sp>
    </p:spTree>
    <p:extLst>
      <p:ext uri="{BB962C8B-B14F-4D97-AF65-F5344CB8AC3E}">
        <p14:creationId xmlns:p14="http://schemas.microsoft.com/office/powerpoint/2010/main" val="2008275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A4B015-6D9F-4933-8CD8-C3FE5659EB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6326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FC3A6-006A-1295-783A-943EA0984FE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1BAF23A-C9C7-6278-E58C-D28E2A326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7A8DAC6-AEEB-1B25-1502-D8A02EA41280}"/>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5" name="Footer Placeholder 4">
            <a:extLst>
              <a:ext uri="{FF2B5EF4-FFF2-40B4-BE49-F238E27FC236}">
                <a16:creationId xmlns:a16="http://schemas.microsoft.com/office/drawing/2014/main" id="{5402E248-4133-8E56-5BB4-FB8D2C7C4A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AE513B-4FEC-3102-7CCB-3730E0D93B4A}"/>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3797773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980D8-8FF6-7A51-F80A-8BB2F6E77F1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4A31803-453B-7225-5F9A-84E79119BE4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18AB5AE-1E07-6047-6204-C6AB94EDA489}"/>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5" name="Footer Placeholder 4">
            <a:extLst>
              <a:ext uri="{FF2B5EF4-FFF2-40B4-BE49-F238E27FC236}">
                <a16:creationId xmlns:a16="http://schemas.microsoft.com/office/drawing/2014/main" id="{87401749-26AA-1DED-6E89-F95289D42E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0CE3C7-3877-1686-B13F-A166F4431A9A}"/>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2164026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1E5A-BE18-F59C-F9F2-AB0CCEC32A4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1D3E4C8-90DF-CE93-A04E-A5C2294F8B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57A45FF-9565-47DB-037C-A6B90272C485}"/>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5" name="Footer Placeholder 4">
            <a:extLst>
              <a:ext uri="{FF2B5EF4-FFF2-40B4-BE49-F238E27FC236}">
                <a16:creationId xmlns:a16="http://schemas.microsoft.com/office/drawing/2014/main" id="{6B7316A2-7DA6-D4E3-104F-FBC11048C5E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C86E23-B23B-7E15-CBA2-DD460BDF6C81}"/>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338648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C401D-46C7-39B3-6804-331AFB8D4E9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37BBDBF-B861-D1A3-BD70-8E36BB8113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CF562C0-1C46-F34E-82D6-F1CD8E4E49D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8E7D4AF-9B5A-6748-0A22-49230126B05F}"/>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6" name="Footer Placeholder 5">
            <a:extLst>
              <a:ext uri="{FF2B5EF4-FFF2-40B4-BE49-F238E27FC236}">
                <a16:creationId xmlns:a16="http://schemas.microsoft.com/office/drawing/2014/main" id="{A5D32CE0-7858-EE82-BD7A-C1F841CAB0C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8A5B1C6-A0E3-59CF-9EE4-4C2746582E3E}"/>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4152858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59C34-2AE9-2AA5-3DDF-4CD74011255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B6F934D-113E-9170-0AE1-D432654435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4CABA8A-D5E8-37A6-DF17-44485E65BD5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400956BB-97B0-14BE-B880-0B63D7474E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0951A53-3ECD-5D49-9F96-00891883D5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16A8A065-6D94-AF06-533F-44EB0720701F}"/>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8" name="Footer Placeholder 7">
            <a:extLst>
              <a:ext uri="{FF2B5EF4-FFF2-40B4-BE49-F238E27FC236}">
                <a16:creationId xmlns:a16="http://schemas.microsoft.com/office/drawing/2014/main" id="{92F96562-A23D-21E8-F240-9B9E534AA31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1D7E7F-08A0-92A3-AA08-A736A4F11D9D}"/>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2781679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D373E-87A1-94CD-39D7-35E81AC0F561}"/>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801E8BE-84E7-FFC9-4105-75406A200AAA}"/>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4" name="Footer Placeholder 3">
            <a:extLst>
              <a:ext uri="{FF2B5EF4-FFF2-40B4-BE49-F238E27FC236}">
                <a16:creationId xmlns:a16="http://schemas.microsoft.com/office/drawing/2014/main" id="{DC4E7731-BDFD-2249-DEC3-6C34F698B20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D55E1DE-2488-14B2-785D-ACA290CDC682}"/>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26878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46BA2D-8B6F-3FD0-3E19-4C593C4CEE20}"/>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3" name="Footer Placeholder 2">
            <a:extLst>
              <a:ext uri="{FF2B5EF4-FFF2-40B4-BE49-F238E27FC236}">
                <a16:creationId xmlns:a16="http://schemas.microsoft.com/office/drawing/2014/main" id="{2E7DEF07-A82C-DEBC-4E34-BD841773D2D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3855B2D-DDD4-C02D-82E8-1147B39B8D04}"/>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4155743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AFF68-8DB6-04C7-AEA0-3CA0246EAD2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BED32114-97D7-FB1E-6E3B-884B0FC99B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5BDD3B1-BA5B-5B62-343F-750F9AA7E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C12B378-074D-D8AF-E230-EA839E50899D}"/>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6" name="Footer Placeholder 5">
            <a:extLst>
              <a:ext uri="{FF2B5EF4-FFF2-40B4-BE49-F238E27FC236}">
                <a16:creationId xmlns:a16="http://schemas.microsoft.com/office/drawing/2014/main" id="{2AA0F189-832C-6C08-5F85-2568F5FFB4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DD6088-4D4E-9189-EADB-A64C2E56F28E}"/>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1959895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F8B8F-157B-22D1-77A2-F47CBA28313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564A3FCA-9A12-28C0-7C57-B12F492237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C37954C-A411-11AE-C64A-3C93E9006E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F732121-35A2-C7A6-A390-2132DE2F03D9}"/>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6" name="Footer Placeholder 5">
            <a:extLst>
              <a:ext uri="{FF2B5EF4-FFF2-40B4-BE49-F238E27FC236}">
                <a16:creationId xmlns:a16="http://schemas.microsoft.com/office/drawing/2014/main" id="{AD7E7190-338C-0351-F9B8-4D86867096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2C42C7C-BE15-12FA-5EA4-8E2B4D569688}"/>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3018138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DAE53-DF88-2AA8-C871-6080AA9E1C6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6036E8D-FF2A-02C6-A3F9-31565A6522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BBE28C7-9A41-2035-A1FC-12E48CFABE26}"/>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5" name="Footer Placeholder 4">
            <a:extLst>
              <a:ext uri="{FF2B5EF4-FFF2-40B4-BE49-F238E27FC236}">
                <a16:creationId xmlns:a16="http://schemas.microsoft.com/office/drawing/2014/main" id="{3332F618-2918-1A6B-5B7B-A4EA69FEF5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55E51D-9ADD-12B9-C1AE-CEEB8B3793A7}"/>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3615601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8C854-021D-FFBD-9E18-1FF158CE30C4}"/>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6BB0BB7-C74D-6DFD-4F44-DD8C040174C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C811FC4-5C3C-C9E4-C0AA-63CBAA67E388}"/>
              </a:ext>
            </a:extLst>
          </p:cNvPr>
          <p:cNvSpPr>
            <a:spLocks noGrp="1"/>
          </p:cNvSpPr>
          <p:nvPr>
            <p:ph type="dt" sz="half" idx="10"/>
          </p:nvPr>
        </p:nvSpPr>
        <p:spPr/>
        <p:txBody>
          <a:bodyPr/>
          <a:lstStyle/>
          <a:p>
            <a:fld id="{80FFF111-F3FC-4328-8CB1-201174874687}" type="datetimeFigureOut">
              <a:rPr lang="en-GB" smtClean="0"/>
              <a:t>30/10/2025</a:t>
            </a:fld>
            <a:endParaRPr lang="en-GB"/>
          </a:p>
        </p:txBody>
      </p:sp>
      <p:sp>
        <p:nvSpPr>
          <p:cNvPr id="5" name="Footer Placeholder 4">
            <a:extLst>
              <a:ext uri="{FF2B5EF4-FFF2-40B4-BE49-F238E27FC236}">
                <a16:creationId xmlns:a16="http://schemas.microsoft.com/office/drawing/2014/main" id="{81F54A7D-76F7-921A-4254-7406A918E9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1FAAAB-FD60-1D77-7A5C-B61D12D2063E}"/>
              </a:ext>
            </a:extLst>
          </p:cNvPr>
          <p:cNvSpPr>
            <a:spLocks noGrp="1"/>
          </p:cNvSpPr>
          <p:nvPr>
            <p:ph type="sldNum" sz="quarter" idx="12"/>
          </p:nvPr>
        </p:nvSpPr>
        <p:spPr/>
        <p:txBody>
          <a:bodyPr/>
          <a:lstStyle/>
          <a:p>
            <a:fld id="{CFE4EA6E-6B8E-4534-9165-C2F37DEBF23A}" type="slidenum">
              <a:rPr lang="en-GB" smtClean="0"/>
              <a:t>‹#›</a:t>
            </a:fld>
            <a:endParaRPr lang="en-GB"/>
          </a:p>
        </p:txBody>
      </p:sp>
    </p:spTree>
    <p:extLst>
      <p:ext uri="{BB962C8B-B14F-4D97-AF65-F5344CB8AC3E}">
        <p14:creationId xmlns:p14="http://schemas.microsoft.com/office/powerpoint/2010/main" val="8756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nd Content" userDrawn="1">
  <p:cSld name="1_Title and Content">
    <p:spTree>
      <p:nvGrpSpPr>
        <p:cNvPr id="1" name="Shape 10"/>
        <p:cNvGrpSpPr/>
        <p:nvPr/>
      </p:nvGrpSpPr>
      <p:grpSpPr>
        <a:xfrm>
          <a:off x="0" y="0"/>
          <a:ext cx="0" cy="0"/>
          <a:chOff x="0" y="0"/>
          <a:chExt cx="0" cy="0"/>
        </a:xfrm>
      </p:grpSpPr>
      <p:sp>
        <p:nvSpPr>
          <p:cNvPr id="6" name="Google Shape;13;p2">
            <a:extLst>
              <a:ext uri="{FF2B5EF4-FFF2-40B4-BE49-F238E27FC236}">
                <a16:creationId xmlns:a16="http://schemas.microsoft.com/office/drawing/2014/main" id="{59C1FB6B-9187-4849-BC3F-A2FCC5BC831F}"/>
              </a:ext>
            </a:extLst>
          </p:cNvPr>
          <p:cNvSpPr txBox="1">
            <a:spLocks noGrp="1"/>
          </p:cNvSpPr>
          <p:nvPr>
            <p:ph type="title"/>
          </p:nvPr>
        </p:nvSpPr>
        <p:spPr>
          <a:xfrm>
            <a:off x="836367" y="430193"/>
            <a:ext cx="8108848" cy="579624"/>
          </a:xfrm>
          <a:prstGeom prst="rect">
            <a:avLst/>
          </a:prstGeom>
          <a:noFill/>
          <a:ln>
            <a:noFill/>
          </a:ln>
        </p:spPr>
        <p:txBody>
          <a:bodyPr spcFirstLastPara="1" wrap="square" lIns="45700" tIns="45700" rIns="45700" bIns="45700" anchor="ctr" anchorCtr="0"/>
          <a:lstStyle>
            <a:lvl1pPr lvl="0" algn="l">
              <a:lnSpc>
                <a:spcPct val="90000"/>
              </a:lnSpc>
              <a:spcBef>
                <a:spcPts val="0"/>
              </a:spcBef>
              <a:spcAft>
                <a:spcPts val="0"/>
              </a:spcAft>
              <a:buClr>
                <a:srgbClr val="FFFFFF"/>
              </a:buClr>
              <a:buSzPts val="2400"/>
              <a:buFont typeface="Roboto"/>
              <a:buNone/>
              <a:defRPr sz="3000" b="1" i="0">
                <a:solidFill>
                  <a:srgbClr val="CB0935"/>
                </a:solidFill>
                <a:latin typeface="+mj-lt"/>
                <a:cs typeface="Calibri" panose="020F0502020204030204" pitchFamily="34" charset="0"/>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7" name="Google Shape;12;p2">
            <a:extLst>
              <a:ext uri="{FF2B5EF4-FFF2-40B4-BE49-F238E27FC236}">
                <a16:creationId xmlns:a16="http://schemas.microsoft.com/office/drawing/2014/main" id="{10CADC02-8713-AA49-8FB7-AE97DE4C2D5C}"/>
              </a:ext>
            </a:extLst>
          </p:cNvPr>
          <p:cNvSpPr txBox="1">
            <a:spLocks noGrp="1"/>
          </p:cNvSpPr>
          <p:nvPr>
            <p:ph type="sldNum" idx="4"/>
          </p:nvPr>
        </p:nvSpPr>
        <p:spPr>
          <a:xfrm>
            <a:off x="11234810" y="6449987"/>
            <a:ext cx="628927" cy="251791"/>
          </a:xfrm>
          <a:prstGeom prst="rect">
            <a:avLst/>
          </a:prstGeom>
          <a:noFill/>
          <a:ln>
            <a:noFill/>
          </a:ln>
        </p:spPr>
        <p:txBody>
          <a:bodyPr spcFirstLastPara="1" wrap="square" lIns="45700" tIns="45700" rIns="45700"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999" b="0" i="0" u="none" strike="noStrike" cap="none">
                <a:solidFill>
                  <a:srgbClr val="888888"/>
                </a:solidFill>
                <a:latin typeface="Calibri" panose="020F0502020204030204" pitchFamily="34" charset="0"/>
                <a:ea typeface="Calibri" panose="020F0502020204030204" pitchFamily="34" charset="0"/>
                <a:cs typeface="Calibri" panose="020F0502020204030204" pitchFamily="34" charset="0"/>
                <a:sym typeface="Calibri"/>
              </a:defRPr>
            </a:lvl1pPr>
            <a:lvl2pPr marL="0" marR="0" lvl="1"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199"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
        <p:nvSpPr>
          <p:cNvPr id="9" name="Content Placeholder 4">
            <a:extLst>
              <a:ext uri="{FF2B5EF4-FFF2-40B4-BE49-F238E27FC236}">
                <a16:creationId xmlns:a16="http://schemas.microsoft.com/office/drawing/2014/main" id="{DCA834B6-5CCF-4C46-9C6D-AEC238C88549}"/>
              </a:ext>
            </a:extLst>
          </p:cNvPr>
          <p:cNvSpPr>
            <a:spLocks noGrp="1"/>
          </p:cNvSpPr>
          <p:nvPr>
            <p:ph sz="quarter" idx="17"/>
          </p:nvPr>
        </p:nvSpPr>
        <p:spPr>
          <a:xfrm>
            <a:off x="836370" y="1630021"/>
            <a:ext cx="10497666" cy="4166484"/>
          </a:xfrm>
          <a:prstGeom prst="rect">
            <a:avLst/>
          </a:prstGeom>
        </p:spPr>
        <p:txBody>
          <a:bodyPr lIns="90000" rIns="90000"/>
          <a:lstStyle>
            <a:lvl1pPr marL="316429" indent="-316429">
              <a:lnSpc>
                <a:spcPct val="100000"/>
              </a:lnSpc>
              <a:spcAft>
                <a:spcPts val="1199"/>
              </a:spcAft>
              <a:buClr>
                <a:schemeClr val="accent1"/>
              </a:buClr>
              <a:buFont typeface="Arial" panose="020B0604020202020204" pitchFamily="34" charset="0"/>
              <a:buChar char="•"/>
              <a:tabLst/>
              <a:defRPr sz="2382" b="0" i="0">
                <a:solidFill>
                  <a:schemeClr val="tx2"/>
                </a:solidFill>
                <a:latin typeface="Calibri" panose="020F0502020204030204" pitchFamily="34" charset="0"/>
                <a:cs typeface="Calibri" panose="020F0502020204030204" pitchFamily="34" charset="0"/>
              </a:defRPr>
            </a:lvl1pPr>
            <a:lvl2pPr marL="940883" indent="-308027">
              <a:lnSpc>
                <a:spcPct val="100000"/>
              </a:lnSpc>
              <a:spcAft>
                <a:spcPts val="1199"/>
              </a:spcAft>
              <a:buClr>
                <a:schemeClr val="accent1"/>
              </a:buClr>
              <a:buFont typeface="System Font"/>
              <a:buChar char="-"/>
              <a:tabLst>
                <a:tab pos="226820" algn="l"/>
              </a:tabLst>
              <a:defRPr sz="2382" b="0" i="0">
                <a:solidFill>
                  <a:schemeClr val="tx2"/>
                </a:solidFill>
                <a:latin typeface="Calibri" panose="020F0502020204030204" pitchFamily="34" charset="0"/>
                <a:cs typeface="Calibri" panose="020F0502020204030204" pitchFamily="34" charset="0"/>
              </a:defRPr>
            </a:lvl2pPr>
            <a:lvl3pPr marL="1573737" indent="-316429">
              <a:lnSpc>
                <a:spcPct val="100000"/>
              </a:lnSpc>
              <a:spcAft>
                <a:spcPts val="1199"/>
              </a:spcAft>
              <a:buClr>
                <a:schemeClr val="accent1"/>
              </a:buClr>
              <a:buSzPct val="80000"/>
              <a:buFont typeface="Courier New" panose="02070309020205020404" pitchFamily="49" charset="0"/>
              <a:buChar char="o"/>
              <a:tabLst/>
              <a:defRPr sz="2028" b="0" i="0">
                <a:solidFill>
                  <a:schemeClr val="tx2"/>
                </a:solidFill>
                <a:latin typeface="Calibri" panose="020F0502020204030204" pitchFamily="34" charset="0"/>
                <a:cs typeface="Calibri" panose="020F0502020204030204" pitchFamily="34" charset="0"/>
              </a:defRPr>
            </a:lvl3pPr>
            <a:lvl4pPr>
              <a:lnSpc>
                <a:spcPct val="150000"/>
              </a:lnSpc>
              <a:buClr>
                <a:schemeClr val="accent1"/>
              </a:buClr>
              <a:defRPr sz="1801" b="0" i="0">
                <a:solidFill>
                  <a:schemeClr val="tx2"/>
                </a:solidFill>
                <a:latin typeface="Source Sans Pro" panose="020B0503030403020204" pitchFamily="34" charset="77"/>
              </a:defRPr>
            </a:lvl4pPr>
            <a:lvl5pPr>
              <a:lnSpc>
                <a:spcPct val="150000"/>
              </a:lnSpc>
              <a:buClr>
                <a:schemeClr val="accent1"/>
              </a:buClr>
              <a:defRPr sz="1801" b="0" i="0">
                <a:solidFill>
                  <a:schemeClr val="tx2"/>
                </a:solidFill>
                <a:latin typeface="Source Sans Pro" panose="020B0503030403020204" pitchFamily="34" charset="77"/>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2712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DE75B2-2496-825D-8DBF-7A568A49EE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CB309F6-0529-C50C-C650-822B245741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DF9201-97B9-D7E7-3595-7B613DA603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FFF111-F3FC-4328-8CB1-201174874687}" type="datetimeFigureOut">
              <a:rPr lang="en-GB" smtClean="0"/>
              <a:t>30/10/2025</a:t>
            </a:fld>
            <a:endParaRPr lang="en-GB"/>
          </a:p>
        </p:txBody>
      </p:sp>
      <p:sp>
        <p:nvSpPr>
          <p:cNvPr id="5" name="Footer Placeholder 4">
            <a:extLst>
              <a:ext uri="{FF2B5EF4-FFF2-40B4-BE49-F238E27FC236}">
                <a16:creationId xmlns:a16="http://schemas.microsoft.com/office/drawing/2014/main" id="{3063B131-E5BB-6E0B-7A49-207FEAF98F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93C916A-1301-AB03-87A4-03786DDC41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E4EA6E-6B8E-4534-9165-C2F37DEBF23A}" type="slidenum">
              <a:rPr lang="en-GB" smtClean="0"/>
              <a:t>‹#›</a:t>
            </a:fld>
            <a:endParaRPr lang="en-GB"/>
          </a:p>
        </p:txBody>
      </p:sp>
    </p:spTree>
    <p:extLst>
      <p:ext uri="{BB962C8B-B14F-4D97-AF65-F5344CB8AC3E}">
        <p14:creationId xmlns:p14="http://schemas.microsoft.com/office/powerpoint/2010/main" val="30260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Description">
            <a:extLst>
              <a:ext uri="{FF2B5EF4-FFF2-40B4-BE49-F238E27FC236}">
                <a16:creationId xmlns:a16="http://schemas.microsoft.com/office/drawing/2014/main" id="{3530D066-3F2B-47B5-A241-FA01D9122C9C}"/>
              </a:ext>
            </a:extLst>
          </p:cNvPr>
          <p:cNvSpPr txBox="1"/>
          <p:nvPr/>
        </p:nvSpPr>
        <p:spPr>
          <a:xfrm>
            <a:off x="2076692" y="1812332"/>
            <a:ext cx="164332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97" dirty="0">
                <a:latin typeface="Segoe UI"/>
              </a:rPr>
              <a:t>Plan data models and data governance to be come data driven organization</a:t>
            </a:r>
          </a:p>
        </p:txBody>
      </p:sp>
      <p:sp>
        <p:nvSpPr>
          <p:cNvPr id="146" name="Description">
            <a:extLst>
              <a:ext uri="{FF2B5EF4-FFF2-40B4-BE49-F238E27FC236}">
                <a16:creationId xmlns:a16="http://schemas.microsoft.com/office/drawing/2014/main" id="{CBDC66BD-1BAC-4869-AF69-B2890E9B9CD4}"/>
              </a:ext>
            </a:extLst>
          </p:cNvPr>
          <p:cNvSpPr txBox="1"/>
          <p:nvPr/>
        </p:nvSpPr>
        <p:spPr>
          <a:xfrm>
            <a:off x="4170563" y="2530760"/>
            <a:ext cx="1752125"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07" dirty="0">
                <a:latin typeface="Segoe UI"/>
                <a:cs typeface="Segoe UI"/>
              </a:rPr>
              <a:t>Adopt TCFD/TNFD recommendations re Scenario planning and exec leadership, priority </a:t>
            </a:r>
            <a:r>
              <a:rPr lang="en-US" sz="907" dirty="0" err="1">
                <a:latin typeface="Segoe UI"/>
                <a:cs typeface="Segoe UI"/>
              </a:rPr>
              <a:t>etc</a:t>
            </a:r>
            <a:r>
              <a:rPr lang="en-US" sz="907" dirty="0">
                <a:latin typeface="Segoe UI"/>
                <a:cs typeface="Segoe UI"/>
              </a:rPr>
              <a:t> </a:t>
            </a:r>
            <a:endParaRPr lang="en-US" sz="907" dirty="0">
              <a:latin typeface="Segoe UI"/>
            </a:endParaRPr>
          </a:p>
        </p:txBody>
      </p:sp>
      <p:sp>
        <p:nvSpPr>
          <p:cNvPr id="34" name="Description">
            <a:extLst>
              <a:ext uri="{FF2B5EF4-FFF2-40B4-BE49-F238E27FC236}">
                <a16:creationId xmlns:a16="http://schemas.microsoft.com/office/drawing/2014/main" id="{68D57F00-01A8-4FF3-9CDE-84F92F8DA928}"/>
              </a:ext>
            </a:extLst>
          </p:cNvPr>
          <p:cNvSpPr txBox="1"/>
          <p:nvPr/>
        </p:nvSpPr>
        <p:spPr>
          <a:xfrm>
            <a:off x="4164350" y="3238632"/>
            <a:ext cx="1752125"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00" dirty="0">
              <a:latin typeface="Segoe UI"/>
            </a:endParaRPr>
          </a:p>
        </p:txBody>
      </p:sp>
      <p:sp>
        <p:nvSpPr>
          <p:cNvPr id="73" name="Description">
            <a:extLst>
              <a:ext uri="{FF2B5EF4-FFF2-40B4-BE49-F238E27FC236}">
                <a16:creationId xmlns:a16="http://schemas.microsoft.com/office/drawing/2014/main" id="{0D03DA4C-CABC-48F5-9A7B-0089739A7867}"/>
              </a:ext>
            </a:extLst>
          </p:cNvPr>
          <p:cNvSpPr txBox="1"/>
          <p:nvPr/>
        </p:nvSpPr>
        <p:spPr>
          <a:xfrm>
            <a:off x="4171076" y="1813588"/>
            <a:ext cx="1752125"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97" dirty="0">
                <a:latin typeface="Segoe UI"/>
              </a:rPr>
              <a:t>Examine impact to existing regulatory framework, process , business model</a:t>
            </a:r>
          </a:p>
        </p:txBody>
      </p:sp>
      <p:sp>
        <p:nvSpPr>
          <p:cNvPr id="83" name="Description">
            <a:extLst>
              <a:ext uri="{FF2B5EF4-FFF2-40B4-BE49-F238E27FC236}">
                <a16:creationId xmlns:a16="http://schemas.microsoft.com/office/drawing/2014/main" id="{B713B37F-CF94-452B-90DF-312C5E9C2350}"/>
              </a:ext>
            </a:extLst>
          </p:cNvPr>
          <p:cNvSpPr txBox="1"/>
          <p:nvPr/>
        </p:nvSpPr>
        <p:spPr>
          <a:xfrm>
            <a:off x="9944234" y="3934525"/>
            <a:ext cx="1472270" cy="696970"/>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53" dirty="0">
                <a:latin typeface="Segoe UI"/>
              </a:rPr>
              <a:t>Meet societal /institutional sector demand for green purpose, assets, products</a:t>
            </a:r>
          </a:p>
        </p:txBody>
      </p:sp>
      <p:sp>
        <p:nvSpPr>
          <p:cNvPr id="136" name="Description">
            <a:extLst>
              <a:ext uri="{FF2B5EF4-FFF2-40B4-BE49-F238E27FC236}">
                <a16:creationId xmlns:a16="http://schemas.microsoft.com/office/drawing/2014/main" id="{239C6DF3-191F-4964-A1CB-8F3EB645DE22}"/>
              </a:ext>
            </a:extLst>
          </p:cNvPr>
          <p:cNvSpPr txBox="1"/>
          <p:nvPr/>
        </p:nvSpPr>
        <p:spPr>
          <a:xfrm>
            <a:off x="9944233" y="4648630"/>
            <a:ext cx="153469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07" dirty="0">
                <a:latin typeface="Segoe UI"/>
              </a:rPr>
              <a:t>Increase revenue opportunities with new business model/ products &amp; align to purpose</a:t>
            </a:r>
          </a:p>
        </p:txBody>
      </p:sp>
      <p:sp>
        <p:nvSpPr>
          <p:cNvPr id="135" name="Description">
            <a:extLst>
              <a:ext uri="{FF2B5EF4-FFF2-40B4-BE49-F238E27FC236}">
                <a16:creationId xmlns:a16="http://schemas.microsoft.com/office/drawing/2014/main" id="{60180A1C-416E-4C9B-A066-C6AC00515D73}"/>
              </a:ext>
            </a:extLst>
          </p:cNvPr>
          <p:cNvSpPr txBox="1"/>
          <p:nvPr/>
        </p:nvSpPr>
        <p:spPr>
          <a:xfrm>
            <a:off x="9934529" y="2529946"/>
            <a:ext cx="153469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816" dirty="0">
                <a:latin typeface="Segoe UI"/>
              </a:rPr>
              <a:t>Meet compliance &amp; market authorities’ </a:t>
            </a:r>
            <a:r>
              <a:rPr lang="en-US" sz="816" dirty="0" err="1">
                <a:latin typeface="Segoe UI"/>
              </a:rPr>
              <a:t>e.g</a:t>
            </a:r>
            <a:r>
              <a:rPr lang="en-US" sz="816" dirty="0">
                <a:latin typeface="Segoe UI"/>
              </a:rPr>
              <a:t> EU guidance to de-risk assets associated with negative climate &amp; biodiversity exposure</a:t>
            </a:r>
          </a:p>
        </p:txBody>
      </p:sp>
      <p:sp>
        <p:nvSpPr>
          <p:cNvPr id="2" name="Title 1">
            <a:extLst>
              <a:ext uri="{FF2B5EF4-FFF2-40B4-BE49-F238E27FC236}">
                <a16:creationId xmlns:a16="http://schemas.microsoft.com/office/drawing/2014/main" id="{751A48C0-46A1-4AA1-9B6F-B8DE0B6CEC0E}"/>
              </a:ext>
            </a:extLst>
          </p:cNvPr>
          <p:cNvSpPr>
            <a:spLocks noGrp="1"/>
          </p:cNvSpPr>
          <p:nvPr>
            <p:ph type="title"/>
          </p:nvPr>
        </p:nvSpPr>
        <p:spPr>
          <a:xfrm>
            <a:off x="836368" y="66677"/>
            <a:ext cx="10893707" cy="444896"/>
          </a:xfrm>
        </p:spPr>
        <p:txBody>
          <a:bodyPr>
            <a:normAutofit fontScale="90000"/>
          </a:bodyPr>
          <a:lstStyle/>
          <a:p>
            <a:pPr algn="ctr"/>
            <a:br>
              <a:rPr lang="en-GB" sz="2177" dirty="0">
                <a:solidFill>
                  <a:schemeClr val="tx2">
                    <a:lumMod val="50000"/>
                  </a:schemeClr>
                </a:solidFill>
                <a:cs typeface="Calibri"/>
              </a:rPr>
            </a:br>
            <a:r>
              <a:rPr lang="pl-PL" sz="2177" dirty="0">
                <a:solidFill>
                  <a:schemeClr val="tx2">
                    <a:lumMod val="50000"/>
                  </a:schemeClr>
                </a:solidFill>
                <a:cs typeface="Calibri"/>
              </a:rPr>
              <a:t>Benefits Dependency Network</a:t>
            </a:r>
            <a:br>
              <a:rPr lang="en-GB" sz="2177" dirty="0"/>
            </a:br>
            <a:endParaRPr lang="en-GB" sz="2177" dirty="0">
              <a:solidFill>
                <a:schemeClr val="tx2">
                  <a:lumMod val="50000"/>
                </a:schemeClr>
              </a:solidFill>
            </a:endParaRPr>
          </a:p>
        </p:txBody>
      </p:sp>
      <p:sp>
        <p:nvSpPr>
          <p:cNvPr id="4" name="ScenarioChainItemHeader0">
            <a:extLst>
              <a:ext uri="{FF2B5EF4-FFF2-40B4-BE49-F238E27FC236}">
                <a16:creationId xmlns:a16="http://schemas.microsoft.com/office/drawing/2014/main" id="{5A3D3875-4BE0-40CA-A2F1-784A0332873B}"/>
              </a:ext>
            </a:extLst>
          </p:cNvPr>
          <p:cNvSpPr txBox="1"/>
          <p:nvPr/>
        </p:nvSpPr>
        <p:spPr>
          <a:xfrm>
            <a:off x="461925" y="1210962"/>
            <a:ext cx="1306123" cy="482953"/>
          </a:xfrm>
          <a:prstGeom prst="rect">
            <a:avLst/>
          </a:prstGeom>
          <a:noFill/>
        </p:spPr>
        <p:txBody>
          <a:bodyPr wrap="square" rtlCol="0">
            <a:spAutoFit/>
          </a:bodyPr>
          <a:lstStyle/>
          <a:p>
            <a:pPr algn="ctr" defTabSz="829384">
              <a:defRPr/>
            </a:pPr>
            <a:r>
              <a:rPr lang="en-US" sz="1269" b="1">
                <a:solidFill>
                  <a:prstClr val="black"/>
                </a:solidFill>
                <a:latin typeface="Segoe UI Bold" panose="020B0802040204020203" pitchFamily="34" charset="0"/>
                <a:cs typeface="Segoe UI Bold" panose="020B0802040204020203" pitchFamily="34" charset="0"/>
              </a:rPr>
              <a:t>Enabling </a:t>
            </a:r>
            <a:endParaRPr lang="pl-PL" sz="1269" b="1">
              <a:solidFill>
                <a:prstClr val="black"/>
              </a:solidFill>
              <a:latin typeface="Segoe UI Bold" panose="020B0802040204020203" pitchFamily="34" charset="0"/>
              <a:cs typeface="Segoe UI Bold" panose="020B0802040204020203" pitchFamily="34" charset="0"/>
            </a:endParaRPr>
          </a:p>
          <a:p>
            <a:pPr algn="ctr" defTabSz="829384">
              <a:defRPr/>
            </a:pPr>
            <a:r>
              <a:rPr lang="en-US" sz="1269" b="1">
                <a:solidFill>
                  <a:prstClr val="black"/>
                </a:solidFill>
                <a:latin typeface="Segoe UI Bold" panose="020B0802040204020203" pitchFamily="34" charset="0"/>
                <a:cs typeface="Segoe UI Bold" panose="020B0802040204020203" pitchFamily="34" charset="0"/>
              </a:rPr>
              <a:t>Technologies</a:t>
            </a:r>
          </a:p>
        </p:txBody>
      </p:sp>
      <p:sp>
        <p:nvSpPr>
          <p:cNvPr id="5" name="ScenarioChainItemHeader1">
            <a:extLst>
              <a:ext uri="{FF2B5EF4-FFF2-40B4-BE49-F238E27FC236}">
                <a16:creationId xmlns:a16="http://schemas.microsoft.com/office/drawing/2014/main" id="{E4F24D72-A89A-48CB-8742-8A92D78CB992}"/>
              </a:ext>
            </a:extLst>
          </p:cNvPr>
          <p:cNvSpPr txBox="1"/>
          <p:nvPr/>
        </p:nvSpPr>
        <p:spPr>
          <a:xfrm>
            <a:off x="2337945" y="1245893"/>
            <a:ext cx="1306123" cy="482953"/>
          </a:xfrm>
          <a:prstGeom prst="rect">
            <a:avLst/>
          </a:prstGeom>
          <a:noFill/>
        </p:spPr>
        <p:txBody>
          <a:bodyPr wrap="square" rtlCol="0">
            <a:spAutoFit/>
          </a:bodyPr>
          <a:lstStyle/>
          <a:p>
            <a:pPr algn="ctr" defTabSz="829384">
              <a:defRPr/>
            </a:pPr>
            <a:r>
              <a:rPr lang="en-US" sz="1269" b="1">
                <a:solidFill>
                  <a:prstClr val="black"/>
                </a:solidFill>
                <a:latin typeface="Segoe UI Bold" panose="020B0802040204020203" pitchFamily="34" charset="0"/>
                <a:cs typeface="Segoe UI Bold" panose="020B0802040204020203" pitchFamily="34" charset="0"/>
              </a:rPr>
              <a:t>Enabling </a:t>
            </a:r>
            <a:endParaRPr lang="pl-PL" sz="1269" b="1">
              <a:solidFill>
                <a:prstClr val="black"/>
              </a:solidFill>
              <a:latin typeface="Segoe UI Bold" panose="020B0802040204020203" pitchFamily="34" charset="0"/>
              <a:cs typeface="Segoe UI Bold" panose="020B0802040204020203" pitchFamily="34" charset="0"/>
            </a:endParaRPr>
          </a:p>
          <a:p>
            <a:pPr algn="ctr" defTabSz="829384">
              <a:defRPr/>
            </a:pPr>
            <a:r>
              <a:rPr lang="en-US" sz="1269" b="1">
                <a:solidFill>
                  <a:prstClr val="black"/>
                </a:solidFill>
                <a:latin typeface="Segoe UI Bold" panose="020B0802040204020203" pitchFamily="34" charset="0"/>
                <a:cs typeface="Segoe UI Bold" panose="020B0802040204020203" pitchFamily="34" charset="0"/>
              </a:rPr>
              <a:t>Changes</a:t>
            </a:r>
          </a:p>
        </p:txBody>
      </p:sp>
      <p:sp>
        <p:nvSpPr>
          <p:cNvPr id="6" name="ScenarioChainItemHeader2">
            <a:extLst>
              <a:ext uri="{FF2B5EF4-FFF2-40B4-BE49-F238E27FC236}">
                <a16:creationId xmlns:a16="http://schemas.microsoft.com/office/drawing/2014/main" id="{97733C47-9A1C-4151-95C2-DFCF50257265}"/>
              </a:ext>
            </a:extLst>
          </p:cNvPr>
          <p:cNvSpPr txBox="1"/>
          <p:nvPr/>
        </p:nvSpPr>
        <p:spPr>
          <a:xfrm>
            <a:off x="4558745" y="1245893"/>
            <a:ext cx="1306123" cy="482953"/>
          </a:xfrm>
          <a:prstGeom prst="rect">
            <a:avLst/>
          </a:prstGeom>
          <a:noFill/>
        </p:spPr>
        <p:txBody>
          <a:bodyPr wrap="square" rtlCol="0">
            <a:spAutoFit/>
          </a:bodyPr>
          <a:lstStyle/>
          <a:p>
            <a:pPr algn="ctr" defTabSz="829384">
              <a:defRPr/>
            </a:pPr>
            <a:r>
              <a:rPr lang="en-US" sz="1269" b="1">
                <a:solidFill>
                  <a:prstClr val="black"/>
                </a:solidFill>
                <a:latin typeface="Segoe UI Bold" panose="020B0802040204020203" pitchFamily="34" charset="0"/>
                <a:cs typeface="Segoe UI Bold" panose="020B0802040204020203" pitchFamily="34" charset="0"/>
              </a:rPr>
              <a:t>Business </a:t>
            </a:r>
            <a:endParaRPr lang="pl-PL" sz="1269" b="1">
              <a:solidFill>
                <a:prstClr val="black"/>
              </a:solidFill>
              <a:latin typeface="Segoe UI Bold" panose="020B0802040204020203" pitchFamily="34" charset="0"/>
              <a:cs typeface="Segoe UI Bold" panose="020B0802040204020203" pitchFamily="34" charset="0"/>
            </a:endParaRPr>
          </a:p>
          <a:p>
            <a:pPr algn="ctr" defTabSz="829384">
              <a:defRPr/>
            </a:pPr>
            <a:r>
              <a:rPr lang="en-US" sz="1269" b="1">
                <a:solidFill>
                  <a:prstClr val="black"/>
                </a:solidFill>
                <a:latin typeface="Segoe UI Bold" panose="020B0802040204020203" pitchFamily="34" charset="0"/>
                <a:cs typeface="Segoe UI Bold" panose="020B0802040204020203" pitchFamily="34" charset="0"/>
              </a:rPr>
              <a:t>Changes</a:t>
            </a:r>
          </a:p>
        </p:txBody>
      </p:sp>
      <p:sp>
        <p:nvSpPr>
          <p:cNvPr id="7" name="ScenarioChainItemHeader3">
            <a:extLst>
              <a:ext uri="{FF2B5EF4-FFF2-40B4-BE49-F238E27FC236}">
                <a16:creationId xmlns:a16="http://schemas.microsoft.com/office/drawing/2014/main" id="{DDD7602A-FE3C-46BA-81C9-6E00F830CBD9}"/>
              </a:ext>
            </a:extLst>
          </p:cNvPr>
          <p:cNvSpPr txBox="1"/>
          <p:nvPr/>
        </p:nvSpPr>
        <p:spPr>
          <a:xfrm>
            <a:off x="6518146" y="1343600"/>
            <a:ext cx="1306123" cy="287643"/>
          </a:xfrm>
          <a:prstGeom prst="rect">
            <a:avLst/>
          </a:prstGeom>
          <a:noFill/>
        </p:spPr>
        <p:txBody>
          <a:bodyPr wrap="square" rtlCol="0">
            <a:spAutoFit/>
          </a:bodyPr>
          <a:lstStyle/>
          <a:p>
            <a:pPr algn="ctr" defTabSz="829384">
              <a:defRPr/>
            </a:pPr>
            <a:r>
              <a:rPr lang="en-US" sz="1269" b="1">
                <a:solidFill>
                  <a:prstClr val="black"/>
                </a:solidFill>
                <a:latin typeface="Segoe UI Bold" panose="020B0802040204020203" pitchFamily="34" charset="0"/>
                <a:cs typeface="Segoe UI Bold" panose="020B0802040204020203" pitchFamily="34" charset="0"/>
              </a:rPr>
              <a:t>Benefits</a:t>
            </a:r>
          </a:p>
        </p:txBody>
      </p:sp>
      <p:sp>
        <p:nvSpPr>
          <p:cNvPr id="8" name="ScenarioChainItemHeader4">
            <a:extLst>
              <a:ext uri="{FF2B5EF4-FFF2-40B4-BE49-F238E27FC236}">
                <a16:creationId xmlns:a16="http://schemas.microsoft.com/office/drawing/2014/main" id="{7CE27916-7DB4-4CD1-A038-0CD91E81073A}"/>
              </a:ext>
            </a:extLst>
          </p:cNvPr>
          <p:cNvSpPr txBox="1"/>
          <p:nvPr/>
        </p:nvSpPr>
        <p:spPr>
          <a:xfrm>
            <a:off x="8281607" y="1245893"/>
            <a:ext cx="1306123" cy="446808"/>
          </a:xfrm>
          <a:prstGeom prst="rect">
            <a:avLst/>
          </a:prstGeom>
          <a:noFill/>
        </p:spPr>
        <p:txBody>
          <a:bodyPr wrap="square" lIns="82951" tIns="41475" rIns="82951" bIns="41475" rtlCol="0" anchor="t">
            <a:spAutoFit/>
          </a:bodyPr>
          <a:lstStyle/>
          <a:p>
            <a:pPr algn="ctr" defTabSz="829384">
              <a:defRPr/>
            </a:pPr>
            <a:r>
              <a:rPr lang="en-US" sz="1270" b="1" dirty="0">
                <a:latin typeface="Segoe UI Bold"/>
                <a:cs typeface="Segoe UI Bold"/>
              </a:rPr>
              <a:t>Investment </a:t>
            </a:r>
            <a:endParaRPr lang="pl-PL" sz="1270" b="1">
              <a:latin typeface="Segoe UI Bold" panose="020B0802040204020203" pitchFamily="34" charset="0"/>
              <a:cs typeface="Segoe UI Bold" panose="020B0802040204020203" pitchFamily="34" charset="0"/>
            </a:endParaRPr>
          </a:p>
          <a:p>
            <a:pPr algn="ctr" defTabSz="829384">
              <a:defRPr/>
            </a:pPr>
            <a:r>
              <a:rPr lang="en-US" sz="1089" b="1" dirty="0">
                <a:latin typeface="Segoe UI Bold"/>
                <a:cs typeface="Segoe UI Bold"/>
              </a:rPr>
              <a:t>Objectives</a:t>
            </a:r>
          </a:p>
        </p:txBody>
      </p:sp>
      <p:sp>
        <p:nvSpPr>
          <p:cNvPr id="9" name="ScenarioChainItemHeader4">
            <a:extLst>
              <a:ext uri="{FF2B5EF4-FFF2-40B4-BE49-F238E27FC236}">
                <a16:creationId xmlns:a16="http://schemas.microsoft.com/office/drawing/2014/main" id="{84F6E05E-D153-4DB5-B2DE-1969247C96D7}"/>
              </a:ext>
            </a:extLst>
          </p:cNvPr>
          <p:cNvSpPr txBox="1"/>
          <p:nvPr/>
        </p:nvSpPr>
        <p:spPr>
          <a:xfrm>
            <a:off x="10110381" y="1245893"/>
            <a:ext cx="1306123" cy="474636"/>
          </a:xfrm>
          <a:prstGeom prst="rect">
            <a:avLst/>
          </a:prstGeom>
          <a:noFill/>
        </p:spPr>
        <p:txBody>
          <a:bodyPr wrap="square" lIns="82951" tIns="41475" rIns="82951" bIns="41475" rtlCol="0" anchor="t">
            <a:spAutoFit/>
          </a:bodyPr>
          <a:lstStyle/>
          <a:p>
            <a:pPr algn="ctr" defTabSz="829384">
              <a:defRPr/>
            </a:pPr>
            <a:r>
              <a:rPr lang="pl-PL" sz="1270" b="1" dirty="0">
                <a:latin typeface="Segoe UI Bold"/>
                <a:cs typeface="Segoe UI Bold"/>
              </a:rPr>
              <a:t>Business </a:t>
            </a:r>
            <a:endParaRPr lang="pl-PL" sz="1270" b="1">
              <a:latin typeface="Segoe UI Bold" panose="020B0802040204020203" pitchFamily="34" charset="0"/>
              <a:cs typeface="Segoe UI Bold" panose="020B0802040204020203" pitchFamily="34" charset="0"/>
            </a:endParaRPr>
          </a:p>
          <a:p>
            <a:pPr algn="ctr" defTabSz="829384">
              <a:defRPr/>
            </a:pPr>
            <a:r>
              <a:rPr lang="pl-PL" sz="1270" b="1" dirty="0">
                <a:latin typeface="Segoe UI Bold"/>
                <a:cs typeface="Segoe UI Bold"/>
              </a:rPr>
              <a:t>Drivers</a:t>
            </a:r>
            <a:endParaRPr lang="en-US" sz="1270" b="1">
              <a:latin typeface="Segoe UI Bold"/>
              <a:cs typeface="Segoe UI Bold"/>
            </a:endParaRPr>
          </a:p>
        </p:txBody>
      </p:sp>
      <p:sp>
        <p:nvSpPr>
          <p:cNvPr id="10" name="Description">
            <a:extLst>
              <a:ext uri="{FF2B5EF4-FFF2-40B4-BE49-F238E27FC236}">
                <a16:creationId xmlns:a16="http://schemas.microsoft.com/office/drawing/2014/main" id="{1C71DC8E-E832-44F3-BE15-AFA8655E5E9F}"/>
              </a:ext>
            </a:extLst>
          </p:cNvPr>
          <p:cNvSpPr txBox="1"/>
          <p:nvPr/>
        </p:nvSpPr>
        <p:spPr>
          <a:xfrm>
            <a:off x="538849" y="1813588"/>
            <a:ext cx="1185130" cy="652996"/>
          </a:xfrm>
          <a:prstGeom prst="rect">
            <a:avLst/>
          </a:prstGeom>
          <a:solidFill>
            <a:schemeClr val="bg1">
              <a:lumMod val="85000"/>
            </a:schemeClr>
          </a:solidFill>
        </p:spPr>
        <p:txBody>
          <a:bodyPr wrap="square" lIns="248816" tIns="0" rIns="0" bIns="0" rtlCol="0" anchor="ctr">
            <a:noAutofit/>
          </a:bodyPr>
          <a:lstStyle/>
          <a:p>
            <a:pPr defTabSz="829384">
              <a:defRPr/>
            </a:pPr>
            <a:r>
              <a:rPr lang="en-US" sz="950" dirty="0">
                <a:solidFill>
                  <a:prstClr val="black"/>
                </a:solidFill>
                <a:latin typeface="Segoe UI"/>
                <a:cs typeface="Segoe UI"/>
              </a:rPr>
              <a:t> </a:t>
            </a:r>
          </a:p>
        </p:txBody>
      </p:sp>
      <p:sp>
        <p:nvSpPr>
          <p:cNvPr id="12" name="Description">
            <a:extLst>
              <a:ext uri="{FF2B5EF4-FFF2-40B4-BE49-F238E27FC236}">
                <a16:creationId xmlns:a16="http://schemas.microsoft.com/office/drawing/2014/main" id="{A3A3CC51-09F4-412E-8F00-09DA76BAE0F0}"/>
              </a:ext>
            </a:extLst>
          </p:cNvPr>
          <p:cNvSpPr txBox="1"/>
          <p:nvPr/>
        </p:nvSpPr>
        <p:spPr>
          <a:xfrm>
            <a:off x="545397" y="3242516"/>
            <a:ext cx="1185130" cy="652996"/>
          </a:xfrm>
          <a:prstGeom prst="rect">
            <a:avLst/>
          </a:prstGeom>
          <a:solidFill>
            <a:schemeClr val="bg1">
              <a:lumMod val="85000"/>
            </a:schemeClr>
          </a:solidFill>
        </p:spPr>
        <p:txBody>
          <a:bodyPr wrap="square" lIns="248816" tIns="0" rIns="0" bIns="0" rtlCol="0" anchor="ctr">
            <a:normAutofit/>
          </a:bodyPr>
          <a:lstStyle/>
          <a:p>
            <a:pPr defTabSz="829384">
              <a:defRPr/>
            </a:pPr>
            <a:r>
              <a:rPr lang="en-US" sz="997" dirty="0">
                <a:solidFill>
                  <a:prstClr val="black"/>
                </a:solidFill>
                <a:latin typeface="Segoe UI"/>
                <a:cs typeface="Segoe UI" panose="020B0502040204020203" pitchFamily="34" charset="0"/>
              </a:rPr>
              <a:t>Data , ML, AI, API’s</a:t>
            </a:r>
          </a:p>
        </p:txBody>
      </p:sp>
      <p:sp>
        <p:nvSpPr>
          <p:cNvPr id="14" name="Description">
            <a:extLst>
              <a:ext uri="{FF2B5EF4-FFF2-40B4-BE49-F238E27FC236}">
                <a16:creationId xmlns:a16="http://schemas.microsoft.com/office/drawing/2014/main" id="{2BF38036-8280-49B2-8DB4-EE101307EA91}"/>
              </a:ext>
            </a:extLst>
          </p:cNvPr>
          <p:cNvSpPr txBox="1"/>
          <p:nvPr/>
        </p:nvSpPr>
        <p:spPr>
          <a:xfrm>
            <a:off x="538849" y="2533721"/>
            <a:ext cx="1185130" cy="652996"/>
          </a:xfrm>
          <a:prstGeom prst="rect">
            <a:avLst/>
          </a:prstGeom>
          <a:solidFill>
            <a:schemeClr val="bg1">
              <a:lumMod val="85000"/>
            </a:schemeClr>
          </a:solidFill>
        </p:spPr>
        <p:txBody>
          <a:bodyPr wrap="square" lIns="248816" tIns="0" rIns="0" bIns="0" rtlCol="0" anchor="ctr">
            <a:normAutofit fontScale="92500"/>
          </a:bodyPr>
          <a:lstStyle/>
          <a:p>
            <a:pPr defTabSz="829384">
              <a:defRPr/>
            </a:pPr>
            <a:r>
              <a:rPr lang="en-US" sz="997" dirty="0">
                <a:solidFill>
                  <a:prstClr val="black"/>
                </a:solidFill>
                <a:latin typeface="Segoe UI"/>
                <a:cs typeface="Segoe UI" panose="020B0502040204020203" pitchFamily="34" charset="0"/>
              </a:rPr>
              <a:t>data architecture modelling and reporting service</a:t>
            </a:r>
          </a:p>
        </p:txBody>
      </p:sp>
      <p:sp>
        <p:nvSpPr>
          <p:cNvPr id="15" name="Description">
            <a:extLst>
              <a:ext uri="{FF2B5EF4-FFF2-40B4-BE49-F238E27FC236}">
                <a16:creationId xmlns:a16="http://schemas.microsoft.com/office/drawing/2014/main" id="{04245203-6B22-4E57-9552-142A821301A3}"/>
              </a:ext>
            </a:extLst>
          </p:cNvPr>
          <p:cNvSpPr txBox="1"/>
          <p:nvPr/>
        </p:nvSpPr>
        <p:spPr>
          <a:xfrm>
            <a:off x="538849" y="4643437"/>
            <a:ext cx="1185130" cy="652996"/>
          </a:xfrm>
          <a:prstGeom prst="rect">
            <a:avLst/>
          </a:prstGeom>
          <a:solidFill>
            <a:schemeClr val="bg1">
              <a:lumMod val="85000"/>
            </a:schemeClr>
          </a:solidFill>
        </p:spPr>
        <p:txBody>
          <a:bodyPr wrap="square" lIns="248816" tIns="0" rIns="0" bIns="0" rtlCol="0" anchor="ctr">
            <a:normAutofit/>
          </a:bodyPr>
          <a:lstStyle/>
          <a:p>
            <a:pPr defTabSz="829384">
              <a:defRPr/>
            </a:pPr>
            <a:endParaRPr lang="en-US" sz="950" dirty="0">
              <a:solidFill>
                <a:prstClr val="black"/>
              </a:solidFill>
              <a:latin typeface="Segoe UI"/>
              <a:cs typeface="Segoe UI" panose="020B0502040204020203" pitchFamily="34" charset="0"/>
            </a:endParaRPr>
          </a:p>
        </p:txBody>
      </p:sp>
      <p:sp>
        <p:nvSpPr>
          <p:cNvPr id="16" name="Description">
            <a:extLst>
              <a:ext uri="{FF2B5EF4-FFF2-40B4-BE49-F238E27FC236}">
                <a16:creationId xmlns:a16="http://schemas.microsoft.com/office/drawing/2014/main" id="{124C5925-C92F-495F-971E-7FC2DEB33E76}"/>
              </a:ext>
            </a:extLst>
          </p:cNvPr>
          <p:cNvSpPr txBox="1"/>
          <p:nvPr/>
        </p:nvSpPr>
        <p:spPr>
          <a:xfrm>
            <a:off x="2077723" y="4713714"/>
            <a:ext cx="164332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17" name="BulletBoxRight">
            <a:extLst>
              <a:ext uri="{FF2B5EF4-FFF2-40B4-BE49-F238E27FC236}">
                <a16:creationId xmlns:a16="http://schemas.microsoft.com/office/drawing/2014/main" id="{A659C6C2-7874-4F8E-B01F-3BA3AB91BBEB}"/>
              </a:ext>
            </a:extLst>
          </p:cNvPr>
          <p:cNvSpPr txBox="1"/>
          <p:nvPr/>
        </p:nvSpPr>
        <p:spPr>
          <a:xfrm>
            <a:off x="3714499" y="1810487"/>
            <a:ext cx="204666"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8" name="BulletBoxLeft">
            <a:extLst>
              <a:ext uri="{FF2B5EF4-FFF2-40B4-BE49-F238E27FC236}">
                <a16:creationId xmlns:a16="http://schemas.microsoft.com/office/drawing/2014/main" id="{89A0EE0C-B47E-4A8C-8FE8-D60DF382325E}"/>
              </a:ext>
            </a:extLst>
          </p:cNvPr>
          <p:cNvSpPr txBox="1"/>
          <p:nvPr/>
        </p:nvSpPr>
        <p:spPr>
          <a:xfrm>
            <a:off x="2076694" y="1810487"/>
            <a:ext cx="213161"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9" name="Description">
            <a:extLst>
              <a:ext uri="{FF2B5EF4-FFF2-40B4-BE49-F238E27FC236}">
                <a16:creationId xmlns:a16="http://schemas.microsoft.com/office/drawing/2014/main" id="{E86280D0-12D6-4CF2-8AD9-D7A030C541BD}"/>
              </a:ext>
            </a:extLst>
          </p:cNvPr>
          <p:cNvSpPr txBox="1"/>
          <p:nvPr/>
        </p:nvSpPr>
        <p:spPr>
          <a:xfrm>
            <a:off x="2076693" y="2533721"/>
            <a:ext cx="1644959"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97" dirty="0">
                <a:latin typeface="Segoe UI"/>
              </a:rPr>
              <a:t>Balance sheet / Capital </a:t>
            </a:r>
            <a:r>
              <a:rPr lang="en-US" sz="997" dirty="0" err="1">
                <a:latin typeface="Segoe UI"/>
              </a:rPr>
              <a:t>Mgmt</a:t>
            </a:r>
            <a:r>
              <a:rPr lang="en-US" sz="997" dirty="0">
                <a:latin typeface="Segoe UI"/>
              </a:rPr>
              <a:t> systems applying new treatments to RWA’s</a:t>
            </a:r>
          </a:p>
        </p:txBody>
      </p:sp>
      <p:sp>
        <p:nvSpPr>
          <p:cNvPr id="20" name="BulletBoxRight">
            <a:extLst>
              <a:ext uri="{FF2B5EF4-FFF2-40B4-BE49-F238E27FC236}">
                <a16:creationId xmlns:a16="http://schemas.microsoft.com/office/drawing/2014/main" id="{464A88C2-F852-43BD-8E51-766C3892AD0D}"/>
              </a:ext>
            </a:extLst>
          </p:cNvPr>
          <p:cNvSpPr txBox="1"/>
          <p:nvPr/>
        </p:nvSpPr>
        <p:spPr>
          <a:xfrm>
            <a:off x="3722485" y="2530097"/>
            <a:ext cx="204666"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22" name="Description">
            <a:extLst>
              <a:ext uri="{FF2B5EF4-FFF2-40B4-BE49-F238E27FC236}">
                <a16:creationId xmlns:a16="http://schemas.microsoft.com/office/drawing/2014/main" id="{0D69C7D4-039C-4173-8CDF-297F552FE421}"/>
              </a:ext>
            </a:extLst>
          </p:cNvPr>
          <p:cNvSpPr txBox="1"/>
          <p:nvPr/>
        </p:nvSpPr>
        <p:spPr>
          <a:xfrm>
            <a:off x="2076693" y="3242516"/>
            <a:ext cx="1630159"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23" name="BulletBoxRight">
            <a:extLst>
              <a:ext uri="{FF2B5EF4-FFF2-40B4-BE49-F238E27FC236}">
                <a16:creationId xmlns:a16="http://schemas.microsoft.com/office/drawing/2014/main" id="{246B3A4A-D8BA-4191-8167-84A41143D598}"/>
              </a:ext>
            </a:extLst>
          </p:cNvPr>
          <p:cNvSpPr txBox="1"/>
          <p:nvPr/>
        </p:nvSpPr>
        <p:spPr>
          <a:xfrm>
            <a:off x="3713990" y="3238210"/>
            <a:ext cx="204666"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24" name="BulletBoxLeft">
            <a:extLst>
              <a:ext uri="{FF2B5EF4-FFF2-40B4-BE49-F238E27FC236}">
                <a16:creationId xmlns:a16="http://schemas.microsoft.com/office/drawing/2014/main" id="{29F71759-1492-47F7-97F8-ED75E807D618}"/>
              </a:ext>
            </a:extLst>
          </p:cNvPr>
          <p:cNvSpPr txBox="1"/>
          <p:nvPr/>
        </p:nvSpPr>
        <p:spPr>
          <a:xfrm>
            <a:off x="2076694" y="3238210"/>
            <a:ext cx="213161"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28" name="Description">
            <a:extLst>
              <a:ext uri="{FF2B5EF4-FFF2-40B4-BE49-F238E27FC236}">
                <a16:creationId xmlns:a16="http://schemas.microsoft.com/office/drawing/2014/main" id="{1FFF2542-3B61-49AA-9D8F-C4A9BEA6A54C}"/>
              </a:ext>
            </a:extLst>
          </p:cNvPr>
          <p:cNvSpPr txBox="1"/>
          <p:nvPr/>
        </p:nvSpPr>
        <p:spPr>
          <a:xfrm>
            <a:off x="4157429" y="4647390"/>
            <a:ext cx="1746008"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29" name="BulletBoxRight">
            <a:extLst>
              <a:ext uri="{FF2B5EF4-FFF2-40B4-BE49-F238E27FC236}">
                <a16:creationId xmlns:a16="http://schemas.microsoft.com/office/drawing/2014/main" id="{41310BFE-FE99-40FA-928B-7BB576F72D52}"/>
              </a:ext>
            </a:extLst>
          </p:cNvPr>
          <p:cNvSpPr txBox="1"/>
          <p:nvPr/>
        </p:nvSpPr>
        <p:spPr>
          <a:xfrm>
            <a:off x="5921454" y="1810487"/>
            <a:ext cx="204666"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30" name="BulletBoxLeft">
            <a:extLst>
              <a:ext uri="{FF2B5EF4-FFF2-40B4-BE49-F238E27FC236}">
                <a16:creationId xmlns:a16="http://schemas.microsoft.com/office/drawing/2014/main" id="{DF3923CF-CEEA-48A5-83CC-4763FCF26874}"/>
              </a:ext>
            </a:extLst>
          </p:cNvPr>
          <p:cNvSpPr txBox="1"/>
          <p:nvPr/>
        </p:nvSpPr>
        <p:spPr>
          <a:xfrm>
            <a:off x="4171077" y="1810487"/>
            <a:ext cx="213161"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31" name="Description">
            <a:extLst>
              <a:ext uri="{FF2B5EF4-FFF2-40B4-BE49-F238E27FC236}">
                <a16:creationId xmlns:a16="http://schemas.microsoft.com/office/drawing/2014/main" id="{29B4A489-B443-48EF-846F-980FEA4A7490}"/>
              </a:ext>
            </a:extLst>
          </p:cNvPr>
          <p:cNvSpPr txBox="1"/>
          <p:nvPr/>
        </p:nvSpPr>
        <p:spPr>
          <a:xfrm>
            <a:off x="4164411" y="3925883"/>
            <a:ext cx="1746008"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97" dirty="0">
              <a:latin typeface="Segoe UI"/>
            </a:endParaRPr>
          </a:p>
        </p:txBody>
      </p:sp>
      <p:sp>
        <p:nvSpPr>
          <p:cNvPr id="32" name="BulletBoxRight">
            <a:extLst>
              <a:ext uri="{FF2B5EF4-FFF2-40B4-BE49-F238E27FC236}">
                <a16:creationId xmlns:a16="http://schemas.microsoft.com/office/drawing/2014/main" id="{F9664CAF-E179-49FA-BC29-08AFC1886021}"/>
              </a:ext>
            </a:extLst>
          </p:cNvPr>
          <p:cNvSpPr txBox="1"/>
          <p:nvPr/>
        </p:nvSpPr>
        <p:spPr>
          <a:xfrm>
            <a:off x="5921454" y="2536459"/>
            <a:ext cx="204666"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33" name="BulletBoxLeft">
            <a:extLst>
              <a:ext uri="{FF2B5EF4-FFF2-40B4-BE49-F238E27FC236}">
                <a16:creationId xmlns:a16="http://schemas.microsoft.com/office/drawing/2014/main" id="{0EEB31C9-3AF0-4FFB-ACA7-5429AFC956A0}"/>
              </a:ext>
            </a:extLst>
          </p:cNvPr>
          <p:cNvSpPr txBox="1"/>
          <p:nvPr/>
        </p:nvSpPr>
        <p:spPr>
          <a:xfrm>
            <a:off x="4171077" y="2536459"/>
            <a:ext cx="213161"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35" name="BulletBoxRight">
            <a:extLst>
              <a:ext uri="{FF2B5EF4-FFF2-40B4-BE49-F238E27FC236}">
                <a16:creationId xmlns:a16="http://schemas.microsoft.com/office/drawing/2014/main" id="{25E36868-FA79-4E7A-A5E3-1B1078645233}"/>
              </a:ext>
            </a:extLst>
          </p:cNvPr>
          <p:cNvSpPr txBox="1"/>
          <p:nvPr/>
        </p:nvSpPr>
        <p:spPr>
          <a:xfrm>
            <a:off x="5921454" y="3238210"/>
            <a:ext cx="204666"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36" name="BulletBoxLeft">
            <a:extLst>
              <a:ext uri="{FF2B5EF4-FFF2-40B4-BE49-F238E27FC236}">
                <a16:creationId xmlns:a16="http://schemas.microsoft.com/office/drawing/2014/main" id="{76657788-0450-4617-945F-3D4529B19B88}"/>
              </a:ext>
            </a:extLst>
          </p:cNvPr>
          <p:cNvSpPr txBox="1"/>
          <p:nvPr/>
        </p:nvSpPr>
        <p:spPr>
          <a:xfrm>
            <a:off x="4166722" y="3238210"/>
            <a:ext cx="213161"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37" name="Description">
            <a:extLst>
              <a:ext uri="{FF2B5EF4-FFF2-40B4-BE49-F238E27FC236}">
                <a16:creationId xmlns:a16="http://schemas.microsoft.com/office/drawing/2014/main" id="{1D5B8A69-3476-44EA-AE82-B80A0B6BEDB5}"/>
              </a:ext>
            </a:extLst>
          </p:cNvPr>
          <p:cNvSpPr txBox="1"/>
          <p:nvPr/>
        </p:nvSpPr>
        <p:spPr>
          <a:xfrm>
            <a:off x="6376896" y="1813588"/>
            <a:ext cx="1414680"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GB" sz="907" dirty="0">
                <a:latin typeface="Segoe UI"/>
              </a:rPr>
              <a:t>Reduced physical and transition Risk via early analysis permitting ability to plan change</a:t>
            </a:r>
            <a:endParaRPr lang="en-US" sz="907" dirty="0">
              <a:latin typeface="Segoe UI"/>
            </a:endParaRPr>
          </a:p>
        </p:txBody>
      </p:sp>
      <p:sp>
        <p:nvSpPr>
          <p:cNvPr id="38" name="BulletBoxRight">
            <a:extLst>
              <a:ext uri="{FF2B5EF4-FFF2-40B4-BE49-F238E27FC236}">
                <a16:creationId xmlns:a16="http://schemas.microsoft.com/office/drawing/2014/main" id="{52444C67-397F-42E1-8BB9-0C41A1989D3B}"/>
              </a:ext>
            </a:extLst>
          </p:cNvPr>
          <p:cNvSpPr txBox="1"/>
          <p:nvPr/>
        </p:nvSpPr>
        <p:spPr>
          <a:xfrm>
            <a:off x="7763552" y="1810487"/>
            <a:ext cx="204666"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39" name="BulletBoxLeft">
            <a:extLst>
              <a:ext uri="{FF2B5EF4-FFF2-40B4-BE49-F238E27FC236}">
                <a16:creationId xmlns:a16="http://schemas.microsoft.com/office/drawing/2014/main" id="{49C6C010-14F0-4EF5-8C1D-A4FA01794755}"/>
              </a:ext>
            </a:extLst>
          </p:cNvPr>
          <p:cNvSpPr txBox="1"/>
          <p:nvPr/>
        </p:nvSpPr>
        <p:spPr>
          <a:xfrm>
            <a:off x="6363801" y="1810487"/>
            <a:ext cx="213161"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40" name="Description">
            <a:extLst>
              <a:ext uri="{FF2B5EF4-FFF2-40B4-BE49-F238E27FC236}">
                <a16:creationId xmlns:a16="http://schemas.microsoft.com/office/drawing/2014/main" id="{EFDF5757-2335-45FA-9FB2-E16053668B3A}"/>
              </a:ext>
            </a:extLst>
          </p:cNvPr>
          <p:cNvSpPr txBox="1"/>
          <p:nvPr/>
        </p:nvSpPr>
        <p:spPr>
          <a:xfrm>
            <a:off x="6376896" y="2533721"/>
            <a:ext cx="1414680"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97" dirty="0">
                <a:latin typeface="Segoe UI"/>
              </a:rPr>
              <a:t>Reduced Credit Risk </a:t>
            </a:r>
          </a:p>
          <a:p>
            <a:pPr defTabSz="829384"/>
            <a:r>
              <a:rPr lang="en-US" sz="997" dirty="0">
                <a:latin typeface="Segoe UI"/>
              </a:rPr>
              <a:t>as dynamic forward looking data feeds credit risk models</a:t>
            </a:r>
          </a:p>
        </p:txBody>
      </p:sp>
      <p:sp>
        <p:nvSpPr>
          <p:cNvPr id="41" name="BulletBoxRight">
            <a:extLst>
              <a:ext uri="{FF2B5EF4-FFF2-40B4-BE49-F238E27FC236}">
                <a16:creationId xmlns:a16="http://schemas.microsoft.com/office/drawing/2014/main" id="{59606BBB-57E1-475B-AB9F-05A5A7485ABF}"/>
              </a:ext>
            </a:extLst>
          </p:cNvPr>
          <p:cNvSpPr txBox="1"/>
          <p:nvPr/>
        </p:nvSpPr>
        <p:spPr>
          <a:xfrm>
            <a:off x="7763552" y="2536459"/>
            <a:ext cx="204666"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42" name="BulletBoxLeft">
            <a:extLst>
              <a:ext uri="{FF2B5EF4-FFF2-40B4-BE49-F238E27FC236}">
                <a16:creationId xmlns:a16="http://schemas.microsoft.com/office/drawing/2014/main" id="{43BA2943-975F-4C81-BE11-84216B29AC3E}"/>
              </a:ext>
            </a:extLst>
          </p:cNvPr>
          <p:cNvSpPr txBox="1"/>
          <p:nvPr/>
        </p:nvSpPr>
        <p:spPr>
          <a:xfrm>
            <a:off x="6363801" y="2536459"/>
            <a:ext cx="213161"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43" name="Description">
            <a:extLst>
              <a:ext uri="{FF2B5EF4-FFF2-40B4-BE49-F238E27FC236}">
                <a16:creationId xmlns:a16="http://schemas.microsoft.com/office/drawing/2014/main" id="{94B7D225-7D1C-4598-B7C4-9CE970F6A28F}"/>
              </a:ext>
            </a:extLst>
          </p:cNvPr>
          <p:cNvSpPr txBox="1"/>
          <p:nvPr/>
        </p:nvSpPr>
        <p:spPr>
          <a:xfrm>
            <a:off x="6376896" y="4643437"/>
            <a:ext cx="1414680"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44" name="BulletBoxRight">
            <a:extLst>
              <a:ext uri="{FF2B5EF4-FFF2-40B4-BE49-F238E27FC236}">
                <a16:creationId xmlns:a16="http://schemas.microsoft.com/office/drawing/2014/main" id="{B0BDDDC1-A50D-49E0-B33E-0BC30FDB7100}"/>
              </a:ext>
            </a:extLst>
          </p:cNvPr>
          <p:cNvSpPr txBox="1"/>
          <p:nvPr/>
        </p:nvSpPr>
        <p:spPr>
          <a:xfrm>
            <a:off x="7799311" y="4628300"/>
            <a:ext cx="204666"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45" name="BulletBoxLeft">
            <a:extLst>
              <a:ext uri="{FF2B5EF4-FFF2-40B4-BE49-F238E27FC236}">
                <a16:creationId xmlns:a16="http://schemas.microsoft.com/office/drawing/2014/main" id="{B001B58A-9DCF-472B-8FF4-4FAA47B47C99}"/>
              </a:ext>
            </a:extLst>
          </p:cNvPr>
          <p:cNvSpPr txBox="1"/>
          <p:nvPr/>
        </p:nvSpPr>
        <p:spPr>
          <a:xfrm>
            <a:off x="6363801" y="4646350"/>
            <a:ext cx="213161"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46" name="Description">
            <a:extLst>
              <a:ext uri="{FF2B5EF4-FFF2-40B4-BE49-F238E27FC236}">
                <a16:creationId xmlns:a16="http://schemas.microsoft.com/office/drawing/2014/main" id="{C1081784-DD98-4BCF-847F-84F294F0702F}"/>
              </a:ext>
            </a:extLst>
          </p:cNvPr>
          <p:cNvSpPr txBox="1"/>
          <p:nvPr/>
        </p:nvSpPr>
        <p:spPr>
          <a:xfrm>
            <a:off x="8163808" y="1813588"/>
            <a:ext cx="1386901"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97" dirty="0">
                <a:latin typeface="Segoe UI"/>
              </a:rPr>
              <a:t>Reduced Risk: to reputation and avoid stranded assets</a:t>
            </a:r>
          </a:p>
        </p:txBody>
      </p:sp>
      <p:sp>
        <p:nvSpPr>
          <p:cNvPr id="47" name="BulletBoxRight">
            <a:extLst>
              <a:ext uri="{FF2B5EF4-FFF2-40B4-BE49-F238E27FC236}">
                <a16:creationId xmlns:a16="http://schemas.microsoft.com/office/drawing/2014/main" id="{955C6631-CFE1-4D42-9656-760AC9F6507C}"/>
              </a:ext>
            </a:extLst>
          </p:cNvPr>
          <p:cNvSpPr txBox="1"/>
          <p:nvPr/>
        </p:nvSpPr>
        <p:spPr>
          <a:xfrm>
            <a:off x="9573545" y="1810487"/>
            <a:ext cx="20791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48" name="BulletBoxLeft">
            <a:extLst>
              <a:ext uri="{FF2B5EF4-FFF2-40B4-BE49-F238E27FC236}">
                <a16:creationId xmlns:a16="http://schemas.microsoft.com/office/drawing/2014/main" id="{06B1295A-06FA-47BA-B9E7-DEA8953BF60F}"/>
              </a:ext>
            </a:extLst>
          </p:cNvPr>
          <p:cNvSpPr txBox="1"/>
          <p:nvPr/>
        </p:nvSpPr>
        <p:spPr>
          <a:xfrm>
            <a:off x="8145201" y="1810487"/>
            <a:ext cx="21654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49" name="Description">
            <a:extLst>
              <a:ext uri="{FF2B5EF4-FFF2-40B4-BE49-F238E27FC236}">
                <a16:creationId xmlns:a16="http://schemas.microsoft.com/office/drawing/2014/main" id="{4D5CD119-A4AA-42B7-844A-A00DD78AF232}"/>
              </a:ext>
            </a:extLst>
          </p:cNvPr>
          <p:cNvSpPr txBox="1"/>
          <p:nvPr/>
        </p:nvSpPr>
        <p:spPr>
          <a:xfrm>
            <a:off x="8163807" y="2533721"/>
            <a:ext cx="143673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ea typeface="Calibri"/>
            </a:endParaRPr>
          </a:p>
        </p:txBody>
      </p:sp>
      <p:sp>
        <p:nvSpPr>
          <p:cNvPr id="50" name="BulletBoxRight">
            <a:extLst>
              <a:ext uri="{FF2B5EF4-FFF2-40B4-BE49-F238E27FC236}">
                <a16:creationId xmlns:a16="http://schemas.microsoft.com/office/drawing/2014/main" id="{5AC5E2F3-856C-4BE4-8B6D-408B0B37EDFD}"/>
              </a:ext>
            </a:extLst>
          </p:cNvPr>
          <p:cNvSpPr txBox="1"/>
          <p:nvPr/>
        </p:nvSpPr>
        <p:spPr>
          <a:xfrm>
            <a:off x="9573545" y="2536459"/>
            <a:ext cx="20791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51" name="BulletBoxLeft">
            <a:extLst>
              <a:ext uri="{FF2B5EF4-FFF2-40B4-BE49-F238E27FC236}">
                <a16:creationId xmlns:a16="http://schemas.microsoft.com/office/drawing/2014/main" id="{CD5779CA-0CBA-4701-B170-88C17D57BB83}"/>
              </a:ext>
            </a:extLst>
          </p:cNvPr>
          <p:cNvSpPr txBox="1"/>
          <p:nvPr/>
        </p:nvSpPr>
        <p:spPr>
          <a:xfrm>
            <a:off x="8145201" y="2536459"/>
            <a:ext cx="21654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52" name="Description">
            <a:extLst>
              <a:ext uri="{FF2B5EF4-FFF2-40B4-BE49-F238E27FC236}">
                <a16:creationId xmlns:a16="http://schemas.microsoft.com/office/drawing/2014/main" id="{0F907EF6-F36D-4DA9-8DC0-3100FB0BD515}"/>
              </a:ext>
            </a:extLst>
          </p:cNvPr>
          <p:cNvSpPr txBox="1"/>
          <p:nvPr/>
        </p:nvSpPr>
        <p:spPr>
          <a:xfrm>
            <a:off x="8163807" y="3242516"/>
            <a:ext cx="143673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53" name="BulletBoxRight">
            <a:extLst>
              <a:ext uri="{FF2B5EF4-FFF2-40B4-BE49-F238E27FC236}">
                <a16:creationId xmlns:a16="http://schemas.microsoft.com/office/drawing/2014/main" id="{1DDAD72D-8536-41F8-A449-F43EDD022D9F}"/>
              </a:ext>
            </a:extLst>
          </p:cNvPr>
          <p:cNvSpPr txBox="1"/>
          <p:nvPr/>
        </p:nvSpPr>
        <p:spPr>
          <a:xfrm>
            <a:off x="9573545" y="3238210"/>
            <a:ext cx="20791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54" name="BulletBoxLeft">
            <a:extLst>
              <a:ext uri="{FF2B5EF4-FFF2-40B4-BE49-F238E27FC236}">
                <a16:creationId xmlns:a16="http://schemas.microsoft.com/office/drawing/2014/main" id="{7C9DEF8C-2C54-4FB9-B9DE-82A0D93F6486}"/>
              </a:ext>
            </a:extLst>
          </p:cNvPr>
          <p:cNvSpPr txBox="1"/>
          <p:nvPr/>
        </p:nvSpPr>
        <p:spPr>
          <a:xfrm>
            <a:off x="8145201" y="3238210"/>
            <a:ext cx="21654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55" name="Description">
            <a:extLst>
              <a:ext uri="{FF2B5EF4-FFF2-40B4-BE49-F238E27FC236}">
                <a16:creationId xmlns:a16="http://schemas.microsoft.com/office/drawing/2014/main" id="{D5BC90D6-849E-483E-837F-0A46DE05BD25}"/>
              </a:ext>
            </a:extLst>
          </p:cNvPr>
          <p:cNvSpPr txBox="1"/>
          <p:nvPr/>
        </p:nvSpPr>
        <p:spPr>
          <a:xfrm>
            <a:off x="9944233" y="1813588"/>
            <a:ext cx="153469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50">
                <a:latin typeface="Segoe UI"/>
                <a:cs typeface="Segoe UI"/>
              </a:rPr>
              <a:t>Reduce risks asso                                            ciated </a:t>
            </a:r>
            <a:r>
              <a:rPr lang="en-US" sz="950" dirty="0">
                <a:latin typeface="Segoe UI"/>
                <a:cs typeface="Segoe UI"/>
              </a:rPr>
              <a:t>with Biodiversity loss through better understanding of Risk</a:t>
            </a:r>
          </a:p>
        </p:txBody>
      </p:sp>
      <p:sp>
        <p:nvSpPr>
          <p:cNvPr id="56" name="BulletBoxRight">
            <a:extLst>
              <a:ext uri="{FF2B5EF4-FFF2-40B4-BE49-F238E27FC236}">
                <a16:creationId xmlns:a16="http://schemas.microsoft.com/office/drawing/2014/main" id="{93DAF0EC-DFB1-4EC7-8AE5-61E82BE15557}"/>
              </a:ext>
            </a:extLst>
          </p:cNvPr>
          <p:cNvSpPr txBox="1"/>
          <p:nvPr/>
        </p:nvSpPr>
        <p:spPr>
          <a:xfrm>
            <a:off x="11467892" y="1810487"/>
            <a:ext cx="204666"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57" name="BulletBoxLeft">
            <a:extLst>
              <a:ext uri="{FF2B5EF4-FFF2-40B4-BE49-F238E27FC236}">
                <a16:creationId xmlns:a16="http://schemas.microsoft.com/office/drawing/2014/main" id="{05D8B00D-6889-4A30-AF3E-1768AC9D8248}"/>
              </a:ext>
            </a:extLst>
          </p:cNvPr>
          <p:cNvSpPr txBox="1"/>
          <p:nvPr/>
        </p:nvSpPr>
        <p:spPr>
          <a:xfrm>
            <a:off x="9944236" y="1810487"/>
            <a:ext cx="213161"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58" name="Description">
            <a:extLst>
              <a:ext uri="{FF2B5EF4-FFF2-40B4-BE49-F238E27FC236}">
                <a16:creationId xmlns:a16="http://schemas.microsoft.com/office/drawing/2014/main" id="{A7DC9B9D-EEF6-47B1-A088-A5E56898558A}"/>
              </a:ext>
            </a:extLst>
          </p:cNvPr>
          <p:cNvSpPr txBox="1"/>
          <p:nvPr/>
        </p:nvSpPr>
        <p:spPr>
          <a:xfrm>
            <a:off x="9934529" y="5386518"/>
            <a:ext cx="153469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53" dirty="0">
                <a:latin typeface="Segoe UI"/>
              </a:rPr>
              <a:t>Support strong Cloud based technology and services, digital transformation </a:t>
            </a:r>
          </a:p>
        </p:txBody>
      </p:sp>
      <p:sp>
        <p:nvSpPr>
          <p:cNvPr id="59" name="BulletBoxRight">
            <a:extLst>
              <a:ext uri="{FF2B5EF4-FFF2-40B4-BE49-F238E27FC236}">
                <a16:creationId xmlns:a16="http://schemas.microsoft.com/office/drawing/2014/main" id="{EF82E270-17D0-400E-B73F-CAFC2E021795}"/>
              </a:ext>
            </a:extLst>
          </p:cNvPr>
          <p:cNvSpPr txBox="1"/>
          <p:nvPr/>
        </p:nvSpPr>
        <p:spPr>
          <a:xfrm>
            <a:off x="11467892" y="3934525"/>
            <a:ext cx="204666"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60" name="BulletBoxLeft">
            <a:extLst>
              <a:ext uri="{FF2B5EF4-FFF2-40B4-BE49-F238E27FC236}">
                <a16:creationId xmlns:a16="http://schemas.microsoft.com/office/drawing/2014/main" id="{35EF0B2A-DE02-4365-8C57-3934D4CE71CC}"/>
              </a:ext>
            </a:extLst>
          </p:cNvPr>
          <p:cNvSpPr txBox="1"/>
          <p:nvPr/>
        </p:nvSpPr>
        <p:spPr>
          <a:xfrm>
            <a:off x="9944236" y="3934525"/>
            <a:ext cx="213161"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62" name="BulletBoxRight">
            <a:extLst>
              <a:ext uri="{FF2B5EF4-FFF2-40B4-BE49-F238E27FC236}">
                <a16:creationId xmlns:a16="http://schemas.microsoft.com/office/drawing/2014/main" id="{22B14602-2B75-483A-BB6C-90AEE0707850}"/>
              </a:ext>
            </a:extLst>
          </p:cNvPr>
          <p:cNvSpPr txBox="1"/>
          <p:nvPr/>
        </p:nvSpPr>
        <p:spPr>
          <a:xfrm>
            <a:off x="11467892" y="4646350"/>
            <a:ext cx="204666"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63" name="BulletBoxLeft">
            <a:extLst>
              <a:ext uri="{FF2B5EF4-FFF2-40B4-BE49-F238E27FC236}">
                <a16:creationId xmlns:a16="http://schemas.microsoft.com/office/drawing/2014/main" id="{15D2E941-C2C8-41FC-B3AE-A656C909B75B}"/>
              </a:ext>
            </a:extLst>
          </p:cNvPr>
          <p:cNvSpPr txBox="1"/>
          <p:nvPr/>
        </p:nvSpPr>
        <p:spPr>
          <a:xfrm>
            <a:off x="9944236" y="4646350"/>
            <a:ext cx="213161"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65" name="BulletBoxRight">
            <a:extLst>
              <a:ext uri="{FF2B5EF4-FFF2-40B4-BE49-F238E27FC236}">
                <a16:creationId xmlns:a16="http://schemas.microsoft.com/office/drawing/2014/main" id="{20E3149E-2C16-45FB-AFF5-C0B13FB2948A}"/>
              </a:ext>
            </a:extLst>
          </p:cNvPr>
          <p:cNvSpPr txBox="1"/>
          <p:nvPr/>
        </p:nvSpPr>
        <p:spPr>
          <a:xfrm>
            <a:off x="11467892" y="2536459"/>
            <a:ext cx="204666"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66" name="BulletBoxLeft">
            <a:extLst>
              <a:ext uri="{FF2B5EF4-FFF2-40B4-BE49-F238E27FC236}">
                <a16:creationId xmlns:a16="http://schemas.microsoft.com/office/drawing/2014/main" id="{52FBBCBD-B2D4-498A-BA49-1CE2F47E9627}"/>
              </a:ext>
            </a:extLst>
          </p:cNvPr>
          <p:cNvSpPr txBox="1"/>
          <p:nvPr/>
        </p:nvSpPr>
        <p:spPr>
          <a:xfrm>
            <a:off x="9944236" y="2536459"/>
            <a:ext cx="213161"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67" name="Description">
            <a:extLst>
              <a:ext uri="{FF2B5EF4-FFF2-40B4-BE49-F238E27FC236}">
                <a16:creationId xmlns:a16="http://schemas.microsoft.com/office/drawing/2014/main" id="{71FEC494-5729-45F4-860B-684CD327B3A7}"/>
              </a:ext>
            </a:extLst>
          </p:cNvPr>
          <p:cNvSpPr txBox="1"/>
          <p:nvPr/>
        </p:nvSpPr>
        <p:spPr>
          <a:xfrm>
            <a:off x="9944233" y="3242516"/>
            <a:ext cx="153469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53" dirty="0">
                <a:latin typeface="Segoe UI"/>
              </a:rPr>
              <a:t>Reduce operational, and funding overheads due to operational risk and mitigation  </a:t>
            </a:r>
          </a:p>
        </p:txBody>
      </p:sp>
      <p:sp>
        <p:nvSpPr>
          <p:cNvPr id="68" name="BulletBoxRight">
            <a:extLst>
              <a:ext uri="{FF2B5EF4-FFF2-40B4-BE49-F238E27FC236}">
                <a16:creationId xmlns:a16="http://schemas.microsoft.com/office/drawing/2014/main" id="{12B82F9D-19BE-430D-BD26-AFDA78166F14}"/>
              </a:ext>
            </a:extLst>
          </p:cNvPr>
          <p:cNvSpPr txBox="1"/>
          <p:nvPr/>
        </p:nvSpPr>
        <p:spPr>
          <a:xfrm>
            <a:off x="11467892" y="3238210"/>
            <a:ext cx="204666"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69" name="BulletBoxLeft">
            <a:extLst>
              <a:ext uri="{FF2B5EF4-FFF2-40B4-BE49-F238E27FC236}">
                <a16:creationId xmlns:a16="http://schemas.microsoft.com/office/drawing/2014/main" id="{439B48D4-15E4-4EA7-B634-06C491A48868}"/>
              </a:ext>
            </a:extLst>
          </p:cNvPr>
          <p:cNvSpPr txBox="1"/>
          <p:nvPr/>
        </p:nvSpPr>
        <p:spPr>
          <a:xfrm>
            <a:off x="9944236" y="3238210"/>
            <a:ext cx="213161"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70" name="Description">
            <a:extLst>
              <a:ext uri="{FF2B5EF4-FFF2-40B4-BE49-F238E27FC236}">
                <a16:creationId xmlns:a16="http://schemas.microsoft.com/office/drawing/2014/main" id="{93754DE0-9EDB-4740-9E9D-9F8963299005}"/>
              </a:ext>
            </a:extLst>
          </p:cNvPr>
          <p:cNvSpPr txBox="1"/>
          <p:nvPr/>
        </p:nvSpPr>
        <p:spPr>
          <a:xfrm>
            <a:off x="8163807" y="3938742"/>
            <a:ext cx="143673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00" dirty="0">
              <a:latin typeface="Segoe UI"/>
            </a:endParaRPr>
          </a:p>
        </p:txBody>
      </p:sp>
      <p:sp>
        <p:nvSpPr>
          <p:cNvPr id="71" name="BulletBoxRight">
            <a:extLst>
              <a:ext uri="{FF2B5EF4-FFF2-40B4-BE49-F238E27FC236}">
                <a16:creationId xmlns:a16="http://schemas.microsoft.com/office/drawing/2014/main" id="{50DD0964-1E3A-4A18-AE4E-9519CC8FCC70}"/>
              </a:ext>
            </a:extLst>
          </p:cNvPr>
          <p:cNvSpPr txBox="1"/>
          <p:nvPr/>
        </p:nvSpPr>
        <p:spPr>
          <a:xfrm>
            <a:off x="9573545" y="3934525"/>
            <a:ext cx="20791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72" name="BulletBoxLeft">
            <a:extLst>
              <a:ext uri="{FF2B5EF4-FFF2-40B4-BE49-F238E27FC236}">
                <a16:creationId xmlns:a16="http://schemas.microsoft.com/office/drawing/2014/main" id="{FE102B15-03AE-462B-BA68-60E4E1D28442}"/>
              </a:ext>
            </a:extLst>
          </p:cNvPr>
          <p:cNvSpPr txBox="1"/>
          <p:nvPr/>
        </p:nvSpPr>
        <p:spPr>
          <a:xfrm>
            <a:off x="8145201" y="3934525"/>
            <a:ext cx="21654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74" name="BulletBoxRight">
            <a:extLst>
              <a:ext uri="{FF2B5EF4-FFF2-40B4-BE49-F238E27FC236}">
                <a16:creationId xmlns:a16="http://schemas.microsoft.com/office/drawing/2014/main" id="{F747E85B-1F30-4583-A653-53A1691D8CB1}"/>
              </a:ext>
            </a:extLst>
          </p:cNvPr>
          <p:cNvSpPr txBox="1"/>
          <p:nvPr/>
        </p:nvSpPr>
        <p:spPr>
          <a:xfrm>
            <a:off x="5931509" y="3934525"/>
            <a:ext cx="204666"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75" name="BulletBoxLeft">
            <a:extLst>
              <a:ext uri="{FF2B5EF4-FFF2-40B4-BE49-F238E27FC236}">
                <a16:creationId xmlns:a16="http://schemas.microsoft.com/office/drawing/2014/main" id="{000DAA24-2256-44A4-B3A2-A19A556F1E02}"/>
              </a:ext>
            </a:extLst>
          </p:cNvPr>
          <p:cNvSpPr txBox="1"/>
          <p:nvPr/>
        </p:nvSpPr>
        <p:spPr>
          <a:xfrm>
            <a:off x="4176777" y="3934525"/>
            <a:ext cx="213161"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76" name="Description">
            <a:extLst>
              <a:ext uri="{FF2B5EF4-FFF2-40B4-BE49-F238E27FC236}">
                <a16:creationId xmlns:a16="http://schemas.microsoft.com/office/drawing/2014/main" id="{16B0FC62-D1F5-4613-9BEC-89726BA4E7E6}"/>
              </a:ext>
            </a:extLst>
          </p:cNvPr>
          <p:cNvSpPr txBox="1"/>
          <p:nvPr/>
        </p:nvSpPr>
        <p:spPr>
          <a:xfrm>
            <a:off x="6376896" y="3938742"/>
            <a:ext cx="1420752"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77" name="BulletBoxRight">
            <a:extLst>
              <a:ext uri="{FF2B5EF4-FFF2-40B4-BE49-F238E27FC236}">
                <a16:creationId xmlns:a16="http://schemas.microsoft.com/office/drawing/2014/main" id="{02052EB8-4A7C-4FAF-8F31-F9E90CDD1F57}"/>
              </a:ext>
            </a:extLst>
          </p:cNvPr>
          <p:cNvSpPr txBox="1"/>
          <p:nvPr/>
        </p:nvSpPr>
        <p:spPr>
          <a:xfrm>
            <a:off x="7799311" y="3934525"/>
            <a:ext cx="204666"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78" name="BulletBoxLeft">
            <a:extLst>
              <a:ext uri="{FF2B5EF4-FFF2-40B4-BE49-F238E27FC236}">
                <a16:creationId xmlns:a16="http://schemas.microsoft.com/office/drawing/2014/main" id="{8DDC6D7E-F551-49D1-9A65-A507F4B25275}"/>
              </a:ext>
            </a:extLst>
          </p:cNvPr>
          <p:cNvSpPr txBox="1"/>
          <p:nvPr/>
        </p:nvSpPr>
        <p:spPr>
          <a:xfrm>
            <a:off x="6363801" y="3934525"/>
            <a:ext cx="213161"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79" name="Description">
            <a:extLst>
              <a:ext uri="{FF2B5EF4-FFF2-40B4-BE49-F238E27FC236}">
                <a16:creationId xmlns:a16="http://schemas.microsoft.com/office/drawing/2014/main" id="{896905A1-C5E7-43D7-B595-BDE8FFB58DC7}"/>
              </a:ext>
            </a:extLst>
          </p:cNvPr>
          <p:cNvSpPr txBox="1"/>
          <p:nvPr/>
        </p:nvSpPr>
        <p:spPr>
          <a:xfrm>
            <a:off x="6376896" y="3242516"/>
            <a:ext cx="1410407"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00" dirty="0">
              <a:latin typeface="Segoe UI"/>
            </a:endParaRPr>
          </a:p>
        </p:txBody>
      </p:sp>
      <p:sp>
        <p:nvSpPr>
          <p:cNvPr id="80" name="BulletBoxLeft">
            <a:extLst>
              <a:ext uri="{FF2B5EF4-FFF2-40B4-BE49-F238E27FC236}">
                <a16:creationId xmlns:a16="http://schemas.microsoft.com/office/drawing/2014/main" id="{7D595072-78DB-4AEB-9D4D-51C437232E76}"/>
              </a:ext>
            </a:extLst>
          </p:cNvPr>
          <p:cNvSpPr txBox="1"/>
          <p:nvPr/>
        </p:nvSpPr>
        <p:spPr>
          <a:xfrm>
            <a:off x="6363801" y="3238210"/>
            <a:ext cx="213161"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81" name="Description">
            <a:extLst>
              <a:ext uri="{FF2B5EF4-FFF2-40B4-BE49-F238E27FC236}">
                <a16:creationId xmlns:a16="http://schemas.microsoft.com/office/drawing/2014/main" id="{8586523D-15B5-455C-8DBF-0DE9E2DF5293}"/>
              </a:ext>
            </a:extLst>
          </p:cNvPr>
          <p:cNvSpPr txBox="1"/>
          <p:nvPr/>
        </p:nvSpPr>
        <p:spPr>
          <a:xfrm>
            <a:off x="6376896" y="5375429"/>
            <a:ext cx="1414680"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82" name="BulletBoxLeft">
            <a:extLst>
              <a:ext uri="{FF2B5EF4-FFF2-40B4-BE49-F238E27FC236}">
                <a16:creationId xmlns:a16="http://schemas.microsoft.com/office/drawing/2014/main" id="{466671C1-14E7-4105-8391-930230CC4C43}"/>
              </a:ext>
            </a:extLst>
          </p:cNvPr>
          <p:cNvSpPr txBox="1"/>
          <p:nvPr/>
        </p:nvSpPr>
        <p:spPr>
          <a:xfrm>
            <a:off x="6363801" y="5388594"/>
            <a:ext cx="213161"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84" name="BulletBoxRight">
            <a:extLst>
              <a:ext uri="{FF2B5EF4-FFF2-40B4-BE49-F238E27FC236}">
                <a16:creationId xmlns:a16="http://schemas.microsoft.com/office/drawing/2014/main" id="{49068CE7-7257-4C93-8F68-4278C2DEC0C7}"/>
              </a:ext>
            </a:extLst>
          </p:cNvPr>
          <p:cNvSpPr txBox="1"/>
          <p:nvPr/>
        </p:nvSpPr>
        <p:spPr>
          <a:xfrm>
            <a:off x="11467892" y="5388594"/>
            <a:ext cx="204666"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85" name="BulletBoxLeft">
            <a:extLst>
              <a:ext uri="{FF2B5EF4-FFF2-40B4-BE49-F238E27FC236}">
                <a16:creationId xmlns:a16="http://schemas.microsoft.com/office/drawing/2014/main" id="{21F9410C-267F-4060-80E7-4DB237D20BA1}"/>
              </a:ext>
            </a:extLst>
          </p:cNvPr>
          <p:cNvSpPr txBox="1"/>
          <p:nvPr/>
        </p:nvSpPr>
        <p:spPr>
          <a:xfrm>
            <a:off x="9944236" y="5388594"/>
            <a:ext cx="213161"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cxnSp>
        <p:nvCxnSpPr>
          <p:cNvPr id="86" name="Link">
            <a:extLst>
              <a:ext uri="{FF2B5EF4-FFF2-40B4-BE49-F238E27FC236}">
                <a16:creationId xmlns:a16="http://schemas.microsoft.com/office/drawing/2014/main" id="{33F59A23-9C9D-483E-9824-2DBAB8CE8994}"/>
              </a:ext>
            </a:extLst>
          </p:cNvPr>
          <p:cNvCxnSpPr>
            <a:cxnSpLocks/>
          </p:cNvCxnSpPr>
          <p:nvPr/>
        </p:nvCxnSpPr>
        <p:spPr>
          <a:xfrm flipH="1">
            <a:off x="8193200" y="3409066"/>
            <a:ext cx="120545" cy="0"/>
          </a:xfrm>
          <a:prstGeom prst="line">
            <a:avLst/>
          </a:prstGeom>
          <a:ln/>
        </p:spPr>
        <p:style>
          <a:lnRef idx="1">
            <a:schemeClr val="dk1"/>
          </a:lnRef>
          <a:fillRef idx="0">
            <a:schemeClr val="dk1"/>
          </a:fillRef>
          <a:effectRef idx="0">
            <a:schemeClr val="dk1"/>
          </a:effectRef>
          <a:fontRef idx="minor">
            <a:schemeClr val="tx1"/>
          </a:fontRef>
        </p:style>
      </p:cxnSp>
      <p:sp>
        <p:nvSpPr>
          <p:cNvPr id="87" name="Description">
            <a:extLst>
              <a:ext uri="{FF2B5EF4-FFF2-40B4-BE49-F238E27FC236}">
                <a16:creationId xmlns:a16="http://schemas.microsoft.com/office/drawing/2014/main" id="{54433800-E307-405F-B18C-9DC5BEE1AEAF}"/>
              </a:ext>
            </a:extLst>
          </p:cNvPr>
          <p:cNvSpPr txBox="1"/>
          <p:nvPr/>
        </p:nvSpPr>
        <p:spPr>
          <a:xfrm>
            <a:off x="8163807" y="4643437"/>
            <a:ext cx="143673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88" name="BulletBoxRight">
            <a:extLst>
              <a:ext uri="{FF2B5EF4-FFF2-40B4-BE49-F238E27FC236}">
                <a16:creationId xmlns:a16="http://schemas.microsoft.com/office/drawing/2014/main" id="{A8A880B0-7E60-4E8D-A259-0D6BCABE5F77}"/>
              </a:ext>
            </a:extLst>
          </p:cNvPr>
          <p:cNvSpPr txBox="1"/>
          <p:nvPr/>
        </p:nvSpPr>
        <p:spPr>
          <a:xfrm>
            <a:off x="9573545" y="4646350"/>
            <a:ext cx="20791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89" name="BulletBoxLeft">
            <a:extLst>
              <a:ext uri="{FF2B5EF4-FFF2-40B4-BE49-F238E27FC236}">
                <a16:creationId xmlns:a16="http://schemas.microsoft.com/office/drawing/2014/main" id="{6439E7DB-1012-4F05-A223-4D12F9CE350F}"/>
              </a:ext>
            </a:extLst>
          </p:cNvPr>
          <p:cNvSpPr txBox="1"/>
          <p:nvPr/>
        </p:nvSpPr>
        <p:spPr>
          <a:xfrm>
            <a:off x="8145201" y="4646350"/>
            <a:ext cx="21654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90" name="BulletBoxRight">
            <a:extLst>
              <a:ext uri="{FF2B5EF4-FFF2-40B4-BE49-F238E27FC236}">
                <a16:creationId xmlns:a16="http://schemas.microsoft.com/office/drawing/2014/main" id="{C98B0862-1B0C-4852-AC36-C53FD344F44F}"/>
              </a:ext>
            </a:extLst>
          </p:cNvPr>
          <p:cNvSpPr txBox="1"/>
          <p:nvPr/>
        </p:nvSpPr>
        <p:spPr>
          <a:xfrm>
            <a:off x="7797648" y="3238211"/>
            <a:ext cx="204666"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91" name="Description">
            <a:extLst>
              <a:ext uri="{FF2B5EF4-FFF2-40B4-BE49-F238E27FC236}">
                <a16:creationId xmlns:a16="http://schemas.microsoft.com/office/drawing/2014/main" id="{AA38461B-0704-4F45-A668-8EBD81164A6C}"/>
              </a:ext>
            </a:extLst>
          </p:cNvPr>
          <p:cNvSpPr txBox="1"/>
          <p:nvPr/>
        </p:nvSpPr>
        <p:spPr>
          <a:xfrm>
            <a:off x="538849" y="3938742"/>
            <a:ext cx="1185130" cy="652996"/>
          </a:xfrm>
          <a:prstGeom prst="rect">
            <a:avLst/>
          </a:prstGeom>
          <a:solidFill>
            <a:schemeClr val="bg1">
              <a:lumMod val="85000"/>
            </a:schemeClr>
          </a:solidFill>
        </p:spPr>
        <p:txBody>
          <a:bodyPr wrap="square" lIns="248816" tIns="0" rIns="0" bIns="0" rtlCol="0" anchor="ctr">
            <a:normAutofit/>
          </a:bodyPr>
          <a:lstStyle/>
          <a:p>
            <a:pPr defTabSz="829384">
              <a:defRPr/>
            </a:pPr>
            <a:endParaRPr lang="en-US" sz="950" dirty="0">
              <a:solidFill>
                <a:prstClr val="black"/>
              </a:solidFill>
              <a:latin typeface="Segoe UI"/>
              <a:cs typeface="Segoe UI" panose="020B0502040204020203" pitchFamily="34" charset="0"/>
            </a:endParaRPr>
          </a:p>
        </p:txBody>
      </p:sp>
      <p:sp>
        <p:nvSpPr>
          <p:cNvPr id="92" name="Description">
            <a:extLst>
              <a:ext uri="{FF2B5EF4-FFF2-40B4-BE49-F238E27FC236}">
                <a16:creationId xmlns:a16="http://schemas.microsoft.com/office/drawing/2014/main" id="{964CA92A-3845-45D5-B533-FDD2608C5574}"/>
              </a:ext>
            </a:extLst>
          </p:cNvPr>
          <p:cNvSpPr txBox="1"/>
          <p:nvPr/>
        </p:nvSpPr>
        <p:spPr>
          <a:xfrm>
            <a:off x="4157429" y="5375430"/>
            <a:ext cx="1752125" cy="707649"/>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93" name="BulletBoxRight">
            <a:extLst>
              <a:ext uri="{FF2B5EF4-FFF2-40B4-BE49-F238E27FC236}">
                <a16:creationId xmlns:a16="http://schemas.microsoft.com/office/drawing/2014/main" id="{1BD56944-953B-4941-A0BE-3DF22CE6683B}"/>
              </a:ext>
            </a:extLst>
          </p:cNvPr>
          <p:cNvSpPr txBox="1"/>
          <p:nvPr/>
        </p:nvSpPr>
        <p:spPr>
          <a:xfrm>
            <a:off x="5922430" y="4646350"/>
            <a:ext cx="204666"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94" name="BulletBoxLeft">
            <a:extLst>
              <a:ext uri="{FF2B5EF4-FFF2-40B4-BE49-F238E27FC236}">
                <a16:creationId xmlns:a16="http://schemas.microsoft.com/office/drawing/2014/main" id="{EC94DE83-3E30-4A81-B4D8-E263872D0637}"/>
              </a:ext>
            </a:extLst>
          </p:cNvPr>
          <p:cNvSpPr txBox="1"/>
          <p:nvPr/>
        </p:nvSpPr>
        <p:spPr>
          <a:xfrm>
            <a:off x="4167697" y="4646350"/>
            <a:ext cx="213161"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95" name="Description">
            <a:extLst>
              <a:ext uri="{FF2B5EF4-FFF2-40B4-BE49-F238E27FC236}">
                <a16:creationId xmlns:a16="http://schemas.microsoft.com/office/drawing/2014/main" id="{4077F29E-9302-4FB6-8C8A-AB17833B5C34}"/>
              </a:ext>
            </a:extLst>
          </p:cNvPr>
          <p:cNvSpPr txBox="1"/>
          <p:nvPr/>
        </p:nvSpPr>
        <p:spPr>
          <a:xfrm>
            <a:off x="4188043" y="6126482"/>
            <a:ext cx="1752125"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96" name="BulletBoxRight">
            <a:extLst>
              <a:ext uri="{FF2B5EF4-FFF2-40B4-BE49-F238E27FC236}">
                <a16:creationId xmlns:a16="http://schemas.microsoft.com/office/drawing/2014/main" id="{31DD9F76-B2DA-45BE-9AE1-AC9651434504}"/>
              </a:ext>
            </a:extLst>
          </p:cNvPr>
          <p:cNvSpPr txBox="1"/>
          <p:nvPr/>
        </p:nvSpPr>
        <p:spPr>
          <a:xfrm>
            <a:off x="5921454" y="5371584"/>
            <a:ext cx="204666"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97" name="BulletBoxLeft">
            <a:extLst>
              <a:ext uri="{FF2B5EF4-FFF2-40B4-BE49-F238E27FC236}">
                <a16:creationId xmlns:a16="http://schemas.microsoft.com/office/drawing/2014/main" id="{ECCAA59A-452B-4364-BE4C-5A2958A807DA}"/>
              </a:ext>
            </a:extLst>
          </p:cNvPr>
          <p:cNvSpPr txBox="1"/>
          <p:nvPr/>
        </p:nvSpPr>
        <p:spPr>
          <a:xfrm>
            <a:off x="4156268" y="5371584"/>
            <a:ext cx="213161"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98" name="BulletBoxRight">
            <a:extLst>
              <a:ext uri="{FF2B5EF4-FFF2-40B4-BE49-F238E27FC236}">
                <a16:creationId xmlns:a16="http://schemas.microsoft.com/office/drawing/2014/main" id="{090AE8AA-6D84-42D6-AEB5-6B56E7DA4021}"/>
              </a:ext>
            </a:extLst>
          </p:cNvPr>
          <p:cNvSpPr txBox="1"/>
          <p:nvPr/>
        </p:nvSpPr>
        <p:spPr>
          <a:xfrm>
            <a:off x="7799798" y="5372595"/>
            <a:ext cx="204666"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cxnSp>
        <p:nvCxnSpPr>
          <p:cNvPr id="99" name="Straight Connector 98">
            <a:extLst>
              <a:ext uri="{FF2B5EF4-FFF2-40B4-BE49-F238E27FC236}">
                <a16:creationId xmlns:a16="http://schemas.microsoft.com/office/drawing/2014/main" id="{C2398FE6-DC9E-4456-AC26-14F2ABDDE685}"/>
              </a:ext>
            </a:extLst>
          </p:cNvPr>
          <p:cNvCxnSpPr>
            <a:cxnSpLocks/>
          </p:cNvCxnSpPr>
          <p:nvPr/>
        </p:nvCxnSpPr>
        <p:spPr>
          <a:xfrm flipH="1">
            <a:off x="9779245" y="2707315"/>
            <a:ext cx="160565" cy="0"/>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9D84E64-3FDF-4B97-B54C-6EE04F49913D}"/>
              </a:ext>
            </a:extLst>
          </p:cNvPr>
          <p:cNvCxnSpPr>
            <a:cxnSpLocks/>
            <a:stCxn id="51" idx="1"/>
            <a:endCxn id="90" idx="3"/>
          </p:cNvCxnSpPr>
          <p:nvPr/>
        </p:nvCxnSpPr>
        <p:spPr>
          <a:xfrm flipH="1">
            <a:off x="8002314" y="2708269"/>
            <a:ext cx="142887" cy="701752"/>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2AE61AD-21D0-460D-A705-9E8B4784B2A0}"/>
              </a:ext>
            </a:extLst>
          </p:cNvPr>
          <p:cNvCxnSpPr>
            <a:cxnSpLocks/>
            <a:stCxn id="80" idx="1"/>
            <a:endCxn id="74" idx="0"/>
          </p:cNvCxnSpPr>
          <p:nvPr/>
        </p:nvCxnSpPr>
        <p:spPr>
          <a:xfrm flipH="1">
            <a:off x="6033842" y="3410020"/>
            <a:ext cx="329959" cy="524505"/>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7BEE3E8-DE02-411B-9C8C-C085E300D828}"/>
              </a:ext>
            </a:extLst>
          </p:cNvPr>
          <p:cNvCxnSpPr>
            <a:cxnSpLocks/>
            <a:stCxn id="20" idx="2"/>
          </p:cNvCxnSpPr>
          <p:nvPr/>
        </p:nvCxnSpPr>
        <p:spPr>
          <a:xfrm>
            <a:off x="3824818" y="2873717"/>
            <a:ext cx="347240" cy="1273876"/>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36D6D220-D490-4A76-BCC5-2DAAFF23D853}"/>
              </a:ext>
            </a:extLst>
          </p:cNvPr>
          <p:cNvCxnSpPr>
            <a:cxnSpLocks/>
          </p:cNvCxnSpPr>
          <p:nvPr/>
        </p:nvCxnSpPr>
        <p:spPr>
          <a:xfrm flipH="1">
            <a:off x="1848150" y="2046270"/>
            <a:ext cx="228542" cy="0"/>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67CF144-5413-40ED-8390-F7555849B152}"/>
              </a:ext>
            </a:extLst>
          </p:cNvPr>
          <p:cNvCxnSpPr>
            <a:cxnSpLocks/>
          </p:cNvCxnSpPr>
          <p:nvPr/>
        </p:nvCxnSpPr>
        <p:spPr>
          <a:xfrm flipH="1">
            <a:off x="9781458" y="1981344"/>
            <a:ext cx="162778" cy="0"/>
          </a:xfrm>
          <a:prstGeom prst="line">
            <a:avLst/>
          </a:prstGeom>
          <a:ln w="254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EED9987-C5C5-4FE7-B418-E2E3044515B5}"/>
              </a:ext>
            </a:extLst>
          </p:cNvPr>
          <p:cNvCxnSpPr>
            <a:cxnSpLocks/>
          </p:cNvCxnSpPr>
          <p:nvPr/>
        </p:nvCxnSpPr>
        <p:spPr>
          <a:xfrm flipH="1">
            <a:off x="7968218" y="1981344"/>
            <a:ext cx="176983" cy="0"/>
          </a:xfrm>
          <a:prstGeom prst="line">
            <a:avLst/>
          </a:prstGeom>
          <a:ln w="254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4FC1F5AD-3C58-4B25-84F8-FC2302BC9BBC}"/>
              </a:ext>
            </a:extLst>
          </p:cNvPr>
          <p:cNvCxnSpPr>
            <a:cxnSpLocks/>
            <a:stCxn id="39" idx="1"/>
            <a:endCxn id="32" idx="3"/>
          </p:cNvCxnSpPr>
          <p:nvPr/>
        </p:nvCxnSpPr>
        <p:spPr>
          <a:xfrm flipH="1">
            <a:off x="6126120" y="1982297"/>
            <a:ext cx="237681" cy="725972"/>
          </a:xfrm>
          <a:prstGeom prst="line">
            <a:avLst/>
          </a:prstGeom>
          <a:ln w="254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3B22994-9EA0-4A41-AFC5-3F6784D796F0}"/>
              </a:ext>
            </a:extLst>
          </p:cNvPr>
          <p:cNvCxnSpPr>
            <a:cxnSpLocks/>
          </p:cNvCxnSpPr>
          <p:nvPr/>
        </p:nvCxnSpPr>
        <p:spPr>
          <a:xfrm flipH="1" flipV="1">
            <a:off x="3860160" y="1857818"/>
            <a:ext cx="304154" cy="725899"/>
          </a:xfrm>
          <a:prstGeom prst="line">
            <a:avLst/>
          </a:prstGeom>
          <a:ln w="254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F5B0822-FD39-443C-B7A3-076307FE8A67}"/>
              </a:ext>
            </a:extLst>
          </p:cNvPr>
          <p:cNvCxnSpPr>
            <a:cxnSpLocks/>
            <a:stCxn id="18" idx="1"/>
            <a:endCxn id="120" idx="3"/>
          </p:cNvCxnSpPr>
          <p:nvPr/>
        </p:nvCxnSpPr>
        <p:spPr>
          <a:xfrm flipH="1">
            <a:off x="1848152" y="1982297"/>
            <a:ext cx="228542" cy="0"/>
          </a:xfrm>
          <a:prstGeom prst="line">
            <a:avLst/>
          </a:prstGeom>
          <a:ln w="254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58F5D3B-D4C0-4B6B-AC94-D6FD01BFFB75}"/>
              </a:ext>
            </a:extLst>
          </p:cNvPr>
          <p:cNvCxnSpPr>
            <a:cxnSpLocks/>
          </p:cNvCxnSpPr>
          <p:nvPr/>
        </p:nvCxnSpPr>
        <p:spPr>
          <a:xfrm flipH="1">
            <a:off x="6126120" y="2707315"/>
            <a:ext cx="237679" cy="0"/>
          </a:xfrm>
          <a:prstGeom prst="line">
            <a:avLst/>
          </a:prstGeom>
          <a:ln w="254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F100B85-CCFA-4601-AB8E-CB22EE8838A3}"/>
              </a:ext>
            </a:extLst>
          </p:cNvPr>
          <p:cNvCxnSpPr>
            <a:cxnSpLocks/>
            <a:stCxn id="48" idx="1"/>
            <a:endCxn id="41" idx="3"/>
          </p:cNvCxnSpPr>
          <p:nvPr/>
        </p:nvCxnSpPr>
        <p:spPr>
          <a:xfrm flipH="1">
            <a:off x="7968218" y="1982297"/>
            <a:ext cx="176983" cy="725972"/>
          </a:xfrm>
          <a:prstGeom prst="line">
            <a:avLst/>
          </a:prstGeom>
          <a:ln w="25400">
            <a:solidFill>
              <a:srgbClr val="00B05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4FD327EB-0C85-4383-9BE4-BA655D88178C}"/>
              </a:ext>
            </a:extLst>
          </p:cNvPr>
          <p:cNvCxnSpPr>
            <a:cxnSpLocks/>
            <a:stCxn id="72" idx="1"/>
          </p:cNvCxnSpPr>
          <p:nvPr/>
        </p:nvCxnSpPr>
        <p:spPr>
          <a:xfrm flipH="1">
            <a:off x="7824268" y="4106335"/>
            <a:ext cx="320933" cy="2210093"/>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5671470-295D-4447-AE00-971D63367278}"/>
              </a:ext>
            </a:extLst>
          </p:cNvPr>
          <p:cNvCxnSpPr>
            <a:cxnSpLocks/>
          </p:cNvCxnSpPr>
          <p:nvPr/>
        </p:nvCxnSpPr>
        <p:spPr>
          <a:xfrm flipH="1">
            <a:off x="6136175" y="4095867"/>
            <a:ext cx="227624" cy="0"/>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946F78E-90F7-4480-8FC5-76DEDFCBC218}"/>
              </a:ext>
            </a:extLst>
          </p:cNvPr>
          <p:cNvCxnSpPr>
            <a:cxnSpLocks/>
          </p:cNvCxnSpPr>
          <p:nvPr/>
        </p:nvCxnSpPr>
        <p:spPr>
          <a:xfrm flipH="1" flipV="1">
            <a:off x="1848150" y="2108459"/>
            <a:ext cx="228542" cy="696246"/>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5" name="BulletBoxLeft">
            <a:extLst>
              <a:ext uri="{FF2B5EF4-FFF2-40B4-BE49-F238E27FC236}">
                <a16:creationId xmlns:a16="http://schemas.microsoft.com/office/drawing/2014/main" id="{AEB39835-EBC5-41D4-8222-9734B6FB1CB0}"/>
              </a:ext>
            </a:extLst>
          </p:cNvPr>
          <p:cNvSpPr txBox="1"/>
          <p:nvPr/>
        </p:nvSpPr>
        <p:spPr>
          <a:xfrm>
            <a:off x="549901" y="1810487"/>
            <a:ext cx="213161" cy="343620"/>
          </a:xfrm>
          <a:prstGeom prst="rect">
            <a:avLst/>
          </a:prstGeom>
          <a:solidFill>
            <a:schemeClr val="accent2">
              <a:lumMod val="60000"/>
              <a:lumOff val="40000"/>
            </a:schemeClr>
          </a:solidFill>
        </p:spPr>
        <p:txBody>
          <a:bodyPr wrap="square" rtlCol="0">
            <a:spAutoFit/>
          </a:bodyPr>
          <a:lstStyle/>
          <a:p>
            <a:pPr defTabSz="829384">
              <a:defRPr/>
            </a:pPr>
            <a:endParaRPr lang="en-US" sz="1633">
              <a:solidFill>
                <a:prstClr val="black"/>
              </a:solidFill>
              <a:latin typeface="Segoe UI"/>
            </a:endParaRPr>
          </a:p>
        </p:txBody>
      </p:sp>
      <p:sp>
        <p:nvSpPr>
          <p:cNvPr id="116" name="BulletBoxLeft">
            <a:extLst>
              <a:ext uri="{FF2B5EF4-FFF2-40B4-BE49-F238E27FC236}">
                <a16:creationId xmlns:a16="http://schemas.microsoft.com/office/drawing/2014/main" id="{BF091499-D596-4189-A601-F3EA26F88057}"/>
              </a:ext>
            </a:extLst>
          </p:cNvPr>
          <p:cNvSpPr txBox="1"/>
          <p:nvPr/>
        </p:nvSpPr>
        <p:spPr>
          <a:xfrm>
            <a:off x="533190" y="2536459"/>
            <a:ext cx="213161" cy="343620"/>
          </a:xfrm>
          <a:prstGeom prst="rect">
            <a:avLst/>
          </a:prstGeom>
          <a:solidFill>
            <a:schemeClr val="accent2">
              <a:lumMod val="60000"/>
              <a:lumOff val="40000"/>
            </a:schemeClr>
          </a:solidFill>
        </p:spPr>
        <p:txBody>
          <a:bodyPr wrap="square" rtlCol="0">
            <a:spAutoFit/>
          </a:bodyPr>
          <a:lstStyle/>
          <a:p>
            <a:pPr defTabSz="829384">
              <a:defRPr/>
            </a:pPr>
            <a:endParaRPr lang="en-US" sz="1633">
              <a:solidFill>
                <a:prstClr val="black"/>
              </a:solidFill>
              <a:latin typeface="Segoe UI"/>
            </a:endParaRPr>
          </a:p>
        </p:txBody>
      </p:sp>
      <p:sp>
        <p:nvSpPr>
          <p:cNvPr id="117" name="BulletBoxLeft">
            <a:extLst>
              <a:ext uri="{FF2B5EF4-FFF2-40B4-BE49-F238E27FC236}">
                <a16:creationId xmlns:a16="http://schemas.microsoft.com/office/drawing/2014/main" id="{92EADAC2-36E4-4A80-902C-EECA92806FD3}"/>
              </a:ext>
            </a:extLst>
          </p:cNvPr>
          <p:cNvSpPr txBox="1"/>
          <p:nvPr/>
        </p:nvSpPr>
        <p:spPr>
          <a:xfrm>
            <a:off x="549901" y="3238210"/>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18" name="BulletBoxLeft">
            <a:extLst>
              <a:ext uri="{FF2B5EF4-FFF2-40B4-BE49-F238E27FC236}">
                <a16:creationId xmlns:a16="http://schemas.microsoft.com/office/drawing/2014/main" id="{9FF25338-9E89-47FD-BCCB-ABFA95533B4F}"/>
              </a:ext>
            </a:extLst>
          </p:cNvPr>
          <p:cNvSpPr txBox="1"/>
          <p:nvPr/>
        </p:nvSpPr>
        <p:spPr>
          <a:xfrm>
            <a:off x="531680" y="3934525"/>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19" name="BulletBoxLeft">
            <a:extLst>
              <a:ext uri="{FF2B5EF4-FFF2-40B4-BE49-F238E27FC236}">
                <a16:creationId xmlns:a16="http://schemas.microsoft.com/office/drawing/2014/main" id="{987BF460-FFBE-4D4F-BE05-3461ABA1FAFD}"/>
              </a:ext>
            </a:extLst>
          </p:cNvPr>
          <p:cNvSpPr txBox="1"/>
          <p:nvPr/>
        </p:nvSpPr>
        <p:spPr>
          <a:xfrm>
            <a:off x="549901" y="4646350"/>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20" name="BulletBoxLeft">
            <a:extLst>
              <a:ext uri="{FF2B5EF4-FFF2-40B4-BE49-F238E27FC236}">
                <a16:creationId xmlns:a16="http://schemas.microsoft.com/office/drawing/2014/main" id="{A3F7FEBB-9F8B-462C-AD7D-9BB85C3C8B1B}"/>
              </a:ext>
            </a:extLst>
          </p:cNvPr>
          <p:cNvSpPr txBox="1"/>
          <p:nvPr/>
        </p:nvSpPr>
        <p:spPr>
          <a:xfrm>
            <a:off x="1634991" y="1810487"/>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21" name="BulletBoxLeft">
            <a:extLst>
              <a:ext uri="{FF2B5EF4-FFF2-40B4-BE49-F238E27FC236}">
                <a16:creationId xmlns:a16="http://schemas.microsoft.com/office/drawing/2014/main" id="{3964E191-D20A-4FCF-9A76-9B6A0FB72212}"/>
              </a:ext>
            </a:extLst>
          </p:cNvPr>
          <p:cNvSpPr txBox="1"/>
          <p:nvPr/>
        </p:nvSpPr>
        <p:spPr>
          <a:xfrm>
            <a:off x="1722963" y="2536459"/>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22" name="BulletBoxLeft">
            <a:extLst>
              <a:ext uri="{FF2B5EF4-FFF2-40B4-BE49-F238E27FC236}">
                <a16:creationId xmlns:a16="http://schemas.microsoft.com/office/drawing/2014/main" id="{55150F0C-A331-4E9D-BA13-044CF6813534}"/>
              </a:ext>
            </a:extLst>
          </p:cNvPr>
          <p:cNvSpPr txBox="1"/>
          <p:nvPr/>
        </p:nvSpPr>
        <p:spPr>
          <a:xfrm>
            <a:off x="1739023" y="3238210"/>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23" name="BulletBoxLeft">
            <a:extLst>
              <a:ext uri="{FF2B5EF4-FFF2-40B4-BE49-F238E27FC236}">
                <a16:creationId xmlns:a16="http://schemas.microsoft.com/office/drawing/2014/main" id="{90DD5467-7056-43D4-91BF-96A178001B21}"/>
              </a:ext>
            </a:extLst>
          </p:cNvPr>
          <p:cNvSpPr txBox="1"/>
          <p:nvPr/>
        </p:nvSpPr>
        <p:spPr>
          <a:xfrm>
            <a:off x="1730096" y="3942095"/>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24" name="BulletBoxLeft">
            <a:extLst>
              <a:ext uri="{FF2B5EF4-FFF2-40B4-BE49-F238E27FC236}">
                <a16:creationId xmlns:a16="http://schemas.microsoft.com/office/drawing/2014/main" id="{13CEC1D3-3AEA-431E-AB4A-6AEA8CDA97EE}"/>
              </a:ext>
            </a:extLst>
          </p:cNvPr>
          <p:cNvSpPr txBox="1"/>
          <p:nvPr/>
        </p:nvSpPr>
        <p:spPr>
          <a:xfrm>
            <a:off x="1712696" y="4638320"/>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cxnSp>
        <p:nvCxnSpPr>
          <p:cNvPr id="125" name="Straight Connector 124">
            <a:extLst>
              <a:ext uri="{FF2B5EF4-FFF2-40B4-BE49-F238E27FC236}">
                <a16:creationId xmlns:a16="http://schemas.microsoft.com/office/drawing/2014/main" id="{D2787D67-4CDA-4CDC-B221-273EC8DDCA65}"/>
              </a:ext>
            </a:extLst>
          </p:cNvPr>
          <p:cNvCxnSpPr>
            <a:cxnSpLocks/>
            <a:stCxn id="71" idx="2"/>
          </p:cNvCxnSpPr>
          <p:nvPr/>
        </p:nvCxnSpPr>
        <p:spPr>
          <a:xfrm>
            <a:off x="9677501" y="4278145"/>
            <a:ext cx="255698" cy="403222"/>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6" name="Description">
            <a:extLst>
              <a:ext uri="{FF2B5EF4-FFF2-40B4-BE49-F238E27FC236}">
                <a16:creationId xmlns:a16="http://schemas.microsoft.com/office/drawing/2014/main" id="{FB001314-47D1-45E3-BE1D-827FEFE339D4}"/>
              </a:ext>
            </a:extLst>
          </p:cNvPr>
          <p:cNvSpPr txBox="1"/>
          <p:nvPr/>
        </p:nvSpPr>
        <p:spPr>
          <a:xfrm>
            <a:off x="8174095" y="5377724"/>
            <a:ext cx="143673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127" name="BulletBoxRight">
            <a:extLst>
              <a:ext uri="{FF2B5EF4-FFF2-40B4-BE49-F238E27FC236}">
                <a16:creationId xmlns:a16="http://schemas.microsoft.com/office/drawing/2014/main" id="{9750567D-F1EB-4492-8808-3F27D99F837B}"/>
              </a:ext>
            </a:extLst>
          </p:cNvPr>
          <p:cNvSpPr txBox="1"/>
          <p:nvPr/>
        </p:nvSpPr>
        <p:spPr>
          <a:xfrm>
            <a:off x="9583832" y="5380637"/>
            <a:ext cx="20791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128" name="BulletBoxLeft">
            <a:extLst>
              <a:ext uri="{FF2B5EF4-FFF2-40B4-BE49-F238E27FC236}">
                <a16:creationId xmlns:a16="http://schemas.microsoft.com/office/drawing/2014/main" id="{0801BAB6-F8A2-482F-BA2B-193BEB8F79AD}"/>
              </a:ext>
            </a:extLst>
          </p:cNvPr>
          <p:cNvSpPr txBox="1"/>
          <p:nvPr/>
        </p:nvSpPr>
        <p:spPr>
          <a:xfrm>
            <a:off x="8155488" y="5380637"/>
            <a:ext cx="216542" cy="343620"/>
          </a:xfrm>
          <a:prstGeom prst="rect">
            <a:avLst/>
          </a:prstGeom>
          <a:solidFill>
            <a:srgbClr val="0073C6"/>
          </a:solidFill>
        </p:spPr>
        <p:txBody>
          <a:bodyPr wrap="square" rtlCol="0">
            <a:spAutoFit/>
          </a:bodyPr>
          <a:lstStyle/>
          <a:p>
            <a:pPr defTabSz="829384">
              <a:defRPr/>
            </a:pPr>
            <a:endParaRPr lang="en-US" sz="1633">
              <a:solidFill>
                <a:prstClr val="black"/>
              </a:solidFill>
              <a:latin typeface="Segoe UI"/>
            </a:endParaRPr>
          </a:p>
        </p:txBody>
      </p:sp>
      <p:sp>
        <p:nvSpPr>
          <p:cNvPr id="129" name="Description">
            <a:extLst>
              <a:ext uri="{FF2B5EF4-FFF2-40B4-BE49-F238E27FC236}">
                <a16:creationId xmlns:a16="http://schemas.microsoft.com/office/drawing/2014/main" id="{9B5D0C6F-EFD5-4471-981C-F95EE4696C58}"/>
              </a:ext>
            </a:extLst>
          </p:cNvPr>
          <p:cNvSpPr txBox="1"/>
          <p:nvPr/>
        </p:nvSpPr>
        <p:spPr>
          <a:xfrm>
            <a:off x="522422" y="5375429"/>
            <a:ext cx="1185130" cy="652996"/>
          </a:xfrm>
          <a:prstGeom prst="rect">
            <a:avLst/>
          </a:prstGeom>
          <a:solidFill>
            <a:schemeClr val="bg1">
              <a:lumMod val="85000"/>
            </a:schemeClr>
          </a:solidFill>
        </p:spPr>
        <p:txBody>
          <a:bodyPr wrap="square" lIns="248816" tIns="0" rIns="0" bIns="0" rtlCol="0" anchor="ctr">
            <a:normAutofit/>
          </a:bodyPr>
          <a:lstStyle/>
          <a:p>
            <a:pPr defTabSz="829384">
              <a:defRPr/>
            </a:pPr>
            <a:endParaRPr lang="en-US" sz="950" dirty="0">
              <a:solidFill>
                <a:prstClr val="black"/>
              </a:solidFill>
              <a:latin typeface="Segoe UI"/>
              <a:cs typeface="Segoe UI" panose="020B0502040204020203" pitchFamily="34" charset="0"/>
            </a:endParaRPr>
          </a:p>
        </p:txBody>
      </p:sp>
      <p:sp>
        <p:nvSpPr>
          <p:cNvPr id="130" name="BulletBoxLeft">
            <a:extLst>
              <a:ext uri="{FF2B5EF4-FFF2-40B4-BE49-F238E27FC236}">
                <a16:creationId xmlns:a16="http://schemas.microsoft.com/office/drawing/2014/main" id="{F17D5189-2636-4CDF-9A82-F86C5673BDDB}"/>
              </a:ext>
            </a:extLst>
          </p:cNvPr>
          <p:cNvSpPr txBox="1"/>
          <p:nvPr/>
        </p:nvSpPr>
        <p:spPr>
          <a:xfrm>
            <a:off x="520146" y="5378342"/>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31" name="BulletBoxLeft">
            <a:extLst>
              <a:ext uri="{FF2B5EF4-FFF2-40B4-BE49-F238E27FC236}">
                <a16:creationId xmlns:a16="http://schemas.microsoft.com/office/drawing/2014/main" id="{1C0C6EDD-CA8C-435F-B717-EFB7D25C6275}"/>
              </a:ext>
            </a:extLst>
          </p:cNvPr>
          <p:cNvSpPr txBox="1"/>
          <p:nvPr/>
        </p:nvSpPr>
        <p:spPr>
          <a:xfrm>
            <a:off x="1712697" y="5378342"/>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33" name="TextBox 132">
            <a:extLst>
              <a:ext uri="{FF2B5EF4-FFF2-40B4-BE49-F238E27FC236}">
                <a16:creationId xmlns:a16="http://schemas.microsoft.com/office/drawing/2014/main" id="{B3A96F12-DBE4-45D2-A6F5-54D4485DFD20}"/>
              </a:ext>
            </a:extLst>
          </p:cNvPr>
          <p:cNvSpPr txBox="1"/>
          <p:nvPr/>
        </p:nvSpPr>
        <p:spPr>
          <a:xfrm>
            <a:off x="230793" y="410692"/>
            <a:ext cx="11268149" cy="891674"/>
          </a:xfrm>
          <a:prstGeom prst="rect">
            <a:avLst/>
          </a:prstGeom>
          <a:noFill/>
        </p:spPr>
        <p:txBody>
          <a:bodyPr wrap="square" lIns="82951" tIns="41475" rIns="82951" bIns="41475" anchor="t">
            <a:spAutoFit/>
          </a:bodyPr>
          <a:lstStyle/>
          <a:p>
            <a:r>
              <a:rPr lang="en-US" sz="1400" dirty="0">
                <a:solidFill>
                  <a:srgbClr val="111111"/>
                </a:solidFill>
                <a:latin typeface="Roboto"/>
              </a:rPr>
              <a:t>This tool provides a framework for linking the overall investment objectives and resultant benefits with the business changes necessary to deliver those benefits</a:t>
            </a:r>
          </a:p>
          <a:p>
            <a:r>
              <a:rPr lang="en-US" sz="1225" i="1" dirty="0">
                <a:solidFill>
                  <a:srgbClr val="111111"/>
                </a:solidFill>
                <a:latin typeface="Roboto"/>
              </a:rPr>
              <a:t>Read:  right to left from; The FI as customer &amp; their drivers; why they would invest; benefits they would achieve; change they would need to make and tech they would need</a:t>
            </a:r>
            <a:endParaRPr lang="en-GB" sz="1225" i="1" dirty="0"/>
          </a:p>
        </p:txBody>
      </p:sp>
      <p:sp>
        <p:nvSpPr>
          <p:cNvPr id="138" name="Description">
            <a:extLst>
              <a:ext uri="{FF2B5EF4-FFF2-40B4-BE49-F238E27FC236}">
                <a16:creationId xmlns:a16="http://schemas.microsoft.com/office/drawing/2014/main" id="{01204049-3E73-4788-899B-0BD33F643A70}"/>
              </a:ext>
            </a:extLst>
          </p:cNvPr>
          <p:cNvSpPr txBox="1"/>
          <p:nvPr/>
        </p:nvSpPr>
        <p:spPr>
          <a:xfrm>
            <a:off x="2064021" y="3975018"/>
            <a:ext cx="1657397"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139" name="BulletBoxRight">
            <a:extLst>
              <a:ext uri="{FF2B5EF4-FFF2-40B4-BE49-F238E27FC236}">
                <a16:creationId xmlns:a16="http://schemas.microsoft.com/office/drawing/2014/main" id="{89F5AAFF-D1E2-41E0-A1B2-29B4376F3D23}"/>
              </a:ext>
            </a:extLst>
          </p:cNvPr>
          <p:cNvSpPr txBox="1"/>
          <p:nvPr/>
        </p:nvSpPr>
        <p:spPr>
          <a:xfrm>
            <a:off x="3720016" y="3987143"/>
            <a:ext cx="204666"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40" name="BulletBoxLeft">
            <a:extLst>
              <a:ext uri="{FF2B5EF4-FFF2-40B4-BE49-F238E27FC236}">
                <a16:creationId xmlns:a16="http://schemas.microsoft.com/office/drawing/2014/main" id="{E49612F4-6BB4-45A8-8288-9F95DB00ACFF}"/>
              </a:ext>
            </a:extLst>
          </p:cNvPr>
          <p:cNvSpPr txBox="1"/>
          <p:nvPr/>
        </p:nvSpPr>
        <p:spPr>
          <a:xfrm>
            <a:off x="2062357" y="3987143"/>
            <a:ext cx="213161" cy="343620"/>
          </a:xfrm>
          <a:prstGeom prst="rect">
            <a:avLst/>
          </a:prstGeom>
          <a:solidFill>
            <a:srgbClr val="7030A0"/>
          </a:solidFill>
        </p:spPr>
        <p:txBody>
          <a:bodyPr wrap="square" rtlCol="0">
            <a:spAutoFit/>
          </a:bodyPr>
          <a:lstStyle/>
          <a:p>
            <a:pPr defTabSz="829384">
              <a:defRPr/>
            </a:pPr>
            <a:endParaRPr lang="en-US" sz="1633" dirty="0">
              <a:solidFill>
                <a:prstClr val="black"/>
              </a:solidFill>
              <a:latin typeface="Segoe UI"/>
            </a:endParaRPr>
          </a:p>
        </p:txBody>
      </p:sp>
      <p:sp>
        <p:nvSpPr>
          <p:cNvPr id="132" name="Description">
            <a:extLst>
              <a:ext uri="{FF2B5EF4-FFF2-40B4-BE49-F238E27FC236}">
                <a16:creationId xmlns:a16="http://schemas.microsoft.com/office/drawing/2014/main" id="{1F4431DF-3A34-4B9B-A1A1-0D97E00C575C}"/>
              </a:ext>
            </a:extLst>
          </p:cNvPr>
          <p:cNvSpPr txBox="1"/>
          <p:nvPr/>
        </p:nvSpPr>
        <p:spPr>
          <a:xfrm>
            <a:off x="9933199" y="6118908"/>
            <a:ext cx="153469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53" dirty="0">
                <a:latin typeface="Segoe UI"/>
              </a:rPr>
              <a:t>Early mover advantage.  Portfolio hard to build previously without scientific based data</a:t>
            </a:r>
          </a:p>
        </p:txBody>
      </p:sp>
      <p:sp>
        <p:nvSpPr>
          <p:cNvPr id="134" name="BulletBoxLeft">
            <a:extLst>
              <a:ext uri="{FF2B5EF4-FFF2-40B4-BE49-F238E27FC236}">
                <a16:creationId xmlns:a16="http://schemas.microsoft.com/office/drawing/2014/main" id="{8853D638-B2C4-4164-B422-99245530A789}"/>
              </a:ext>
            </a:extLst>
          </p:cNvPr>
          <p:cNvSpPr txBox="1"/>
          <p:nvPr/>
        </p:nvSpPr>
        <p:spPr>
          <a:xfrm>
            <a:off x="9933199" y="6111242"/>
            <a:ext cx="213161"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137" name="BulletBoxRight">
            <a:extLst>
              <a:ext uri="{FF2B5EF4-FFF2-40B4-BE49-F238E27FC236}">
                <a16:creationId xmlns:a16="http://schemas.microsoft.com/office/drawing/2014/main" id="{D9941B1C-AD98-4FFA-A6C8-D36BC0B78C7E}"/>
              </a:ext>
            </a:extLst>
          </p:cNvPr>
          <p:cNvSpPr txBox="1"/>
          <p:nvPr/>
        </p:nvSpPr>
        <p:spPr>
          <a:xfrm>
            <a:off x="11467892" y="6126481"/>
            <a:ext cx="204666" cy="343620"/>
          </a:xfrm>
          <a:prstGeom prst="rect">
            <a:avLst/>
          </a:prstGeom>
          <a:solidFill>
            <a:srgbClr val="27AE60"/>
          </a:solidFill>
        </p:spPr>
        <p:txBody>
          <a:bodyPr wrap="square" rtlCol="0">
            <a:spAutoFit/>
          </a:bodyPr>
          <a:lstStyle/>
          <a:p>
            <a:pPr defTabSz="829384">
              <a:defRPr/>
            </a:pPr>
            <a:endParaRPr lang="en-US" sz="1633">
              <a:solidFill>
                <a:prstClr val="black"/>
              </a:solidFill>
              <a:latin typeface="Segoe UI"/>
            </a:endParaRPr>
          </a:p>
        </p:txBody>
      </p:sp>
      <p:sp>
        <p:nvSpPr>
          <p:cNvPr id="141" name="Description">
            <a:extLst>
              <a:ext uri="{FF2B5EF4-FFF2-40B4-BE49-F238E27FC236}">
                <a16:creationId xmlns:a16="http://schemas.microsoft.com/office/drawing/2014/main" id="{918024D0-DA8E-49B5-8F25-64D286D9F354}"/>
              </a:ext>
            </a:extLst>
          </p:cNvPr>
          <p:cNvSpPr txBox="1"/>
          <p:nvPr/>
        </p:nvSpPr>
        <p:spPr>
          <a:xfrm>
            <a:off x="6376896" y="6118908"/>
            <a:ext cx="1414680"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00" dirty="0">
              <a:latin typeface="Segoe UI"/>
            </a:endParaRPr>
          </a:p>
        </p:txBody>
      </p:sp>
      <p:sp>
        <p:nvSpPr>
          <p:cNvPr id="142" name="BulletBoxLeft">
            <a:extLst>
              <a:ext uri="{FF2B5EF4-FFF2-40B4-BE49-F238E27FC236}">
                <a16:creationId xmlns:a16="http://schemas.microsoft.com/office/drawing/2014/main" id="{F14CC34B-D95A-4FA6-BD04-C01E9154CFB8}"/>
              </a:ext>
            </a:extLst>
          </p:cNvPr>
          <p:cNvSpPr txBox="1"/>
          <p:nvPr/>
        </p:nvSpPr>
        <p:spPr>
          <a:xfrm>
            <a:off x="6385638" y="6122373"/>
            <a:ext cx="213161"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143" name="BulletBoxRight">
            <a:extLst>
              <a:ext uri="{FF2B5EF4-FFF2-40B4-BE49-F238E27FC236}">
                <a16:creationId xmlns:a16="http://schemas.microsoft.com/office/drawing/2014/main" id="{CC8E1DE4-CAFD-4C67-8B64-D36AED3F3835}"/>
              </a:ext>
            </a:extLst>
          </p:cNvPr>
          <p:cNvSpPr txBox="1"/>
          <p:nvPr/>
        </p:nvSpPr>
        <p:spPr>
          <a:xfrm>
            <a:off x="7790491" y="6107421"/>
            <a:ext cx="204666" cy="343620"/>
          </a:xfrm>
          <a:prstGeom prst="rect">
            <a:avLst/>
          </a:prstGeom>
          <a:solidFill>
            <a:srgbClr val="C0392B"/>
          </a:solidFill>
        </p:spPr>
        <p:txBody>
          <a:bodyPr wrap="square" rtlCol="0">
            <a:spAutoFit/>
          </a:bodyPr>
          <a:lstStyle/>
          <a:p>
            <a:pPr defTabSz="829384">
              <a:defRPr/>
            </a:pPr>
            <a:endParaRPr lang="en-US" sz="1633">
              <a:solidFill>
                <a:prstClr val="black"/>
              </a:solidFill>
              <a:latin typeface="Segoe UI"/>
            </a:endParaRPr>
          </a:p>
        </p:txBody>
      </p:sp>
      <p:sp>
        <p:nvSpPr>
          <p:cNvPr id="144" name="BulletBoxLeft">
            <a:extLst>
              <a:ext uri="{FF2B5EF4-FFF2-40B4-BE49-F238E27FC236}">
                <a16:creationId xmlns:a16="http://schemas.microsoft.com/office/drawing/2014/main" id="{1AB9B69F-3CEA-4141-BCAD-828012F23429}"/>
              </a:ext>
            </a:extLst>
          </p:cNvPr>
          <p:cNvSpPr txBox="1"/>
          <p:nvPr/>
        </p:nvSpPr>
        <p:spPr>
          <a:xfrm>
            <a:off x="4184265" y="6122373"/>
            <a:ext cx="213161"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145" name="BulletBoxRight">
            <a:extLst>
              <a:ext uri="{FF2B5EF4-FFF2-40B4-BE49-F238E27FC236}">
                <a16:creationId xmlns:a16="http://schemas.microsoft.com/office/drawing/2014/main" id="{844F4B06-1778-4431-A242-51F528F3A67C}"/>
              </a:ext>
            </a:extLst>
          </p:cNvPr>
          <p:cNvSpPr txBox="1"/>
          <p:nvPr/>
        </p:nvSpPr>
        <p:spPr>
          <a:xfrm>
            <a:off x="5938997" y="6112974"/>
            <a:ext cx="204666" cy="343620"/>
          </a:xfrm>
          <a:prstGeom prst="rect">
            <a:avLst/>
          </a:prstGeom>
          <a:solidFill>
            <a:srgbClr val="E67E22"/>
          </a:solidFill>
        </p:spPr>
        <p:txBody>
          <a:bodyPr wrap="square" rtlCol="0">
            <a:spAutoFit/>
          </a:bodyPr>
          <a:lstStyle/>
          <a:p>
            <a:pPr defTabSz="829384">
              <a:defRPr/>
            </a:pPr>
            <a:endParaRPr lang="en-US" sz="1633">
              <a:solidFill>
                <a:prstClr val="black"/>
              </a:solidFill>
              <a:latin typeface="Segoe UI"/>
            </a:endParaRPr>
          </a:p>
        </p:txBody>
      </p:sp>
      <p:sp>
        <p:nvSpPr>
          <p:cNvPr id="147" name="BulletBoxLeft">
            <a:extLst>
              <a:ext uri="{FF2B5EF4-FFF2-40B4-BE49-F238E27FC236}">
                <a16:creationId xmlns:a16="http://schemas.microsoft.com/office/drawing/2014/main" id="{681BDD41-C0E0-4B33-816E-5CAB293B50CD}"/>
              </a:ext>
            </a:extLst>
          </p:cNvPr>
          <p:cNvSpPr txBox="1"/>
          <p:nvPr/>
        </p:nvSpPr>
        <p:spPr>
          <a:xfrm>
            <a:off x="2070768" y="4696408"/>
            <a:ext cx="213161"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48" name="BulletBoxRight">
            <a:extLst>
              <a:ext uri="{FF2B5EF4-FFF2-40B4-BE49-F238E27FC236}">
                <a16:creationId xmlns:a16="http://schemas.microsoft.com/office/drawing/2014/main" id="{CFAE6840-2456-4181-90F5-E1284C8A4113}"/>
              </a:ext>
            </a:extLst>
          </p:cNvPr>
          <p:cNvSpPr txBox="1"/>
          <p:nvPr/>
        </p:nvSpPr>
        <p:spPr>
          <a:xfrm>
            <a:off x="3724197" y="4719910"/>
            <a:ext cx="204666"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51" name="Description">
            <a:extLst>
              <a:ext uri="{FF2B5EF4-FFF2-40B4-BE49-F238E27FC236}">
                <a16:creationId xmlns:a16="http://schemas.microsoft.com/office/drawing/2014/main" id="{0B07B6AE-BB18-40F3-8D50-9DC0B338CED1}"/>
              </a:ext>
            </a:extLst>
          </p:cNvPr>
          <p:cNvSpPr txBox="1"/>
          <p:nvPr/>
        </p:nvSpPr>
        <p:spPr>
          <a:xfrm>
            <a:off x="2066595" y="5452409"/>
            <a:ext cx="1643324" cy="652996"/>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endParaRPr lang="en-US" sz="950" dirty="0">
              <a:latin typeface="Segoe UI"/>
            </a:endParaRPr>
          </a:p>
        </p:txBody>
      </p:sp>
      <p:sp>
        <p:nvSpPr>
          <p:cNvPr id="152" name="BulletBoxLeft">
            <a:extLst>
              <a:ext uri="{FF2B5EF4-FFF2-40B4-BE49-F238E27FC236}">
                <a16:creationId xmlns:a16="http://schemas.microsoft.com/office/drawing/2014/main" id="{E524B1E7-7381-48A1-959B-7C826F2EA8CF}"/>
              </a:ext>
            </a:extLst>
          </p:cNvPr>
          <p:cNvSpPr txBox="1"/>
          <p:nvPr/>
        </p:nvSpPr>
        <p:spPr>
          <a:xfrm>
            <a:off x="2071550" y="5454646"/>
            <a:ext cx="213161"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53" name="BulletBoxRight">
            <a:extLst>
              <a:ext uri="{FF2B5EF4-FFF2-40B4-BE49-F238E27FC236}">
                <a16:creationId xmlns:a16="http://schemas.microsoft.com/office/drawing/2014/main" id="{475E3B09-5E5B-47E3-A384-BFB53F03B97E}"/>
              </a:ext>
            </a:extLst>
          </p:cNvPr>
          <p:cNvSpPr txBox="1"/>
          <p:nvPr/>
        </p:nvSpPr>
        <p:spPr>
          <a:xfrm>
            <a:off x="3711622" y="5460041"/>
            <a:ext cx="204666"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54" name="Description">
            <a:extLst>
              <a:ext uri="{FF2B5EF4-FFF2-40B4-BE49-F238E27FC236}">
                <a16:creationId xmlns:a16="http://schemas.microsoft.com/office/drawing/2014/main" id="{3D72451C-463C-401E-A7B9-43A5CBB9EDDD}"/>
              </a:ext>
            </a:extLst>
          </p:cNvPr>
          <p:cNvSpPr txBox="1"/>
          <p:nvPr/>
        </p:nvSpPr>
        <p:spPr>
          <a:xfrm>
            <a:off x="2066595" y="6169307"/>
            <a:ext cx="1647394" cy="622018"/>
          </a:xfrm>
          <a:prstGeom prst="rect">
            <a:avLst/>
          </a:prstGeom>
          <a:solidFill>
            <a:schemeClr val="bg1">
              <a:lumMod val="85000"/>
            </a:schemeClr>
          </a:solidFill>
        </p:spPr>
        <p:txBody>
          <a:bodyPr wrap="square" lIns="248816" tIns="0" rIns="0" bIns="0" rtlCol="0" anchor="ctr">
            <a:noAutofit/>
          </a:bodyPr>
          <a:lstStyle>
            <a:defPPr>
              <a:defRPr lang="en-US"/>
            </a:defPPr>
            <a:lvl1pPr marR="0" lvl="0" indent="0" defTabSz="914400"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cs typeface="Segoe UI" panose="020B0502040204020203" pitchFamily="34" charset="0"/>
              </a:defRPr>
            </a:lvl1pPr>
          </a:lstStyle>
          <a:p>
            <a:pPr defTabSz="829384"/>
            <a:r>
              <a:rPr lang="en-US" sz="950" dirty="0">
                <a:latin typeface="Segoe UI"/>
                <a:cs typeface="Segoe UI"/>
              </a:rPr>
              <a:t>       </a:t>
            </a:r>
          </a:p>
        </p:txBody>
      </p:sp>
      <p:sp>
        <p:nvSpPr>
          <p:cNvPr id="155" name="BulletBoxLeft">
            <a:extLst>
              <a:ext uri="{FF2B5EF4-FFF2-40B4-BE49-F238E27FC236}">
                <a16:creationId xmlns:a16="http://schemas.microsoft.com/office/drawing/2014/main" id="{48EDD4F6-707C-4D03-8FEF-2F62378C433C}"/>
              </a:ext>
            </a:extLst>
          </p:cNvPr>
          <p:cNvSpPr txBox="1"/>
          <p:nvPr/>
        </p:nvSpPr>
        <p:spPr>
          <a:xfrm>
            <a:off x="2070768" y="6163911"/>
            <a:ext cx="213161"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56" name="BulletBoxRight">
            <a:extLst>
              <a:ext uri="{FF2B5EF4-FFF2-40B4-BE49-F238E27FC236}">
                <a16:creationId xmlns:a16="http://schemas.microsoft.com/office/drawing/2014/main" id="{01C1258F-7C31-4F5C-BDB5-8E6DA244B11F}"/>
              </a:ext>
            </a:extLst>
          </p:cNvPr>
          <p:cNvSpPr txBox="1"/>
          <p:nvPr/>
        </p:nvSpPr>
        <p:spPr>
          <a:xfrm>
            <a:off x="3711622" y="6159542"/>
            <a:ext cx="204666"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sp>
        <p:nvSpPr>
          <p:cNvPr id="157" name="Description">
            <a:extLst>
              <a:ext uri="{FF2B5EF4-FFF2-40B4-BE49-F238E27FC236}">
                <a16:creationId xmlns:a16="http://schemas.microsoft.com/office/drawing/2014/main" id="{85260E1D-DAC3-46C0-88D7-8F79A7C8B062}"/>
              </a:ext>
            </a:extLst>
          </p:cNvPr>
          <p:cNvSpPr txBox="1"/>
          <p:nvPr/>
        </p:nvSpPr>
        <p:spPr>
          <a:xfrm>
            <a:off x="531680" y="6118363"/>
            <a:ext cx="1185130" cy="652996"/>
          </a:xfrm>
          <a:prstGeom prst="rect">
            <a:avLst/>
          </a:prstGeom>
          <a:solidFill>
            <a:schemeClr val="bg1">
              <a:lumMod val="85000"/>
            </a:schemeClr>
          </a:solidFill>
        </p:spPr>
        <p:txBody>
          <a:bodyPr wrap="square" lIns="248816" tIns="0" rIns="0" bIns="0" rtlCol="0" anchor="ctr">
            <a:normAutofit/>
          </a:bodyPr>
          <a:lstStyle/>
          <a:p>
            <a:pPr defTabSz="829384">
              <a:defRPr/>
            </a:pPr>
            <a:endParaRPr lang="en-US" sz="950" dirty="0">
              <a:solidFill>
                <a:prstClr val="black"/>
              </a:solidFill>
              <a:latin typeface="Segoe UI"/>
              <a:cs typeface="Segoe UI" panose="020B0502040204020203" pitchFamily="34" charset="0"/>
            </a:endParaRPr>
          </a:p>
        </p:txBody>
      </p:sp>
      <p:cxnSp>
        <p:nvCxnSpPr>
          <p:cNvPr id="159" name="Straight Connector 158">
            <a:extLst>
              <a:ext uri="{FF2B5EF4-FFF2-40B4-BE49-F238E27FC236}">
                <a16:creationId xmlns:a16="http://schemas.microsoft.com/office/drawing/2014/main" id="{346537C3-3CD7-4DE0-9C0C-111280BFF426}"/>
              </a:ext>
            </a:extLst>
          </p:cNvPr>
          <p:cNvCxnSpPr>
            <a:cxnSpLocks/>
            <a:stCxn id="96" idx="3"/>
          </p:cNvCxnSpPr>
          <p:nvPr/>
        </p:nvCxnSpPr>
        <p:spPr>
          <a:xfrm>
            <a:off x="6126120" y="5543394"/>
            <a:ext cx="280187" cy="701332"/>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B3F97EE6-765C-400B-A9F9-06BA5B6EA739}"/>
              </a:ext>
            </a:extLst>
          </p:cNvPr>
          <p:cNvCxnSpPr>
            <a:cxnSpLocks/>
          </p:cNvCxnSpPr>
          <p:nvPr/>
        </p:nvCxnSpPr>
        <p:spPr>
          <a:xfrm flipV="1">
            <a:off x="3911883" y="5543205"/>
            <a:ext cx="227267" cy="649233"/>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3E879CB3-F771-4ED4-9833-F55F732689D0}"/>
              </a:ext>
            </a:extLst>
          </p:cNvPr>
          <p:cNvCxnSpPr>
            <a:cxnSpLocks/>
            <a:stCxn id="121" idx="2"/>
          </p:cNvCxnSpPr>
          <p:nvPr/>
        </p:nvCxnSpPr>
        <p:spPr>
          <a:xfrm>
            <a:off x="1829544" y="2880079"/>
            <a:ext cx="214901" cy="3416767"/>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27458CC1-80C1-4FE1-8C2D-3FCC27E190BC}"/>
              </a:ext>
            </a:extLst>
          </p:cNvPr>
          <p:cNvCxnSpPr>
            <a:cxnSpLocks/>
          </p:cNvCxnSpPr>
          <p:nvPr/>
        </p:nvCxnSpPr>
        <p:spPr>
          <a:xfrm flipH="1">
            <a:off x="9779245" y="2787836"/>
            <a:ext cx="173064" cy="1850484"/>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54D21F1B-DBDD-4501-9E53-996183D6E0D0}"/>
              </a:ext>
            </a:extLst>
          </p:cNvPr>
          <p:cNvCxnSpPr>
            <a:cxnSpLocks/>
            <a:endCxn id="38" idx="2"/>
          </p:cNvCxnSpPr>
          <p:nvPr/>
        </p:nvCxnSpPr>
        <p:spPr>
          <a:xfrm flipH="1" flipV="1">
            <a:off x="7865885" y="2154107"/>
            <a:ext cx="262191" cy="500331"/>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5133AC21-366B-4500-8B92-1DD845C52ED4}"/>
              </a:ext>
            </a:extLst>
          </p:cNvPr>
          <p:cNvCxnSpPr>
            <a:cxnSpLocks/>
            <a:endCxn id="41" idx="2"/>
          </p:cNvCxnSpPr>
          <p:nvPr/>
        </p:nvCxnSpPr>
        <p:spPr>
          <a:xfrm flipH="1">
            <a:off x="7865885" y="2673763"/>
            <a:ext cx="288542" cy="206316"/>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A21B9EEB-55F4-4723-A10B-6C2D6D1F52F1}"/>
              </a:ext>
            </a:extLst>
          </p:cNvPr>
          <p:cNvCxnSpPr>
            <a:cxnSpLocks/>
          </p:cNvCxnSpPr>
          <p:nvPr/>
        </p:nvCxnSpPr>
        <p:spPr>
          <a:xfrm flipH="1">
            <a:off x="8002314" y="2683463"/>
            <a:ext cx="152191" cy="1962887"/>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7532AB0-51FD-4E35-8366-4BBCCCEE982C}"/>
              </a:ext>
            </a:extLst>
          </p:cNvPr>
          <p:cNvCxnSpPr>
            <a:cxnSpLocks/>
            <a:endCxn id="93" idx="3"/>
          </p:cNvCxnSpPr>
          <p:nvPr/>
        </p:nvCxnSpPr>
        <p:spPr>
          <a:xfrm flipH="1">
            <a:off x="6127096" y="3471106"/>
            <a:ext cx="279655" cy="1347054"/>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C8C3B4E7-47D5-4E4D-870F-97B2CF61D927}"/>
              </a:ext>
            </a:extLst>
          </p:cNvPr>
          <p:cNvCxnSpPr>
            <a:cxnSpLocks/>
            <a:stCxn id="153" idx="3"/>
          </p:cNvCxnSpPr>
          <p:nvPr/>
        </p:nvCxnSpPr>
        <p:spPr>
          <a:xfrm flipV="1">
            <a:off x="3916288" y="4172470"/>
            <a:ext cx="264824" cy="1459381"/>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72C31FB-A7C7-45FE-8700-D2FDCB06230B}"/>
              </a:ext>
            </a:extLst>
          </p:cNvPr>
          <p:cNvCxnSpPr>
            <a:cxnSpLocks/>
            <a:endCxn id="74" idx="0"/>
          </p:cNvCxnSpPr>
          <p:nvPr/>
        </p:nvCxnSpPr>
        <p:spPr>
          <a:xfrm flipH="1">
            <a:off x="6033842" y="1997484"/>
            <a:ext cx="331637" cy="1937041"/>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953C43B6-1F55-47A4-BE4D-2605CC1A9A52}"/>
              </a:ext>
            </a:extLst>
          </p:cNvPr>
          <p:cNvCxnSpPr>
            <a:cxnSpLocks/>
            <a:endCxn id="93" idx="3"/>
          </p:cNvCxnSpPr>
          <p:nvPr/>
        </p:nvCxnSpPr>
        <p:spPr>
          <a:xfrm flipH="1">
            <a:off x="6127096" y="2777494"/>
            <a:ext cx="247588" cy="2040666"/>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C742724-74AC-425E-8D4F-B6E5CC647AAF}"/>
              </a:ext>
            </a:extLst>
          </p:cNvPr>
          <p:cNvCxnSpPr>
            <a:cxnSpLocks/>
            <a:endCxn id="145" idx="3"/>
          </p:cNvCxnSpPr>
          <p:nvPr/>
        </p:nvCxnSpPr>
        <p:spPr>
          <a:xfrm flipH="1">
            <a:off x="6143663" y="4896152"/>
            <a:ext cx="266501" cy="1388632"/>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EC537598-2EBA-4B99-B1D4-03187EF3D699}"/>
              </a:ext>
            </a:extLst>
          </p:cNvPr>
          <p:cNvCxnSpPr>
            <a:cxnSpLocks/>
            <a:stCxn id="20" idx="2"/>
          </p:cNvCxnSpPr>
          <p:nvPr/>
        </p:nvCxnSpPr>
        <p:spPr>
          <a:xfrm>
            <a:off x="3824818" y="2873717"/>
            <a:ext cx="356842" cy="3362240"/>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2" name="BulletBoxLeft">
            <a:extLst>
              <a:ext uri="{FF2B5EF4-FFF2-40B4-BE49-F238E27FC236}">
                <a16:creationId xmlns:a16="http://schemas.microsoft.com/office/drawing/2014/main" id="{22C902AD-50A3-480F-8DE9-34F4DF9F9E3B}"/>
              </a:ext>
            </a:extLst>
          </p:cNvPr>
          <p:cNvSpPr txBox="1"/>
          <p:nvPr/>
        </p:nvSpPr>
        <p:spPr>
          <a:xfrm>
            <a:off x="545571" y="6111242"/>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sp>
        <p:nvSpPr>
          <p:cNvPr id="193" name="BulletBoxLeft">
            <a:extLst>
              <a:ext uri="{FF2B5EF4-FFF2-40B4-BE49-F238E27FC236}">
                <a16:creationId xmlns:a16="http://schemas.microsoft.com/office/drawing/2014/main" id="{524A5124-D864-460C-A746-34A1610CF877}"/>
              </a:ext>
            </a:extLst>
          </p:cNvPr>
          <p:cNvSpPr txBox="1"/>
          <p:nvPr/>
        </p:nvSpPr>
        <p:spPr>
          <a:xfrm>
            <a:off x="1729523" y="6126481"/>
            <a:ext cx="213161" cy="343620"/>
          </a:xfrm>
          <a:prstGeom prst="rect">
            <a:avLst/>
          </a:prstGeom>
          <a:solidFill>
            <a:schemeClr val="accent2">
              <a:lumMod val="60000"/>
              <a:lumOff val="40000"/>
            </a:schemeClr>
          </a:solidFill>
        </p:spPr>
        <p:txBody>
          <a:bodyPr wrap="square" rtlCol="0">
            <a:spAutoFit/>
          </a:bodyPr>
          <a:lstStyle>
            <a:defPPr>
              <a:defRPr lang="en-US"/>
            </a:defPPr>
            <a:lvl1pPr defTabSz="914224">
              <a:defRPr>
                <a:solidFill>
                  <a:prstClr val="black"/>
                </a:solidFill>
                <a:latin typeface="Segoe UI"/>
              </a:defRPr>
            </a:lvl1pPr>
          </a:lstStyle>
          <a:p>
            <a:endParaRPr lang="en-US" sz="1633"/>
          </a:p>
        </p:txBody>
      </p:sp>
      <p:cxnSp>
        <p:nvCxnSpPr>
          <p:cNvPr id="194" name="Straight Connector 193">
            <a:extLst>
              <a:ext uri="{FF2B5EF4-FFF2-40B4-BE49-F238E27FC236}">
                <a16:creationId xmlns:a16="http://schemas.microsoft.com/office/drawing/2014/main" id="{3523663D-24EB-4782-B473-45EE8459DBE2}"/>
              </a:ext>
            </a:extLst>
          </p:cNvPr>
          <p:cNvCxnSpPr>
            <a:cxnSpLocks/>
            <a:stCxn id="121" idx="2"/>
            <a:endCxn id="152" idx="1"/>
          </p:cNvCxnSpPr>
          <p:nvPr/>
        </p:nvCxnSpPr>
        <p:spPr>
          <a:xfrm>
            <a:off x="1829544" y="2880079"/>
            <a:ext cx="242006" cy="2746377"/>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337D68DC-1DB6-48A4-98F5-01C03168F871}"/>
              </a:ext>
            </a:extLst>
          </p:cNvPr>
          <p:cNvCxnSpPr>
            <a:cxnSpLocks/>
            <a:stCxn id="152" idx="1"/>
          </p:cNvCxnSpPr>
          <p:nvPr/>
        </p:nvCxnSpPr>
        <p:spPr>
          <a:xfrm flipH="1">
            <a:off x="1716810" y="5626456"/>
            <a:ext cx="354740" cy="755573"/>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B99D3F0-A838-4556-890C-97CFBE52B7EA}"/>
              </a:ext>
            </a:extLst>
          </p:cNvPr>
          <p:cNvCxnSpPr>
            <a:cxnSpLocks/>
            <a:stCxn id="17" idx="2"/>
          </p:cNvCxnSpPr>
          <p:nvPr/>
        </p:nvCxnSpPr>
        <p:spPr>
          <a:xfrm>
            <a:off x="3816832" y="2154107"/>
            <a:ext cx="320149" cy="2573383"/>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AF7BBCB6-7E4B-4D0C-85C0-40581F5E89EB}"/>
              </a:ext>
            </a:extLst>
          </p:cNvPr>
          <p:cNvCxnSpPr>
            <a:cxnSpLocks/>
            <a:stCxn id="21" idx="0"/>
          </p:cNvCxnSpPr>
          <p:nvPr/>
        </p:nvCxnSpPr>
        <p:spPr>
          <a:xfrm flipH="1">
            <a:off x="1935973" y="2536459"/>
            <a:ext cx="247302" cy="180587"/>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1" name="BulletBoxLeft">
            <a:extLst>
              <a:ext uri="{FF2B5EF4-FFF2-40B4-BE49-F238E27FC236}">
                <a16:creationId xmlns:a16="http://schemas.microsoft.com/office/drawing/2014/main" id="{93A759F2-B528-4288-B90E-734DEDE22C70}"/>
              </a:ext>
            </a:extLst>
          </p:cNvPr>
          <p:cNvSpPr txBox="1"/>
          <p:nvPr/>
        </p:nvSpPr>
        <p:spPr>
          <a:xfrm>
            <a:off x="2076694" y="2536459"/>
            <a:ext cx="213161" cy="343620"/>
          </a:xfrm>
          <a:prstGeom prst="rect">
            <a:avLst/>
          </a:prstGeom>
          <a:solidFill>
            <a:srgbClr val="7030A0"/>
          </a:solidFill>
        </p:spPr>
        <p:txBody>
          <a:bodyPr wrap="square" rtlCol="0">
            <a:spAutoFit/>
          </a:bodyPr>
          <a:lstStyle/>
          <a:p>
            <a:pPr defTabSz="829384">
              <a:defRPr/>
            </a:pPr>
            <a:endParaRPr lang="en-US" sz="1633">
              <a:solidFill>
                <a:prstClr val="black"/>
              </a:solidFill>
              <a:latin typeface="Segoe UI"/>
            </a:endParaRPr>
          </a:p>
        </p:txBody>
      </p:sp>
      <p:cxnSp>
        <p:nvCxnSpPr>
          <p:cNvPr id="209" name="Straight Connector 208">
            <a:extLst>
              <a:ext uri="{FF2B5EF4-FFF2-40B4-BE49-F238E27FC236}">
                <a16:creationId xmlns:a16="http://schemas.microsoft.com/office/drawing/2014/main" id="{6F225D4F-2123-4548-8990-5A03FDDD71E3}"/>
              </a:ext>
            </a:extLst>
          </p:cNvPr>
          <p:cNvCxnSpPr>
            <a:cxnSpLocks/>
            <a:stCxn id="93" idx="2"/>
            <a:endCxn id="142" idx="1"/>
          </p:cNvCxnSpPr>
          <p:nvPr/>
        </p:nvCxnSpPr>
        <p:spPr>
          <a:xfrm>
            <a:off x="6024763" y="4989970"/>
            <a:ext cx="360875" cy="1304213"/>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3FD8D3A9-8266-4AF4-8F0B-1C50BD7EA7BC}"/>
              </a:ext>
            </a:extLst>
          </p:cNvPr>
          <p:cNvCxnSpPr>
            <a:cxnSpLocks/>
            <a:stCxn id="156" idx="0"/>
          </p:cNvCxnSpPr>
          <p:nvPr/>
        </p:nvCxnSpPr>
        <p:spPr>
          <a:xfrm flipV="1">
            <a:off x="3813955" y="4844105"/>
            <a:ext cx="377007" cy="1315437"/>
          </a:xfrm>
          <a:prstGeom prst="line">
            <a:avLst/>
          </a:prstGeom>
          <a:ln w="25400">
            <a:solidFill>
              <a:srgbClr val="7030A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64827CB-4014-7F2C-06E1-B5ADF5921E10}"/>
              </a:ext>
            </a:extLst>
          </p:cNvPr>
          <p:cNvSpPr txBox="1"/>
          <p:nvPr/>
        </p:nvSpPr>
        <p:spPr>
          <a:xfrm>
            <a:off x="11732231" y="3318209"/>
            <a:ext cx="461665" cy="1337867"/>
          </a:xfrm>
          <a:prstGeom prst="rect">
            <a:avLst/>
          </a:prstGeom>
          <a:noFill/>
        </p:spPr>
        <p:txBody>
          <a:bodyPr vert="vert" wrap="none" rtlCol="0">
            <a:spAutoFit/>
          </a:bodyPr>
          <a:lstStyle/>
          <a:p>
            <a:r>
              <a:rPr lang="en-GB" dirty="0">
                <a:solidFill>
                  <a:srgbClr val="FF0000"/>
                </a:solidFill>
              </a:rPr>
              <a:t>Demand Side</a:t>
            </a:r>
          </a:p>
        </p:txBody>
      </p:sp>
      <p:sp>
        <p:nvSpPr>
          <p:cNvPr id="11" name="TextBox 10">
            <a:extLst>
              <a:ext uri="{FF2B5EF4-FFF2-40B4-BE49-F238E27FC236}">
                <a16:creationId xmlns:a16="http://schemas.microsoft.com/office/drawing/2014/main" id="{FF617595-387D-1C7C-1026-32F30AFC34F0}"/>
              </a:ext>
            </a:extLst>
          </p:cNvPr>
          <p:cNvSpPr txBox="1"/>
          <p:nvPr/>
        </p:nvSpPr>
        <p:spPr>
          <a:xfrm>
            <a:off x="53948" y="3459450"/>
            <a:ext cx="461665" cy="1915979"/>
          </a:xfrm>
          <a:prstGeom prst="rect">
            <a:avLst/>
          </a:prstGeom>
          <a:noFill/>
        </p:spPr>
        <p:txBody>
          <a:bodyPr vert="vert" wrap="square" rtlCol="0">
            <a:spAutoFit/>
          </a:bodyPr>
          <a:lstStyle/>
          <a:p>
            <a:r>
              <a:rPr lang="en-GB" dirty="0">
                <a:solidFill>
                  <a:srgbClr val="FF0000"/>
                </a:solidFill>
              </a:rPr>
              <a:t>Supply Side</a:t>
            </a:r>
          </a:p>
        </p:txBody>
      </p:sp>
    </p:spTree>
    <p:extLst>
      <p:ext uri="{BB962C8B-B14F-4D97-AF65-F5344CB8AC3E}">
        <p14:creationId xmlns:p14="http://schemas.microsoft.com/office/powerpoint/2010/main" val="325067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63FDB2-ED5E-40EB-8CA4-7FAF0C6F180B}"/>
              </a:ext>
            </a:extLst>
          </p:cNvPr>
          <p:cNvPicPr>
            <a:picLocks noChangeAspect="1"/>
          </p:cNvPicPr>
          <p:nvPr/>
        </p:nvPicPr>
        <p:blipFill>
          <a:blip r:embed="rId3"/>
          <a:stretch>
            <a:fillRect/>
          </a:stretch>
        </p:blipFill>
        <p:spPr>
          <a:xfrm>
            <a:off x="131578" y="90"/>
            <a:ext cx="9907392" cy="6857820"/>
          </a:xfrm>
          <a:prstGeom prst="rect">
            <a:avLst/>
          </a:prstGeom>
          <a:solidFill>
            <a:srgbClr val="FFFF00"/>
          </a:solidFill>
        </p:spPr>
      </p:pic>
      <p:sp>
        <p:nvSpPr>
          <p:cNvPr id="7" name="TextBox 6">
            <a:extLst>
              <a:ext uri="{FF2B5EF4-FFF2-40B4-BE49-F238E27FC236}">
                <a16:creationId xmlns:a16="http://schemas.microsoft.com/office/drawing/2014/main" id="{E2B0A484-18DF-4782-9826-40D6179CC17E}"/>
              </a:ext>
            </a:extLst>
          </p:cNvPr>
          <p:cNvSpPr txBox="1"/>
          <p:nvPr/>
        </p:nvSpPr>
        <p:spPr>
          <a:xfrm>
            <a:off x="10073187" y="341110"/>
            <a:ext cx="2044492" cy="1026134"/>
          </a:xfrm>
          <a:prstGeom prst="rect">
            <a:avLst/>
          </a:prstGeom>
          <a:noFill/>
        </p:spPr>
        <p:txBody>
          <a:bodyPr wrap="square" lIns="82951" tIns="41475" rIns="82951" bIns="41475" rtlCol="0" anchor="t">
            <a:spAutoFit/>
          </a:bodyPr>
          <a:lstStyle/>
          <a:p>
            <a:r>
              <a:rPr lang="en-GB" sz="1633" b="1" dirty="0"/>
              <a:t>Notes</a:t>
            </a:r>
          </a:p>
          <a:p>
            <a:endParaRPr lang="en-GB" sz="1633" dirty="0"/>
          </a:p>
          <a:p>
            <a:pPr marL="259080" indent="-259080">
              <a:buFont typeface="Arial" panose="020B0604020202020204" pitchFamily="34" charset="0"/>
              <a:buChar char="•"/>
            </a:pPr>
            <a:endParaRPr lang="en-GB" sz="1225" dirty="0">
              <a:ea typeface="Calibri" panose="020F0502020204030204"/>
              <a:cs typeface="Calibri" panose="020F0502020204030204"/>
            </a:endParaRPr>
          </a:p>
          <a:p>
            <a:endParaRPr lang="en-GB" sz="1633" dirty="0"/>
          </a:p>
        </p:txBody>
      </p:sp>
      <p:sp>
        <p:nvSpPr>
          <p:cNvPr id="8" name="TextBox 7">
            <a:extLst>
              <a:ext uri="{FF2B5EF4-FFF2-40B4-BE49-F238E27FC236}">
                <a16:creationId xmlns:a16="http://schemas.microsoft.com/office/drawing/2014/main" id="{D4727504-8D88-42D8-BA3C-4F0639518E93}"/>
              </a:ext>
            </a:extLst>
          </p:cNvPr>
          <p:cNvSpPr txBox="1"/>
          <p:nvPr/>
        </p:nvSpPr>
        <p:spPr>
          <a:xfrm>
            <a:off x="9277352" y="2882603"/>
            <a:ext cx="887064" cy="427553"/>
          </a:xfrm>
          <a:prstGeom prst="rect">
            <a:avLst/>
          </a:prstGeom>
          <a:solidFill>
            <a:schemeClr val="bg2">
              <a:lumMod val="50000"/>
            </a:schemeClr>
          </a:solidFill>
          <a:ln>
            <a:solidFill>
              <a:schemeClr val="tx2"/>
            </a:solidFill>
          </a:ln>
        </p:spPr>
        <p:txBody>
          <a:bodyPr wrap="square" rtlCol="0">
            <a:spAutoFit/>
          </a:bodyPr>
          <a:lstStyle/>
          <a:p>
            <a:r>
              <a:rPr lang="en-GB" sz="1089" dirty="0">
                <a:solidFill>
                  <a:schemeClr val="bg1"/>
                </a:solidFill>
              </a:rPr>
              <a:t>Reduce Risk “RWA”</a:t>
            </a:r>
          </a:p>
        </p:txBody>
      </p:sp>
      <p:sp>
        <p:nvSpPr>
          <p:cNvPr id="9" name="TextBox 8">
            <a:extLst>
              <a:ext uri="{FF2B5EF4-FFF2-40B4-BE49-F238E27FC236}">
                <a16:creationId xmlns:a16="http://schemas.microsoft.com/office/drawing/2014/main" id="{A2910806-483B-40B3-93F1-8C8BB1E53755}"/>
              </a:ext>
            </a:extLst>
          </p:cNvPr>
          <p:cNvSpPr txBox="1"/>
          <p:nvPr/>
        </p:nvSpPr>
        <p:spPr>
          <a:xfrm>
            <a:off x="7797724" y="2751032"/>
            <a:ext cx="1075886" cy="595163"/>
          </a:xfrm>
          <a:prstGeom prst="rect">
            <a:avLst/>
          </a:prstGeom>
          <a:solidFill>
            <a:schemeClr val="bg2">
              <a:lumMod val="50000"/>
            </a:schemeClr>
          </a:solidFill>
          <a:ln>
            <a:solidFill>
              <a:schemeClr val="tx2"/>
            </a:solidFill>
          </a:ln>
        </p:spPr>
        <p:txBody>
          <a:bodyPr wrap="square" rtlCol="0">
            <a:spAutoFit/>
          </a:bodyPr>
          <a:lstStyle/>
          <a:p>
            <a:r>
              <a:rPr lang="en-GB" sz="1089" dirty="0">
                <a:solidFill>
                  <a:schemeClr val="bg1"/>
                </a:solidFill>
              </a:rPr>
              <a:t>Be compliant with regulation “stress test”</a:t>
            </a:r>
          </a:p>
        </p:txBody>
      </p:sp>
      <p:sp>
        <p:nvSpPr>
          <p:cNvPr id="10" name="TextBox 9">
            <a:extLst>
              <a:ext uri="{FF2B5EF4-FFF2-40B4-BE49-F238E27FC236}">
                <a16:creationId xmlns:a16="http://schemas.microsoft.com/office/drawing/2014/main" id="{81B184FF-70D0-434B-888F-468C0E5A93C2}"/>
              </a:ext>
            </a:extLst>
          </p:cNvPr>
          <p:cNvSpPr txBox="1"/>
          <p:nvPr/>
        </p:nvSpPr>
        <p:spPr>
          <a:xfrm>
            <a:off x="8045570" y="4127893"/>
            <a:ext cx="855467" cy="259943"/>
          </a:xfrm>
          <a:prstGeom prst="rect">
            <a:avLst/>
          </a:prstGeom>
          <a:solidFill>
            <a:schemeClr val="bg2">
              <a:lumMod val="50000"/>
            </a:schemeClr>
          </a:solidFill>
        </p:spPr>
        <p:txBody>
          <a:bodyPr wrap="square" rtlCol="0">
            <a:spAutoFit/>
          </a:bodyPr>
          <a:lstStyle/>
          <a:p>
            <a:r>
              <a:rPr lang="en-GB" sz="1089" dirty="0">
                <a:solidFill>
                  <a:schemeClr val="bg1"/>
                </a:solidFill>
              </a:rPr>
              <a:t>Lower costs</a:t>
            </a:r>
          </a:p>
        </p:txBody>
      </p:sp>
      <p:sp>
        <p:nvSpPr>
          <p:cNvPr id="11" name="TextBox 10">
            <a:extLst>
              <a:ext uri="{FF2B5EF4-FFF2-40B4-BE49-F238E27FC236}">
                <a16:creationId xmlns:a16="http://schemas.microsoft.com/office/drawing/2014/main" id="{56F11234-36C9-4614-B421-4EDABB16AAA5}"/>
              </a:ext>
            </a:extLst>
          </p:cNvPr>
          <p:cNvSpPr txBox="1"/>
          <p:nvPr/>
        </p:nvSpPr>
        <p:spPr>
          <a:xfrm>
            <a:off x="7806364" y="3662956"/>
            <a:ext cx="855467" cy="253916"/>
          </a:xfrm>
          <a:prstGeom prst="rect">
            <a:avLst/>
          </a:prstGeom>
          <a:solidFill>
            <a:schemeClr val="bg2">
              <a:lumMod val="50000"/>
            </a:schemeClr>
          </a:solidFill>
          <a:ln>
            <a:solidFill>
              <a:schemeClr val="tx2"/>
            </a:solidFill>
          </a:ln>
        </p:spPr>
        <p:txBody>
          <a:bodyPr wrap="square" lIns="91440" tIns="45720" rIns="91440" bIns="45720" rtlCol="0" anchor="t">
            <a:spAutoFit/>
          </a:bodyPr>
          <a:lstStyle/>
          <a:p>
            <a:endParaRPr lang="en-GB" sz="1050" dirty="0">
              <a:solidFill>
                <a:schemeClr val="bg1"/>
              </a:solidFill>
              <a:ea typeface="Calibri"/>
              <a:cs typeface="Calibri"/>
            </a:endParaRPr>
          </a:p>
        </p:txBody>
      </p:sp>
      <p:sp>
        <p:nvSpPr>
          <p:cNvPr id="12" name="TextBox 11">
            <a:extLst>
              <a:ext uri="{FF2B5EF4-FFF2-40B4-BE49-F238E27FC236}">
                <a16:creationId xmlns:a16="http://schemas.microsoft.com/office/drawing/2014/main" id="{06475C84-4C80-4AB3-986D-63E439348DE3}"/>
              </a:ext>
            </a:extLst>
          </p:cNvPr>
          <p:cNvSpPr txBox="1"/>
          <p:nvPr/>
        </p:nvSpPr>
        <p:spPr>
          <a:xfrm>
            <a:off x="9034796" y="4333750"/>
            <a:ext cx="1056652" cy="253916"/>
          </a:xfrm>
          <a:prstGeom prst="rect">
            <a:avLst/>
          </a:prstGeom>
          <a:solidFill>
            <a:schemeClr val="bg2">
              <a:lumMod val="50000"/>
            </a:schemeClr>
          </a:solidFill>
          <a:ln>
            <a:solidFill>
              <a:schemeClr val="tx2"/>
            </a:solidFill>
          </a:ln>
        </p:spPr>
        <p:txBody>
          <a:bodyPr wrap="square" lIns="91440" tIns="45720" rIns="91440" bIns="45720" rtlCol="0" anchor="t">
            <a:spAutoFit/>
          </a:bodyPr>
          <a:lstStyle/>
          <a:p>
            <a:endParaRPr lang="en-GB" sz="1050" dirty="0">
              <a:solidFill>
                <a:schemeClr val="bg1"/>
              </a:solidFill>
              <a:ea typeface="Calibri"/>
              <a:cs typeface="Calibri"/>
            </a:endParaRPr>
          </a:p>
        </p:txBody>
      </p:sp>
      <p:sp>
        <p:nvSpPr>
          <p:cNvPr id="13" name="TextBox 12">
            <a:extLst>
              <a:ext uri="{FF2B5EF4-FFF2-40B4-BE49-F238E27FC236}">
                <a16:creationId xmlns:a16="http://schemas.microsoft.com/office/drawing/2014/main" id="{215490F7-47A4-4635-B61A-E457EBABCE81}"/>
              </a:ext>
            </a:extLst>
          </p:cNvPr>
          <p:cNvSpPr txBox="1"/>
          <p:nvPr/>
        </p:nvSpPr>
        <p:spPr>
          <a:xfrm>
            <a:off x="9123628" y="3708111"/>
            <a:ext cx="855467" cy="253916"/>
          </a:xfrm>
          <a:prstGeom prst="rect">
            <a:avLst/>
          </a:prstGeom>
          <a:solidFill>
            <a:schemeClr val="bg2">
              <a:lumMod val="50000"/>
            </a:schemeClr>
          </a:solidFill>
          <a:ln>
            <a:solidFill>
              <a:schemeClr val="tx2"/>
            </a:solidFill>
          </a:ln>
        </p:spPr>
        <p:txBody>
          <a:bodyPr wrap="square" lIns="91440" tIns="45720" rIns="91440" bIns="45720" rtlCol="0" anchor="t">
            <a:spAutoFit/>
          </a:bodyPr>
          <a:lstStyle/>
          <a:p>
            <a:endParaRPr lang="en-GB" sz="1050" dirty="0">
              <a:solidFill>
                <a:schemeClr val="bg1"/>
              </a:solidFill>
              <a:ea typeface="Calibri"/>
              <a:cs typeface="Calibri"/>
            </a:endParaRPr>
          </a:p>
        </p:txBody>
      </p:sp>
      <p:sp>
        <p:nvSpPr>
          <p:cNvPr id="14" name="TextBox 13">
            <a:extLst>
              <a:ext uri="{FF2B5EF4-FFF2-40B4-BE49-F238E27FC236}">
                <a16:creationId xmlns:a16="http://schemas.microsoft.com/office/drawing/2014/main" id="{F788EB99-5A94-43CD-8C9F-A1647B40FF72}"/>
              </a:ext>
            </a:extLst>
          </p:cNvPr>
          <p:cNvSpPr txBox="1"/>
          <p:nvPr/>
        </p:nvSpPr>
        <p:spPr>
          <a:xfrm>
            <a:off x="6705727" y="2891360"/>
            <a:ext cx="993677" cy="427553"/>
          </a:xfrm>
          <a:prstGeom prst="rect">
            <a:avLst/>
          </a:prstGeom>
          <a:solidFill>
            <a:schemeClr val="bg1">
              <a:lumMod val="85000"/>
            </a:schemeClr>
          </a:solidFill>
          <a:ln>
            <a:solidFill>
              <a:schemeClr val="tx2"/>
            </a:solidFill>
          </a:ln>
        </p:spPr>
        <p:txBody>
          <a:bodyPr wrap="square" rtlCol="0">
            <a:spAutoFit/>
          </a:bodyPr>
          <a:lstStyle/>
          <a:p>
            <a:r>
              <a:rPr lang="en-GB" sz="1089" dirty="0"/>
              <a:t>Faster time to market</a:t>
            </a:r>
          </a:p>
        </p:txBody>
      </p:sp>
      <p:sp>
        <p:nvSpPr>
          <p:cNvPr id="15" name="TextBox 14">
            <a:extLst>
              <a:ext uri="{FF2B5EF4-FFF2-40B4-BE49-F238E27FC236}">
                <a16:creationId xmlns:a16="http://schemas.microsoft.com/office/drawing/2014/main" id="{FCD13D53-F28D-4C37-A39D-420480F43819}"/>
              </a:ext>
            </a:extLst>
          </p:cNvPr>
          <p:cNvSpPr txBox="1"/>
          <p:nvPr/>
        </p:nvSpPr>
        <p:spPr>
          <a:xfrm>
            <a:off x="5291447" y="1935893"/>
            <a:ext cx="993677" cy="253916"/>
          </a:xfrm>
          <a:prstGeom prst="rect">
            <a:avLst/>
          </a:prstGeom>
          <a:solidFill>
            <a:schemeClr val="bg1">
              <a:lumMod val="85000"/>
            </a:schemeClr>
          </a:solidFill>
          <a:ln>
            <a:solidFill>
              <a:schemeClr val="tx2"/>
            </a:solidFill>
          </a:ln>
        </p:spPr>
        <p:txBody>
          <a:bodyPr wrap="square" lIns="91440" tIns="45720" rIns="91440" bIns="45720" rtlCol="0" anchor="t">
            <a:spAutoFit/>
          </a:bodyPr>
          <a:lstStyle/>
          <a:p>
            <a:endParaRPr lang="en-GB" sz="1050" dirty="0">
              <a:ea typeface="Calibri"/>
              <a:cs typeface="Calibri"/>
            </a:endParaRPr>
          </a:p>
        </p:txBody>
      </p:sp>
      <p:sp>
        <p:nvSpPr>
          <p:cNvPr id="16" name="TextBox 15">
            <a:extLst>
              <a:ext uri="{FF2B5EF4-FFF2-40B4-BE49-F238E27FC236}">
                <a16:creationId xmlns:a16="http://schemas.microsoft.com/office/drawing/2014/main" id="{B5922D27-9274-4D7C-B754-D1774DFC26DD}"/>
              </a:ext>
            </a:extLst>
          </p:cNvPr>
          <p:cNvSpPr txBox="1"/>
          <p:nvPr/>
        </p:nvSpPr>
        <p:spPr>
          <a:xfrm>
            <a:off x="7455804" y="1526875"/>
            <a:ext cx="993677" cy="595163"/>
          </a:xfrm>
          <a:prstGeom prst="rect">
            <a:avLst/>
          </a:prstGeom>
          <a:solidFill>
            <a:schemeClr val="bg1">
              <a:lumMod val="85000"/>
            </a:schemeClr>
          </a:solidFill>
          <a:ln>
            <a:solidFill>
              <a:schemeClr val="tx2"/>
            </a:solidFill>
          </a:ln>
        </p:spPr>
        <p:txBody>
          <a:bodyPr wrap="square" rtlCol="0">
            <a:spAutoFit/>
          </a:bodyPr>
          <a:lstStyle/>
          <a:p>
            <a:r>
              <a:rPr lang="en-GB" sz="1089" dirty="0"/>
              <a:t>Improve efficiency  at lower cost</a:t>
            </a:r>
          </a:p>
        </p:txBody>
      </p:sp>
      <p:sp>
        <p:nvSpPr>
          <p:cNvPr id="17" name="TextBox 16">
            <a:extLst>
              <a:ext uri="{FF2B5EF4-FFF2-40B4-BE49-F238E27FC236}">
                <a16:creationId xmlns:a16="http://schemas.microsoft.com/office/drawing/2014/main" id="{ACA9969C-57A8-4A95-B7E9-049DA4CDBC3E}"/>
              </a:ext>
            </a:extLst>
          </p:cNvPr>
          <p:cNvSpPr txBox="1"/>
          <p:nvPr/>
        </p:nvSpPr>
        <p:spPr>
          <a:xfrm>
            <a:off x="7171107" y="2187176"/>
            <a:ext cx="993677" cy="427553"/>
          </a:xfrm>
          <a:prstGeom prst="rect">
            <a:avLst/>
          </a:prstGeom>
          <a:solidFill>
            <a:schemeClr val="bg1">
              <a:lumMod val="85000"/>
            </a:schemeClr>
          </a:solidFill>
          <a:ln>
            <a:solidFill>
              <a:schemeClr val="tx2"/>
            </a:solidFill>
          </a:ln>
        </p:spPr>
        <p:txBody>
          <a:bodyPr wrap="square" rtlCol="0">
            <a:spAutoFit/>
          </a:bodyPr>
          <a:lstStyle/>
          <a:p>
            <a:r>
              <a:rPr lang="en-GB" sz="1089" dirty="0"/>
              <a:t>Sustainable Growth</a:t>
            </a:r>
          </a:p>
        </p:txBody>
      </p:sp>
      <p:sp>
        <p:nvSpPr>
          <p:cNvPr id="18" name="TextBox 17">
            <a:extLst>
              <a:ext uri="{FF2B5EF4-FFF2-40B4-BE49-F238E27FC236}">
                <a16:creationId xmlns:a16="http://schemas.microsoft.com/office/drawing/2014/main" id="{AFC78C64-B3CE-4B50-AB00-04B0F70383E8}"/>
              </a:ext>
            </a:extLst>
          </p:cNvPr>
          <p:cNvSpPr txBox="1"/>
          <p:nvPr/>
        </p:nvSpPr>
        <p:spPr>
          <a:xfrm>
            <a:off x="5674669" y="2941570"/>
            <a:ext cx="993677" cy="762773"/>
          </a:xfrm>
          <a:prstGeom prst="rect">
            <a:avLst/>
          </a:prstGeom>
          <a:solidFill>
            <a:schemeClr val="bg1">
              <a:lumMod val="85000"/>
            </a:schemeClr>
          </a:solidFill>
          <a:ln>
            <a:solidFill>
              <a:schemeClr val="tx2"/>
            </a:solidFill>
          </a:ln>
        </p:spPr>
        <p:txBody>
          <a:bodyPr wrap="square" rtlCol="0">
            <a:spAutoFit/>
          </a:bodyPr>
          <a:lstStyle/>
          <a:p>
            <a:r>
              <a:rPr lang="en-GB" sz="1089" dirty="0"/>
              <a:t>Ability to adapt to market changes</a:t>
            </a:r>
          </a:p>
        </p:txBody>
      </p:sp>
      <p:sp>
        <p:nvSpPr>
          <p:cNvPr id="19" name="TextBox 18">
            <a:extLst>
              <a:ext uri="{FF2B5EF4-FFF2-40B4-BE49-F238E27FC236}">
                <a16:creationId xmlns:a16="http://schemas.microsoft.com/office/drawing/2014/main" id="{6B1C3119-CD22-4D52-BEF0-697BB098A614}"/>
              </a:ext>
            </a:extLst>
          </p:cNvPr>
          <p:cNvSpPr txBox="1"/>
          <p:nvPr/>
        </p:nvSpPr>
        <p:spPr>
          <a:xfrm>
            <a:off x="6269519" y="1320400"/>
            <a:ext cx="993677" cy="762773"/>
          </a:xfrm>
          <a:prstGeom prst="rect">
            <a:avLst/>
          </a:prstGeom>
          <a:solidFill>
            <a:schemeClr val="bg1">
              <a:lumMod val="85000"/>
            </a:schemeClr>
          </a:solidFill>
          <a:ln>
            <a:solidFill>
              <a:schemeClr val="tx2"/>
            </a:solidFill>
          </a:ln>
        </p:spPr>
        <p:txBody>
          <a:bodyPr wrap="square" rtlCol="0">
            <a:spAutoFit/>
          </a:bodyPr>
          <a:lstStyle/>
          <a:p>
            <a:r>
              <a:rPr lang="en-GB" sz="1089" dirty="0"/>
              <a:t>Attract the best staff via appealing offerings</a:t>
            </a:r>
          </a:p>
        </p:txBody>
      </p:sp>
      <p:sp>
        <p:nvSpPr>
          <p:cNvPr id="20" name="TextBox 19">
            <a:extLst>
              <a:ext uri="{FF2B5EF4-FFF2-40B4-BE49-F238E27FC236}">
                <a16:creationId xmlns:a16="http://schemas.microsoft.com/office/drawing/2014/main" id="{8D0A6022-F7B0-425B-972C-C62E8D890130}"/>
              </a:ext>
            </a:extLst>
          </p:cNvPr>
          <p:cNvSpPr txBox="1"/>
          <p:nvPr/>
        </p:nvSpPr>
        <p:spPr>
          <a:xfrm>
            <a:off x="4920839" y="3914947"/>
            <a:ext cx="993677" cy="253916"/>
          </a:xfrm>
          <a:prstGeom prst="rect">
            <a:avLst/>
          </a:prstGeom>
          <a:solidFill>
            <a:schemeClr val="bg2">
              <a:lumMod val="75000"/>
            </a:schemeClr>
          </a:solidFill>
          <a:ln>
            <a:solidFill>
              <a:schemeClr val="tx2"/>
            </a:solidFill>
          </a:ln>
        </p:spPr>
        <p:txBody>
          <a:bodyPr wrap="square" lIns="91440" tIns="45720" rIns="91440" bIns="45720" rtlCol="0" anchor="t">
            <a:spAutoFit/>
          </a:bodyPr>
          <a:lstStyle/>
          <a:p>
            <a:endParaRPr lang="en-GB" sz="1050" dirty="0">
              <a:ea typeface="Calibri"/>
              <a:cs typeface="Calibri"/>
            </a:endParaRPr>
          </a:p>
        </p:txBody>
      </p:sp>
      <p:sp>
        <p:nvSpPr>
          <p:cNvPr id="21" name="TextBox 20">
            <a:extLst>
              <a:ext uri="{FF2B5EF4-FFF2-40B4-BE49-F238E27FC236}">
                <a16:creationId xmlns:a16="http://schemas.microsoft.com/office/drawing/2014/main" id="{0FC10521-19F9-4478-A19B-EDC9C6BFC5AA}"/>
              </a:ext>
            </a:extLst>
          </p:cNvPr>
          <p:cNvSpPr txBox="1"/>
          <p:nvPr/>
        </p:nvSpPr>
        <p:spPr>
          <a:xfrm>
            <a:off x="6015591" y="3877657"/>
            <a:ext cx="993677" cy="253916"/>
          </a:xfrm>
          <a:prstGeom prst="rect">
            <a:avLst/>
          </a:prstGeom>
          <a:solidFill>
            <a:schemeClr val="bg2">
              <a:lumMod val="75000"/>
            </a:schemeClr>
          </a:solidFill>
          <a:ln>
            <a:solidFill>
              <a:schemeClr val="tx2"/>
            </a:solidFill>
          </a:ln>
        </p:spPr>
        <p:txBody>
          <a:bodyPr wrap="square" lIns="91440" tIns="45720" rIns="91440" bIns="45720" rtlCol="0" anchor="t">
            <a:spAutoFit/>
          </a:bodyPr>
          <a:lstStyle/>
          <a:p>
            <a:endParaRPr lang="en-GB" sz="1050" dirty="0">
              <a:ea typeface="Calibri"/>
              <a:cs typeface="Calibri"/>
            </a:endParaRPr>
          </a:p>
        </p:txBody>
      </p:sp>
      <p:sp>
        <p:nvSpPr>
          <p:cNvPr id="22" name="TextBox 21">
            <a:extLst>
              <a:ext uri="{FF2B5EF4-FFF2-40B4-BE49-F238E27FC236}">
                <a16:creationId xmlns:a16="http://schemas.microsoft.com/office/drawing/2014/main" id="{3763B60E-CFA0-4077-A0BC-A308469CF2CF}"/>
              </a:ext>
            </a:extLst>
          </p:cNvPr>
          <p:cNvSpPr txBox="1"/>
          <p:nvPr/>
        </p:nvSpPr>
        <p:spPr>
          <a:xfrm>
            <a:off x="7045099" y="4357151"/>
            <a:ext cx="993677" cy="595163"/>
          </a:xfrm>
          <a:prstGeom prst="rect">
            <a:avLst/>
          </a:prstGeom>
          <a:solidFill>
            <a:schemeClr val="bg2">
              <a:lumMod val="75000"/>
            </a:schemeClr>
          </a:solidFill>
          <a:ln>
            <a:solidFill>
              <a:schemeClr val="tx2"/>
            </a:solidFill>
          </a:ln>
        </p:spPr>
        <p:txBody>
          <a:bodyPr wrap="square" rtlCol="0">
            <a:spAutoFit/>
          </a:bodyPr>
          <a:lstStyle/>
          <a:p>
            <a:r>
              <a:rPr lang="en-GB" sz="1089" dirty="0"/>
              <a:t>Legacy operations and processes</a:t>
            </a:r>
          </a:p>
        </p:txBody>
      </p:sp>
      <p:sp>
        <p:nvSpPr>
          <p:cNvPr id="23" name="TextBox 22">
            <a:extLst>
              <a:ext uri="{FF2B5EF4-FFF2-40B4-BE49-F238E27FC236}">
                <a16:creationId xmlns:a16="http://schemas.microsoft.com/office/drawing/2014/main" id="{0DFA03FB-B7AA-4632-9414-18CEB4F24AA9}"/>
              </a:ext>
            </a:extLst>
          </p:cNvPr>
          <p:cNvSpPr txBox="1"/>
          <p:nvPr/>
        </p:nvSpPr>
        <p:spPr>
          <a:xfrm>
            <a:off x="5291447" y="4664333"/>
            <a:ext cx="993677" cy="930383"/>
          </a:xfrm>
          <a:prstGeom prst="rect">
            <a:avLst/>
          </a:prstGeom>
          <a:solidFill>
            <a:schemeClr val="bg2">
              <a:lumMod val="75000"/>
            </a:schemeClr>
          </a:solidFill>
          <a:ln>
            <a:solidFill>
              <a:schemeClr val="tx2"/>
            </a:solidFill>
          </a:ln>
        </p:spPr>
        <p:txBody>
          <a:bodyPr wrap="square" rtlCol="0">
            <a:spAutoFit/>
          </a:bodyPr>
          <a:lstStyle/>
          <a:p>
            <a:r>
              <a:rPr lang="en-GB" sz="1089" dirty="0"/>
              <a:t>No way to measure or manage biodiversity to aid decisions</a:t>
            </a:r>
          </a:p>
        </p:txBody>
      </p:sp>
      <p:sp>
        <p:nvSpPr>
          <p:cNvPr id="24" name="TextBox 23">
            <a:extLst>
              <a:ext uri="{FF2B5EF4-FFF2-40B4-BE49-F238E27FC236}">
                <a16:creationId xmlns:a16="http://schemas.microsoft.com/office/drawing/2014/main" id="{5C286C51-8BF4-41B6-AC53-D9620DC3EFE0}"/>
              </a:ext>
            </a:extLst>
          </p:cNvPr>
          <p:cNvSpPr txBox="1"/>
          <p:nvPr/>
        </p:nvSpPr>
        <p:spPr>
          <a:xfrm>
            <a:off x="6462126" y="5212329"/>
            <a:ext cx="1056651" cy="253916"/>
          </a:xfrm>
          <a:prstGeom prst="rect">
            <a:avLst/>
          </a:prstGeom>
          <a:solidFill>
            <a:schemeClr val="bg2">
              <a:lumMod val="75000"/>
            </a:schemeClr>
          </a:solidFill>
          <a:ln>
            <a:solidFill>
              <a:schemeClr val="tx2"/>
            </a:solidFill>
          </a:ln>
        </p:spPr>
        <p:txBody>
          <a:bodyPr wrap="square" lIns="91440" tIns="45720" rIns="91440" bIns="45720" rtlCol="0" anchor="t">
            <a:spAutoFit/>
          </a:bodyPr>
          <a:lstStyle/>
          <a:p>
            <a:endParaRPr lang="en-GB" sz="1050" dirty="0">
              <a:ea typeface="Calibri"/>
              <a:cs typeface="Calibri"/>
            </a:endParaRPr>
          </a:p>
        </p:txBody>
      </p:sp>
      <p:sp>
        <p:nvSpPr>
          <p:cNvPr id="5" name="TextBox 4">
            <a:extLst>
              <a:ext uri="{FF2B5EF4-FFF2-40B4-BE49-F238E27FC236}">
                <a16:creationId xmlns:a16="http://schemas.microsoft.com/office/drawing/2014/main" id="{5479B8D1-02D2-45F3-A04D-F46DB2C39DA9}"/>
              </a:ext>
            </a:extLst>
          </p:cNvPr>
          <p:cNvSpPr txBox="1"/>
          <p:nvPr/>
        </p:nvSpPr>
        <p:spPr>
          <a:xfrm>
            <a:off x="6285125" y="1032736"/>
            <a:ext cx="2613985" cy="343620"/>
          </a:xfrm>
          <a:prstGeom prst="rect">
            <a:avLst/>
          </a:prstGeom>
          <a:noFill/>
        </p:spPr>
        <p:txBody>
          <a:bodyPr wrap="none" rtlCol="0">
            <a:spAutoFit/>
          </a:bodyPr>
          <a:lstStyle/>
          <a:p>
            <a:r>
              <a:rPr lang="en-GB" sz="1633" dirty="0"/>
              <a:t>Banking and Capital Markets</a:t>
            </a:r>
          </a:p>
        </p:txBody>
      </p:sp>
      <p:sp>
        <p:nvSpPr>
          <p:cNvPr id="25" name="TextBox 24">
            <a:extLst>
              <a:ext uri="{FF2B5EF4-FFF2-40B4-BE49-F238E27FC236}">
                <a16:creationId xmlns:a16="http://schemas.microsoft.com/office/drawing/2014/main" id="{B798033C-926D-42F0-BD78-62DBC7275D9F}"/>
              </a:ext>
            </a:extLst>
          </p:cNvPr>
          <p:cNvSpPr txBox="1"/>
          <p:nvPr/>
        </p:nvSpPr>
        <p:spPr>
          <a:xfrm>
            <a:off x="7779948" y="5224332"/>
            <a:ext cx="993677" cy="253916"/>
          </a:xfrm>
          <a:prstGeom prst="rect">
            <a:avLst/>
          </a:prstGeom>
          <a:solidFill>
            <a:schemeClr val="bg2">
              <a:lumMod val="75000"/>
            </a:schemeClr>
          </a:solidFill>
          <a:ln>
            <a:solidFill>
              <a:schemeClr val="tx2"/>
            </a:solidFill>
          </a:ln>
        </p:spPr>
        <p:txBody>
          <a:bodyPr wrap="square" lIns="91440" tIns="45720" rIns="91440" bIns="45720" rtlCol="0" anchor="t">
            <a:spAutoFit/>
          </a:bodyPr>
          <a:lstStyle/>
          <a:p>
            <a:endParaRPr lang="en-GB" sz="1050" dirty="0">
              <a:ea typeface="Calibri"/>
              <a:cs typeface="Calibri"/>
            </a:endParaRPr>
          </a:p>
        </p:txBody>
      </p:sp>
      <p:sp>
        <p:nvSpPr>
          <p:cNvPr id="30" name="TextBox 29">
            <a:extLst>
              <a:ext uri="{FF2B5EF4-FFF2-40B4-BE49-F238E27FC236}">
                <a16:creationId xmlns:a16="http://schemas.microsoft.com/office/drawing/2014/main" id="{D3014C13-1DE3-4A34-8A1E-ECD736F0118A}"/>
              </a:ext>
            </a:extLst>
          </p:cNvPr>
          <p:cNvSpPr txBox="1"/>
          <p:nvPr/>
        </p:nvSpPr>
        <p:spPr>
          <a:xfrm>
            <a:off x="8790803" y="2037375"/>
            <a:ext cx="993677" cy="259943"/>
          </a:xfrm>
          <a:prstGeom prst="rect">
            <a:avLst/>
          </a:prstGeom>
          <a:solidFill>
            <a:schemeClr val="bg2">
              <a:lumMod val="50000"/>
            </a:schemeClr>
          </a:solidFill>
          <a:ln>
            <a:solidFill>
              <a:schemeClr val="tx2"/>
            </a:solidFill>
          </a:ln>
        </p:spPr>
        <p:txBody>
          <a:bodyPr wrap="square" lIns="91440" tIns="45720" rIns="91440" bIns="45720" rtlCol="0" anchor="t">
            <a:spAutoFit/>
          </a:bodyPr>
          <a:lstStyle/>
          <a:p>
            <a:endParaRPr lang="en-GB" sz="1089" dirty="0">
              <a:solidFill>
                <a:schemeClr val="bg1"/>
              </a:solidFill>
            </a:endParaRPr>
          </a:p>
        </p:txBody>
      </p:sp>
      <p:sp>
        <p:nvSpPr>
          <p:cNvPr id="31" name="Rectangle 30">
            <a:extLst>
              <a:ext uri="{FF2B5EF4-FFF2-40B4-BE49-F238E27FC236}">
                <a16:creationId xmlns:a16="http://schemas.microsoft.com/office/drawing/2014/main" id="{F480F17A-1378-409A-ACC0-B07E9C4F9590}"/>
              </a:ext>
            </a:extLst>
          </p:cNvPr>
          <p:cNvSpPr/>
          <p:nvPr/>
        </p:nvSpPr>
        <p:spPr>
          <a:xfrm>
            <a:off x="3155483" y="1615899"/>
            <a:ext cx="1455315" cy="691254"/>
          </a:xfrm>
          <a:prstGeom prst="rect">
            <a:avLst/>
          </a:prstGeom>
          <a:solidFill>
            <a:srgbClr val="FFFF00"/>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951" tIns="41475" rIns="82951" bIns="41475" rtlCol="0" anchor="ctr"/>
          <a:lstStyle/>
          <a:p>
            <a:pPr algn="ctr"/>
            <a:endParaRPr lang="en-GB" sz="1050" dirty="0">
              <a:solidFill>
                <a:schemeClr val="tx2">
                  <a:lumMod val="50000"/>
                </a:scheme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EFBE80EC-E9A6-4C55-9C26-9FEFE04E6642}"/>
              </a:ext>
            </a:extLst>
          </p:cNvPr>
          <p:cNvSpPr txBox="1"/>
          <p:nvPr/>
        </p:nvSpPr>
        <p:spPr>
          <a:xfrm>
            <a:off x="156621" y="2081903"/>
            <a:ext cx="1122000" cy="245343"/>
          </a:xfrm>
          <a:prstGeom prst="rect">
            <a:avLst/>
          </a:prstGeom>
          <a:solidFill>
            <a:schemeClr val="accent1"/>
          </a:solidFill>
          <a:ln>
            <a:solidFill>
              <a:schemeClr val="tx2"/>
            </a:solidFill>
          </a:ln>
        </p:spPr>
        <p:txBody>
          <a:bodyPr wrap="square" lIns="82951" tIns="41475" rIns="82951" bIns="41475" rtlCol="0" anchor="t">
            <a:spAutoFit/>
          </a:bodyPr>
          <a:lstStyle/>
          <a:p>
            <a:pPr algn="ctr"/>
            <a:endParaRPr lang="en-GB" sz="1050" dirty="0">
              <a:solidFill>
                <a:schemeClr val="bg1"/>
              </a:solidFill>
              <a:latin typeface="Calibri"/>
              <a:ea typeface="Calibri"/>
              <a:cs typeface="Calibri"/>
            </a:endParaRPr>
          </a:p>
        </p:txBody>
      </p:sp>
      <p:sp>
        <p:nvSpPr>
          <p:cNvPr id="35" name="TextBox 34">
            <a:extLst>
              <a:ext uri="{FF2B5EF4-FFF2-40B4-BE49-F238E27FC236}">
                <a16:creationId xmlns:a16="http://schemas.microsoft.com/office/drawing/2014/main" id="{996A7CE5-7FFA-4C78-81D7-039724A2E1A5}"/>
              </a:ext>
            </a:extLst>
          </p:cNvPr>
          <p:cNvSpPr txBox="1"/>
          <p:nvPr/>
        </p:nvSpPr>
        <p:spPr>
          <a:xfrm>
            <a:off x="391734" y="2928042"/>
            <a:ext cx="1512119" cy="245343"/>
          </a:xfrm>
          <a:prstGeom prst="rect">
            <a:avLst/>
          </a:prstGeom>
          <a:solidFill>
            <a:srgbClr val="FFFF00"/>
          </a:solidFill>
          <a:ln>
            <a:solidFill>
              <a:schemeClr val="tx2"/>
            </a:solidFill>
          </a:ln>
        </p:spPr>
        <p:txBody>
          <a:bodyPr wrap="square" lIns="82951" tIns="41475" rIns="82951" bIns="41475" rtlCol="0" anchor="t">
            <a:spAutoFit/>
          </a:bodyPr>
          <a:lstStyle/>
          <a:p>
            <a:endParaRPr lang="en-GB" sz="1050" dirty="0">
              <a:ea typeface="Calibri"/>
              <a:cs typeface="Calibri"/>
            </a:endParaRPr>
          </a:p>
        </p:txBody>
      </p:sp>
      <p:sp>
        <p:nvSpPr>
          <p:cNvPr id="36" name="TextBox 35">
            <a:extLst>
              <a:ext uri="{FF2B5EF4-FFF2-40B4-BE49-F238E27FC236}">
                <a16:creationId xmlns:a16="http://schemas.microsoft.com/office/drawing/2014/main" id="{ABEAFDCF-C6E5-4F6C-AB83-140BBDBBFB51}"/>
              </a:ext>
            </a:extLst>
          </p:cNvPr>
          <p:cNvSpPr txBox="1"/>
          <p:nvPr/>
        </p:nvSpPr>
        <p:spPr>
          <a:xfrm>
            <a:off x="1147794" y="4203649"/>
            <a:ext cx="855467" cy="245343"/>
          </a:xfrm>
          <a:prstGeom prst="rect">
            <a:avLst/>
          </a:prstGeom>
          <a:solidFill>
            <a:srgbClr val="FFFF00"/>
          </a:solidFill>
          <a:ln>
            <a:solidFill>
              <a:schemeClr val="tx2"/>
            </a:solidFill>
          </a:ln>
        </p:spPr>
        <p:txBody>
          <a:bodyPr wrap="square" lIns="82951" tIns="41475" rIns="82951" bIns="41475" rtlCol="0" anchor="t">
            <a:spAutoFit/>
          </a:bodyPr>
          <a:lstStyle/>
          <a:p>
            <a:endParaRPr lang="en-GB" sz="1050" dirty="0">
              <a:ea typeface="Calibri"/>
              <a:cs typeface="Calibri"/>
            </a:endParaRPr>
          </a:p>
        </p:txBody>
      </p:sp>
      <p:sp>
        <p:nvSpPr>
          <p:cNvPr id="37" name="TextBox 36">
            <a:extLst>
              <a:ext uri="{FF2B5EF4-FFF2-40B4-BE49-F238E27FC236}">
                <a16:creationId xmlns:a16="http://schemas.microsoft.com/office/drawing/2014/main" id="{A84CEAFE-54AB-4478-9FA6-3DDB681BAA43}"/>
              </a:ext>
            </a:extLst>
          </p:cNvPr>
          <p:cNvSpPr txBox="1"/>
          <p:nvPr/>
        </p:nvSpPr>
        <p:spPr>
          <a:xfrm>
            <a:off x="1607471" y="3453555"/>
            <a:ext cx="855467" cy="245343"/>
          </a:xfrm>
          <a:prstGeom prst="rect">
            <a:avLst/>
          </a:prstGeom>
          <a:solidFill>
            <a:srgbClr val="FFFF00"/>
          </a:solidFill>
          <a:ln>
            <a:solidFill>
              <a:schemeClr val="tx2"/>
            </a:solidFill>
          </a:ln>
        </p:spPr>
        <p:txBody>
          <a:bodyPr wrap="square" lIns="82951" tIns="41475" rIns="82951" bIns="41475" rtlCol="0" anchor="t">
            <a:spAutoFit/>
          </a:bodyPr>
          <a:lstStyle/>
          <a:p>
            <a:endParaRPr lang="en-GB" sz="1050" dirty="0">
              <a:ea typeface="Calibri"/>
              <a:cs typeface="Calibri"/>
            </a:endParaRPr>
          </a:p>
        </p:txBody>
      </p:sp>
      <p:sp>
        <p:nvSpPr>
          <p:cNvPr id="38" name="TextBox 37">
            <a:extLst>
              <a:ext uri="{FF2B5EF4-FFF2-40B4-BE49-F238E27FC236}">
                <a16:creationId xmlns:a16="http://schemas.microsoft.com/office/drawing/2014/main" id="{99FCE18B-92F0-4CC1-9A20-5D0F32969FB2}"/>
              </a:ext>
            </a:extLst>
          </p:cNvPr>
          <p:cNvSpPr txBox="1"/>
          <p:nvPr/>
        </p:nvSpPr>
        <p:spPr>
          <a:xfrm>
            <a:off x="79796" y="3741773"/>
            <a:ext cx="993676" cy="738664"/>
          </a:xfrm>
          <a:prstGeom prst="rect">
            <a:avLst/>
          </a:prstGeom>
          <a:solidFill>
            <a:schemeClr val="accent6"/>
          </a:solidFill>
          <a:ln>
            <a:solidFill>
              <a:schemeClr val="tx2"/>
            </a:solidFill>
          </a:ln>
        </p:spPr>
        <p:txBody>
          <a:bodyPr wrap="square" lIns="91440" tIns="45720" rIns="91440" bIns="45720" rtlCol="0" anchor="t">
            <a:spAutoFit/>
          </a:bodyPr>
          <a:lstStyle/>
          <a:p>
            <a:r>
              <a:rPr lang="en-GB" sz="1050" dirty="0">
                <a:solidFill>
                  <a:schemeClr val="bg1"/>
                </a:solidFill>
              </a:rPr>
              <a:t> predictive analytics, unstructured analytics</a:t>
            </a:r>
          </a:p>
        </p:txBody>
      </p:sp>
      <p:sp>
        <p:nvSpPr>
          <p:cNvPr id="39" name="Rectangle 38">
            <a:extLst>
              <a:ext uri="{FF2B5EF4-FFF2-40B4-BE49-F238E27FC236}">
                <a16:creationId xmlns:a16="http://schemas.microsoft.com/office/drawing/2014/main" id="{F1CFD165-D026-4EE4-8E81-51711A131C3B}"/>
              </a:ext>
            </a:extLst>
          </p:cNvPr>
          <p:cNvSpPr/>
          <p:nvPr/>
        </p:nvSpPr>
        <p:spPr>
          <a:xfrm>
            <a:off x="3167603" y="3004212"/>
            <a:ext cx="1455315" cy="691254"/>
          </a:xfrm>
          <a:prstGeom prst="rect">
            <a:avLst/>
          </a:prstGeom>
          <a:solidFill>
            <a:schemeClr val="accent6"/>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89">
                <a:solidFill>
                  <a:schemeClr val="bg1"/>
                </a:solidFill>
                <a:latin typeface="Arial" panose="020B0604020202020204" pitchFamily="34" charset="0"/>
                <a:cs typeface="Arial" panose="020B0604020202020204" pitchFamily="34" charset="0"/>
              </a:rPr>
              <a:t>data </a:t>
            </a:r>
            <a:r>
              <a:rPr lang="en-GB" sz="1089" dirty="0">
                <a:solidFill>
                  <a:schemeClr val="bg1"/>
                </a:solidFill>
                <a:latin typeface="Arial" panose="020B0604020202020204" pitchFamily="34" charset="0"/>
                <a:cs typeface="Arial" panose="020B0604020202020204" pitchFamily="34" charset="0"/>
              </a:rPr>
              <a:t>and analytics to inform bio diversity growth opportunities</a:t>
            </a:r>
          </a:p>
        </p:txBody>
      </p:sp>
      <p:sp>
        <p:nvSpPr>
          <p:cNvPr id="40" name="Rectangle 39">
            <a:extLst>
              <a:ext uri="{FF2B5EF4-FFF2-40B4-BE49-F238E27FC236}">
                <a16:creationId xmlns:a16="http://schemas.microsoft.com/office/drawing/2014/main" id="{A28FDAC8-DF20-48CA-9185-F4B5C138B82F}"/>
              </a:ext>
            </a:extLst>
          </p:cNvPr>
          <p:cNvSpPr/>
          <p:nvPr/>
        </p:nvSpPr>
        <p:spPr>
          <a:xfrm>
            <a:off x="1398271" y="1767572"/>
            <a:ext cx="1455315" cy="691254"/>
          </a:xfrm>
          <a:prstGeom prst="rect">
            <a:avLst/>
          </a:prstGeom>
          <a:solidFill>
            <a:schemeClr val="accent1"/>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951" tIns="41475" rIns="82951" bIns="41475" rtlCol="0" anchor="ctr"/>
          <a:lstStyle/>
          <a:p>
            <a:pPr algn="ctr"/>
            <a:endParaRPr lang="en-GB" sz="1050" dirty="0">
              <a:solidFill>
                <a:schemeClr val="bg1"/>
              </a:solidFill>
              <a:latin typeface="Arial" panose="020B060402020202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0FBEF3DB-B451-4A11-BB18-C2477BB2CD26}"/>
              </a:ext>
            </a:extLst>
          </p:cNvPr>
          <p:cNvSpPr/>
          <p:nvPr/>
        </p:nvSpPr>
        <p:spPr>
          <a:xfrm>
            <a:off x="3629959" y="4954581"/>
            <a:ext cx="1455315" cy="691254"/>
          </a:xfrm>
          <a:prstGeom prst="rect">
            <a:avLst/>
          </a:prstGeom>
          <a:solidFill>
            <a:schemeClr val="accent6"/>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89" dirty="0">
                <a:solidFill>
                  <a:schemeClr val="bg1"/>
                </a:solidFill>
                <a:latin typeface="Arial" panose="020B0604020202020204" pitchFamily="34" charset="0"/>
                <a:cs typeface="Arial" panose="020B0604020202020204" pitchFamily="34" charset="0"/>
              </a:rPr>
              <a:t>data and analytics to understand bio diversity risk position</a:t>
            </a:r>
          </a:p>
        </p:txBody>
      </p:sp>
      <p:sp>
        <p:nvSpPr>
          <p:cNvPr id="43" name="Rectangle 42">
            <a:extLst>
              <a:ext uri="{FF2B5EF4-FFF2-40B4-BE49-F238E27FC236}">
                <a16:creationId xmlns:a16="http://schemas.microsoft.com/office/drawing/2014/main" id="{0976899A-B82C-4B41-BB1A-7B5245725DF5}"/>
              </a:ext>
            </a:extLst>
          </p:cNvPr>
          <p:cNvSpPr/>
          <p:nvPr/>
        </p:nvSpPr>
        <p:spPr>
          <a:xfrm>
            <a:off x="3209224" y="3785428"/>
            <a:ext cx="1455315" cy="691254"/>
          </a:xfrm>
          <a:prstGeom prst="rect">
            <a:avLst/>
          </a:prstGeom>
          <a:solidFill>
            <a:srgbClr val="FFFF00"/>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82951" tIns="41475" rIns="82951" bIns="41475" rtlCol="0" anchor="ctr"/>
          <a:lstStyle/>
          <a:p>
            <a:pPr algn="ctr"/>
            <a:endParaRPr lang="en-GB" sz="1050" dirty="0">
              <a:solidFill>
                <a:schemeClr val="tx2">
                  <a:lumMod val="50000"/>
                </a:schemeClr>
              </a:solidFill>
              <a:latin typeface="Arial"/>
              <a:cs typeface="Arial"/>
            </a:endParaRPr>
          </a:p>
        </p:txBody>
      </p:sp>
      <p:sp>
        <p:nvSpPr>
          <p:cNvPr id="44" name="Rectangle 43">
            <a:extLst>
              <a:ext uri="{FF2B5EF4-FFF2-40B4-BE49-F238E27FC236}">
                <a16:creationId xmlns:a16="http://schemas.microsoft.com/office/drawing/2014/main" id="{BE46BCBA-2C42-463B-A1E2-949C11446EBC}"/>
              </a:ext>
            </a:extLst>
          </p:cNvPr>
          <p:cNvSpPr/>
          <p:nvPr/>
        </p:nvSpPr>
        <p:spPr>
          <a:xfrm>
            <a:off x="1903852" y="5288786"/>
            <a:ext cx="1455315" cy="691254"/>
          </a:xfrm>
          <a:prstGeom prst="rect">
            <a:avLst/>
          </a:prstGeom>
          <a:solidFill>
            <a:schemeClr val="accent1"/>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sz="1050"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1ACAC11-3A03-4F19-9EF6-08A2D5578727}"/>
              </a:ext>
            </a:extLst>
          </p:cNvPr>
          <p:cNvSpPr txBox="1"/>
          <p:nvPr/>
        </p:nvSpPr>
        <p:spPr>
          <a:xfrm>
            <a:off x="1607470" y="1061916"/>
            <a:ext cx="3283459" cy="343620"/>
          </a:xfrm>
          <a:prstGeom prst="rect">
            <a:avLst/>
          </a:prstGeom>
          <a:noFill/>
        </p:spPr>
        <p:txBody>
          <a:bodyPr wrap="square" rtlCol="0">
            <a:spAutoFit/>
          </a:bodyPr>
          <a:lstStyle/>
          <a:p>
            <a:r>
              <a:rPr lang="en-GB" sz="1633" dirty="0"/>
              <a:t>Key ingredients of each party </a:t>
            </a:r>
          </a:p>
        </p:txBody>
      </p:sp>
    </p:spTree>
    <p:extLst>
      <p:ext uri="{BB962C8B-B14F-4D97-AF65-F5344CB8AC3E}">
        <p14:creationId xmlns:p14="http://schemas.microsoft.com/office/powerpoint/2010/main" val="117964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48C0-46A1-4AA1-9B6F-B8DE0B6CEC0E}"/>
              </a:ext>
            </a:extLst>
          </p:cNvPr>
          <p:cNvSpPr>
            <a:spLocks noGrp="1"/>
          </p:cNvSpPr>
          <p:nvPr>
            <p:ph type="title"/>
          </p:nvPr>
        </p:nvSpPr>
        <p:spPr>
          <a:xfrm>
            <a:off x="1896336" y="161728"/>
            <a:ext cx="8108848" cy="579609"/>
          </a:xfrm>
        </p:spPr>
        <p:txBody>
          <a:bodyPr/>
          <a:lstStyle/>
          <a:p>
            <a:pPr algn="ctr"/>
            <a:r>
              <a:rPr lang="en-GB" sz="2177" dirty="0">
                <a:solidFill>
                  <a:schemeClr val="tx2">
                    <a:lumMod val="50000"/>
                  </a:schemeClr>
                </a:solidFill>
              </a:rPr>
              <a:t>Business Model Canvas (BMC)</a:t>
            </a:r>
          </a:p>
        </p:txBody>
      </p:sp>
      <p:sp>
        <p:nvSpPr>
          <p:cNvPr id="191" name="TextBox 190">
            <a:extLst>
              <a:ext uri="{FF2B5EF4-FFF2-40B4-BE49-F238E27FC236}">
                <a16:creationId xmlns:a16="http://schemas.microsoft.com/office/drawing/2014/main" id="{FDD64C5C-1A01-4AC9-97F0-01D5FAEFFCAA}"/>
              </a:ext>
            </a:extLst>
          </p:cNvPr>
          <p:cNvSpPr txBox="1"/>
          <p:nvPr/>
        </p:nvSpPr>
        <p:spPr>
          <a:xfrm>
            <a:off x="276946" y="927256"/>
            <a:ext cx="10724556" cy="784779"/>
          </a:xfrm>
          <a:prstGeom prst="rect">
            <a:avLst/>
          </a:prstGeom>
          <a:noFill/>
        </p:spPr>
        <p:txBody>
          <a:bodyPr wrap="square" lIns="165901" tIns="132721" rIns="165901" bIns="132721" rtlCol="0">
            <a:spAutoFit/>
          </a:bodyPr>
          <a:lstStyle/>
          <a:p>
            <a:pPr marL="155539" indent="-155539">
              <a:lnSpc>
                <a:spcPct val="90000"/>
              </a:lnSpc>
              <a:spcAft>
                <a:spcPts val="544"/>
              </a:spcAft>
              <a:buFont typeface="Arial" panose="020B0604020202020204" pitchFamily="34" charset="0"/>
              <a:buChar char="•"/>
            </a:pPr>
            <a:r>
              <a:rPr lang="en-US" sz="1089" dirty="0">
                <a:solidFill>
                  <a:srgbClr val="333333"/>
                </a:solidFill>
              </a:rPr>
              <a:t>The business model canvas illustrates the fundamental building blocks of a business, providing a high-level, comprehensive view of the various strategic details required to successfully bring a product to market and how the business creates, delivers and captures value.</a:t>
            </a:r>
          </a:p>
          <a:p>
            <a:pPr marL="155539" indent="-155539">
              <a:lnSpc>
                <a:spcPct val="90000"/>
              </a:lnSpc>
              <a:spcAft>
                <a:spcPts val="544"/>
              </a:spcAft>
              <a:buFont typeface="Arial" panose="020B0604020202020204" pitchFamily="34" charset="0"/>
              <a:buChar char="•"/>
            </a:pPr>
            <a:r>
              <a:rPr lang="en-US" sz="1089" dirty="0">
                <a:solidFill>
                  <a:srgbClr val="333333"/>
                </a:solidFill>
              </a:rPr>
              <a:t>Example template below explains the nine key canvass segments which ideally should be viewed from right (Customer Segments)  to left (Key Partners)</a:t>
            </a:r>
            <a:endParaRPr lang="en-GB" sz="1089" dirty="0" err="1">
              <a:gradFill>
                <a:gsLst>
                  <a:gs pos="2917">
                    <a:schemeClr val="tx1"/>
                  </a:gs>
                  <a:gs pos="30000">
                    <a:schemeClr val="tx1"/>
                  </a:gs>
                </a:gsLst>
                <a:lin ang="5400000" scaled="0"/>
              </a:gradFill>
            </a:endParaRPr>
          </a:p>
        </p:txBody>
      </p:sp>
      <p:sp>
        <p:nvSpPr>
          <p:cNvPr id="192" name="TextBox 191">
            <a:extLst>
              <a:ext uri="{FF2B5EF4-FFF2-40B4-BE49-F238E27FC236}">
                <a16:creationId xmlns:a16="http://schemas.microsoft.com/office/drawing/2014/main" id="{E6EB24BA-3DF7-4F5E-B57A-D2F14FECA7C9}"/>
              </a:ext>
            </a:extLst>
          </p:cNvPr>
          <p:cNvSpPr txBox="1"/>
          <p:nvPr/>
        </p:nvSpPr>
        <p:spPr>
          <a:xfrm>
            <a:off x="8646564" y="1780259"/>
            <a:ext cx="2286289" cy="418803"/>
          </a:xfrm>
          <a:prstGeom prst="rect">
            <a:avLst/>
          </a:prstGeom>
          <a:noFill/>
        </p:spPr>
        <p:txBody>
          <a:bodyPr wrap="square" lIns="165901" tIns="132721" rIns="165901" bIns="132721" rtlCol="0">
            <a:spAutoFit/>
          </a:bodyPr>
          <a:lstStyle/>
          <a:p>
            <a:pPr algn="ctr">
              <a:lnSpc>
                <a:spcPct val="90000"/>
              </a:lnSpc>
              <a:spcAft>
                <a:spcPts val="544"/>
              </a:spcAft>
            </a:pPr>
            <a:r>
              <a:rPr lang="en-GB" sz="1089" b="1" dirty="0">
                <a:solidFill>
                  <a:schemeClr val="tx2"/>
                </a:solidFill>
              </a:rPr>
              <a:t>CUSTOMER SEGMENTS</a:t>
            </a:r>
          </a:p>
        </p:txBody>
      </p:sp>
      <p:sp>
        <p:nvSpPr>
          <p:cNvPr id="193" name="TextBox 192">
            <a:extLst>
              <a:ext uri="{FF2B5EF4-FFF2-40B4-BE49-F238E27FC236}">
                <a16:creationId xmlns:a16="http://schemas.microsoft.com/office/drawing/2014/main" id="{379DF3EB-259D-422F-9B52-838691FB0F37}"/>
              </a:ext>
            </a:extLst>
          </p:cNvPr>
          <p:cNvSpPr txBox="1"/>
          <p:nvPr/>
        </p:nvSpPr>
        <p:spPr>
          <a:xfrm>
            <a:off x="8795216" y="2040159"/>
            <a:ext cx="2109123" cy="519257"/>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WHO IS GOING TO USE THE PRODUCT?</a:t>
            </a:r>
          </a:p>
        </p:txBody>
      </p:sp>
      <p:sp>
        <p:nvSpPr>
          <p:cNvPr id="194" name="TextBox 193">
            <a:extLst>
              <a:ext uri="{FF2B5EF4-FFF2-40B4-BE49-F238E27FC236}">
                <a16:creationId xmlns:a16="http://schemas.microsoft.com/office/drawing/2014/main" id="{6D81E686-051A-4089-83BA-63AF7063C76E}"/>
              </a:ext>
            </a:extLst>
          </p:cNvPr>
          <p:cNvSpPr txBox="1"/>
          <p:nvPr/>
        </p:nvSpPr>
        <p:spPr>
          <a:xfrm>
            <a:off x="5625067" y="5154463"/>
            <a:ext cx="5229976" cy="393675"/>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HOW WILL THE BUSINESS STAKEHOLDERS MAKE MONEY FROM THIS PRODUCT  (FOR PROFIT or NOT)?</a:t>
            </a:r>
          </a:p>
        </p:txBody>
      </p:sp>
      <p:sp>
        <p:nvSpPr>
          <p:cNvPr id="195" name="TextBox 194">
            <a:extLst>
              <a:ext uri="{FF2B5EF4-FFF2-40B4-BE49-F238E27FC236}">
                <a16:creationId xmlns:a16="http://schemas.microsoft.com/office/drawing/2014/main" id="{D9D78510-171E-42BD-857A-18A8008CF326}"/>
              </a:ext>
            </a:extLst>
          </p:cNvPr>
          <p:cNvSpPr txBox="1"/>
          <p:nvPr/>
        </p:nvSpPr>
        <p:spPr>
          <a:xfrm>
            <a:off x="10660465" y="2110860"/>
            <a:ext cx="1417276" cy="570938"/>
          </a:xfrm>
          <a:prstGeom prst="rect">
            <a:avLst/>
          </a:prstGeom>
          <a:noFill/>
        </p:spPr>
        <p:txBody>
          <a:bodyPr wrap="square" lIns="165901" tIns="132721" rIns="165901" bIns="132721" rtlCol="0">
            <a:spAutoFit/>
          </a:bodyPr>
          <a:lstStyle/>
          <a:p>
            <a:pPr algn="ctr">
              <a:lnSpc>
                <a:spcPct val="90000"/>
              </a:lnSpc>
              <a:spcAft>
                <a:spcPts val="544"/>
              </a:spcAft>
            </a:pPr>
            <a:r>
              <a:rPr lang="en-GB" sz="862" b="1" dirty="0">
                <a:solidFill>
                  <a:srgbClr val="7030A0"/>
                </a:solidFill>
              </a:rPr>
              <a:t>KEY</a:t>
            </a:r>
          </a:p>
          <a:p>
            <a:pPr algn="ctr">
              <a:lnSpc>
                <a:spcPct val="90000"/>
              </a:lnSpc>
              <a:spcAft>
                <a:spcPts val="544"/>
              </a:spcAft>
            </a:pPr>
            <a:r>
              <a:rPr lang="en-GB" sz="862" b="1" dirty="0">
                <a:solidFill>
                  <a:srgbClr val="7030A0"/>
                </a:solidFill>
              </a:rPr>
              <a:t>STAKEHOLDERS</a:t>
            </a:r>
          </a:p>
        </p:txBody>
      </p:sp>
      <p:sp>
        <p:nvSpPr>
          <p:cNvPr id="196" name="Rectangle 195">
            <a:extLst>
              <a:ext uri="{FF2B5EF4-FFF2-40B4-BE49-F238E27FC236}">
                <a16:creationId xmlns:a16="http://schemas.microsoft.com/office/drawing/2014/main" id="{7B767379-4FE6-4C43-BF3B-AF1A834E4066}"/>
              </a:ext>
            </a:extLst>
          </p:cNvPr>
          <p:cNvSpPr/>
          <p:nvPr/>
        </p:nvSpPr>
        <p:spPr bwMode="auto">
          <a:xfrm>
            <a:off x="10933825" y="2630573"/>
            <a:ext cx="881657" cy="340135"/>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dirty="0">
              <a:solidFill>
                <a:schemeClr val="accent6">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r>
              <a:rPr lang="en-GB" sz="600" dirty="0">
                <a:solidFill>
                  <a:schemeClr val="bg1"/>
                </a:solidFill>
                <a:ea typeface="Segoe UI" pitchFamily="34" charset="0"/>
                <a:cs typeface="Segoe UI"/>
              </a:rPr>
              <a:t>A</a:t>
            </a:r>
            <a:endParaRPr lang="en-GB" sz="600" dirty="0">
              <a:solidFill>
                <a:schemeClr val="bg1"/>
              </a:solidFill>
              <a:ea typeface="Segoe UI" pitchFamily="34" charset="0"/>
              <a:cs typeface="Segoe UI" pitchFamily="34" charset="0"/>
            </a:endParaRPr>
          </a:p>
          <a:p>
            <a:pPr algn="ctr" defTabSz="845939" fontAlgn="base">
              <a:lnSpc>
                <a:spcPct val="90000"/>
              </a:lnSpc>
              <a:spcBef>
                <a:spcPct val="0"/>
              </a:spcBef>
              <a:spcAft>
                <a:spcPct val="0"/>
              </a:spcAft>
            </a:pPr>
            <a:endParaRPr lang="en-GB" sz="635" dirty="0">
              <a:gradFill>
                <a:gsLst>
                  <a:gs pos="0">
                    <a:srgbClr val="FFFFFF"/>
                  </a:gs>
                  <a:gs pos="100000">
                    <a:srgbClr val="FFFFFF"/>
                  </a:gs>
                </a:gsLst>
                <a:lin ang="5400000" scaled="0"/>
              </a:gradFill>
              <a:ea typeface="Segoe UI" pitchFamily="34" charset="0"/>
              <a:cs typeface="Segoe UI" pitchFamily="34" charset="0"/>
            </a:endParaRPr>
          </a:p>
        </p:txBody>
      </p:sp>
      <p:sp>
        <p:nvSpPr>
          <p:cNvPr id="197" name="Rectangle 196">
            <a:extLst>
              <a:ext uri="{FF2B5EF4-FFF2-40B4-BE49-F238E27FC236}">
                <a16:creationId xmlns:a16="http://schemas.microsoft.com/office/drawing/2014/main" id="{7D9F6661-0E35-45F9-9199-EF06527C2E92}"/>
              </a:ext>
            </a:extLst>
          </p:cNvPr>
          <p:cNvSpPr/>
          <p:nvPr/>
        </p:nvSpPr>
        <p:spPr bwMode="auto">
          <a:xfrm>
            <a:off x="10932506" y="3017075"/>
            <a:ext cx="880153" cy="340000"/>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dirty="0">
              <a:solidFill>
                <a:schemeClr val="accent6">
                  <a:lumMod val="50000"/>
                </a:schemeClr>
              </a:solidFill>
              <a:cs typeface="Segoe UI" pitchFamily="34" charset="0"/>
            </a:endParaRPr>
          </a:p>
          <a:p>
            <a:pPr algn="ctr" defTabSz="845939">
              <a:lnSpc>
                <a:spcPct val="90000"/>
              </a:lnSpc>
              <a:spcBef>
                <a:spcPct val="0"/>
              </a:spcBef>
              <a:spcAft>
                <a:spcPct val="0"/>
              </a:spcAft>
            </a:pPr>
            <a:r>
              <a:rPr lang="en-GB" sz="600" dirty="0">
                <a:solidFill>
                  <a:schemeClr val="accent6">
                    <a:lumMod val="50000"/>
                  </a:schemeClr>
                </a:solidFill>
                <a:cs typeface="Segoe UI"/>
              </a:rPr>
              <a:t>B</a:t>
            </a:r>
            <a:endParaRPr lang="en-GB" dirty="0"/>
          </a:p>
          <a:p>
            <a:pPr algn="ctr" defTabSz="845939" fontAlgn="base">
              <a:lnSpc>
                <a:spcPct val="90000"/>
              </a:lnSpc>
              <a:spcBef>
                <a:spcPct val="0"/>
              </a:spcBef>
              <a:spcAft>
                <a:spcPct val="0"/>
              </a:spcAft>
            </a:pPr>
            <a:endParaRPr lang="en-GB" sz="726" dirty="0">
              <a:gradFill>
                <a:gsLst>
                  <a:gs pos="0">
                    <a:srgbClr val="FFFFFF"/>
                  </a:gs>
                  <a:gs pos="100000">
                    <a:srgbClr val="FFFFFF"/>
                  </a:gs>
                </a:gsLst>
                <a:lin ang="5400000" scaled="0"/>
              </a:gradFill>
              <a:cs typeface="Segoe UI" pitchFamily="34" charset="0"/>
            </a:endParaRPr>
          </a:p>
        </p:txBody>
      </p:sp>
      <p:sp>
        <p:nvSpPr>
          <p:cNvPr id="198" name="Rectangle 197">
            <a:extLst>
              <a:ext uri="{FF2B5EF4-FFF2-40B4-BE49-F238E27FC236}">
                <a16:creationId xmlns:a16="http://schemas.microsoft.com/office/drawing/2014/main" id="{437AE7AA-0B79-4858-957B-59FD92D8CD2E}"/>
              </a:ext>
            </a:extLst>
          </p:cNvPr>
          <p:cNvSpPr/>
          <p:nvPr/>
        </p:nvSpPr>
        <p:spPr bwMode="auto">
          <a:xfrm>
            <a:off x="10930104" y="3399709"/>
            <a:ext cx="884426" cy="42723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dirty="0">
              <a:gradFill>
                <a:gsLst>
                  <a:gs pos="0">
                    <a:srgbClr val="FFFFFF"/>
                  </a:gs>
                  <a:gs pos="100000">
                    <a:srgbClr val="FFFFFF"/>
                  </a:gs>
                </a:gsLst>
                <a:lin ang="5400000" scaled="0"/>
              </a:gradFill>
              <a:ea typeface="Segoe UI" pitchFamily="34" charset="0"/>
              <a:cs typeface="Segoe UI" pitchFamily="34" charset="0"/>
            </a:endParaRPr>
          </a:p>
          <a:p>
            <a:pPr algn="ctr" defTabSz="845939">
              <a:lnSpc>
                <a:spcPct val="90000"/>
              </a:lnSpc>
              <a:spcBef>
                <a:spcPct val="0"/>
              </a:spcBef>
              <a:spcAft>
                <a:spcPct val="0"/>
              </a:spcAft>
            </a:pPr>
            <a:r>
              <a:rPr lang="en-GB" sz="635" dirty="0">
                <a:solidFill>
                  <a:schemeClr val="bg1"/>
                </a:solidFill>
                <a:cs typeface="Segoe UI"/>
              </a:rPr>
              <a:t>Tech platform</a:t>
            </a:r>
            <a:endParaRPr lang="en-GB" sz="1633" dirty="0"/>
          </a:p>
          <a:p>
            <a:pPr algn="ctr" defTabSz="845939" fontAlgn="base">
              <a:lnSpc>
                <a:spcPct val="90000"/>
              </a:lnSpc>
              <a:spcBef>
                <a:spcPct val="0"/>
              </a:spcBef>
              <a:spcAft>
                <a:spcPct val="0"/>
              </a:spcAft>
            </a:pPr>
            <a:endParaRPr lang="en-GB" sz="635" dirty="0">
              <a:gradFill>
                <a:gsLst>
                  <a:gs pos="0">
                    <a:srgbClr val="FFFFFF"/>
                  </a:gs>
                  <a:gs pos="100000">
                    <a:srgbClr val="FFFFFF"/>
                  </a:gs>
                </a:gsLst>
                <a:lin ang="5400000" scaled="0"/>
              </a:gradFill>
              <a:ea typeface="Segoe UI" pitchFamily="34" charset="0"/>
              <a:cs typeface="Segoe UI" pitchFamily="34" charset="0"/>
            </a:endParaRPr>
          </a:p>
        </p:txBody>
      </p:sp>
      <p:sp>
        <p:nvSpPr>
          <p:cNvPr id="200" name="Rectangle 199">
            <a:extLst>
              <a:ext uri="{FF2B5EF4-FFF2-40B4-BE49-F238E27FC236}">
                <a16:creationId xmlns:a16="http://schemas.microsoft.com/office/drawing/2014/main" id="{412CE6D2-A481-48A7-928E-64598A907BE0}"/>
              </a:ext>
            </a:extLst>
          </p:cNvPr>
          <p:cNvSpPr/>
          <p:nvPr/>
        </p:nvSpPr>
        <p:spPr bwMode="auto">
          <a:xfrm>
            <a:off x="10948730" y="3887293"/>
            <a:ext cx="884426" cy="266435"/>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635" dirty="0">
                <a:solidFill>
                  <a:schemeClr val="accent6">
                    <a:lumMod val="50000"/>
                  </a:schemeClr>
                </a:solidFill>
                <a:cs typeface="Segoe UI" pitchFamily="34" charset="0"/>
              </a:rPr>
              <a:t>DIRECT CUSTOMER</a:t>
            </a:r>
          </a:p>
        </p:txBody>
      </p:sp>
      <p:sp>
        <p:nvSpPr>
          <p:cNvPr id="202" name="Rectangle 201">
            <a:extLst>
              <a:ext uri="{FF2B5EF4-FFF2-40B4-BE49-F238E27FC236}">
                <a16:creationId xmlns:a16="http://schemas.microsoft.com/office/drawing/2014/main" id="{6F46E611-0BD5-4465-9918-4541ABCC4796}"/>
              </a:ext>
            </a:extLst>
          </p:cNvPr>
          <p:cNvSpPr/>
          <p:nvPr/>
        </p:nvSpPr>
        <p:spPr bwMode="auto">
          <a:xfrm>
            <a:off x="664308" y="1778155"/>
            <a:ext cx="10045861" cy="4289160"/>
          </a:xfrm>
          <a:prstGeom prst="rect">
            <a:avLst/>
          </a:prstGeom>
          <a:no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t" anchorCtr="0" forceAA="0" compatLnSpc="1">
            <a:prstTxWarp prst="textNoShape">
              <a:avLst/>
            </a:prstTxWarp>
            <a:noAutofit/>
          </a:bodyPr>
          <a:lstStyle/>
          <a:p>
            <a:pPr algn="ctr" defTabSz="845939" fontAlgn="base">
              <a:lnSpc>
                <a:spcPct val="90000"/>
              </a:lnSpc>
              <a:spcBef>
                <a:spcPct val="0"/>
              </a:spcBef>
              <a:spcAft>
                <a:spcPct val="0"/>
              </a:spcAft>
            </a:pPr>
            <a:endParaRPr lang="en-GB" sz="2177"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03" name="Straight Connector 202">
            <a:extLst>
              <a:ext uri="{FF2B5EF4-FFF2-40B4-BE49-F238E27FC236}">
                <a16:creationId xmlns:a16="http://schemas.microsoft.com/office/drawing/2014/main" id="{BC1C4D9C-0E4B-4911-919A-5417B174917A}"/>
              </a:ext>
            </a:extLst>
          </p:cNvPr>
          <p:cNvCxnSpPr>
            <a:cxnSpLocks/>
          </p:cNvCxnSpPr>
          <p:nvPr/>
        </p:nvCxnSpPr>
        <p:spPr>
          <a:xfrm>
            <a:off x="2332018" y="1778155"/>
            <a:ext cx="0" cy="3198485"/>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06C39DE-34F9-4C81-98FD-2BCCCC02274F}"/>
              </a:ext>
            </a:extLst>
          </p:cNvPr>
          <p:cNvCxnSpPr>
            <a:cxnSpLocks/>
          </p:cNvCxnSpPr>
          <p:nvPr/>
        </p:nvCxnSpPr>
        <p:spPr>
          <a:xfrm>
            <a:off x="4518342" y="1778155"/>
            <a:ext cx="0" cy="3198485"/>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FB349387-473A-4ABC-AEF6-939C222D8B5D}"/>
              </a:ext>
            </a:extLst>
          </p:cNvPr>
          <p:cNvCxnSpPr>
            <a:cxnSpLocks/>
          </p:cNvCxnSpPr>
          <p:nvPr/>
        </p:nvCxnSpPr>
        <p:spPr>
          <a:xfrm>
            <a:off x="6673989" y="1778155"/>
            <a:ext cx="0" cy="3179872"/>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23AFA5BF-ACB6-442C-8B63-EE05370C6698}"/>
              </a:ext>
            </a:extLst>
          </p:cNvPr>
          <p:cNvCxnSpPr>
            <a:cxnSpLocks/>
          </p:cNvCxnSpPr>
          <p:nvPr/>
        </p:nvCxnSpPr>
        <p:spPr>
          <a:xfrm>
            <a:off x="8798959" y="1778155"/>
            <a:ext cx="0" cy="3198485"/>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C0C2A447-C21E-4266-8E80-38E2DA99E527}"/>
              </a:ext>
            </a:extLst>
          </p:cNvPr>
          <p:cNvCxnSpPr>
            <a:cxnSpLocks/>
          </p:cNvCxnSpPr>
          <p:nvPr/>
        </p:nvCxnSpPr>
        <p:spPr>
          <a:xfrm flipV="1">
            <a:off x="671905" y="4958117"/>
            <a:ext cx="10045861" cy="18524"/>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C138FE76-D5CC-4C5F-8D4B-EBDC2155D2C0}"/>
              </a:ext>
            </a:extLst>
          </p:cNvPr>
          <p:cNvCxnSpPr>
            <a:cxnSpLocks/>
          </p:cNvCxnSpPr>
          <p:nvPr/>
        </p:nvCxnSpPr>
        <p:spPr>
          <a:xfrm>
            <a:off x="2359530" y="3710379"/>
            <a:ext cx="2155647" cy="8881"/>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AA2C01AD-60DD-4E27-9A63-885C7AD5CB03}"/>
              </a:ext>
            </a:extLst>
          </p:cNvPr>
          <p:cNvCxnSpPr/>
          <p:nvPr/>
        </p:nvCxnSpPr>
        <p:spPr>
          <a:xfrm>
            <a:off x="6681469" y="3702320"/>
            <a:ext cx="2090324" cy="0"/>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FBCD3608-4ED7-444D-B6FF-956F7B1A5E7E}"/>
              </a:ext>
            </a:extLst>
          </p:cNvPr>
          <p:cNvSpPr txBox="1"/>
          <p:nvPr/>
        </p:nvSpPr>
        <p:spPr>
          <a:xfrm>
            <a:off x="664307" y="1778155"/>
            <a:ext cx="1502420" cy="418803"/>
          </a:xfrm>
          <a:prstGeom prst="rect">
            <a:avLst/>
          </a:prstGeom>
          <a:noFill/>
          <a:ln>
            <a:noFill/>
          </a:ln>
        </p:spPr>
        <p:txBody>
          <a:bodyPr wrap="square" lIns="165901" tIns="132721" rIns="165901" bIns="132721" rtlCol="0">
            <a:spAutoFit/>
          </a:bodyPr>
          <a:lstStyle/>
          <a:p>
            <a:pPr>
              <a:lnSpc>
                <a:spcPct val="90000"/>
              </a:lnSpc>
              <a:spcAft>
                <a:spcPts val="544"/>
              </a:spcAft>
            </a:pPr>
            <a:r>
              <a:rPr lang="en-GB" sz="1089" b="1" dirty="0">
                <a:solidFill>
                  <a:schemeClr val="tx2"/>
                </a:solidFill>
              </a:rPr>
              <a:t>KEY PARTNERS</a:t>
            </a:r>
          </a:p>
        </p:txBody>
      </p:sp>
      <p:sp>
        <p:nvSpPr>
          <p:cNvPr id="211" name="TextBox 210">
            <a:extLst>
              <a:ext uri="{FF2B5EF4-FFF2-40B4-BE49-F238E27FC236}">
                <a16:creationId xmlns:a16="http://schemas.microsoft.com/office/drawing/2014/main" id="{89B4EFF4-3B6B-4BBD-9870-AFBA842A6E3C}"/>
              </a:ext>
            </a:extLst>
          </p:cNvPr>
          <p:cNvSpPr txBox="1"/>
          <p:nvPr/>
        </p:nvSpPr>
        <p:spPr>
          <a:xfrm>
            <a:off x="2398971" y="1778155"/>
            <a:ext cx="1502420" cy="418803"/>
          </a:xfrm>
          <a:prstGeom prst="rect">
            <a:avLst/>
          </a:prstGeom>
          <a:noFill/>
        </p:spPr>
        <p:txBody>
          <a:bodyPr wrap="square" lIns="165901" tIns="132721" rIns="165901" bIns="132721" rtlCol="0">
            <a:spAutoFit/>
          </a:bodyPr>
          <a:lstStyle/>
          <a:p>
            <a:pPr>
              <a:lnSpc>
                <a:spcPct val="90000"/>
              </a:lnSpc>
              <a:spcAft>
                <a:spcPts val="544"/>
              </a:spcAft>
            </a:pPr>
            <a:r>
              <a:rPr lang="en-GB" sz="1089" b="1" dirty="0">
                <a:solidFill>
                  <a:schemeClr val="tx2"/>
                </a:solidFill>
              </a:rPr>
              <a:t>KEY ACTIVITIES</a:t>
            </a:r>
          </a:p>
        </p:txBody>
      </p:sp>
      <p:sp>
        <p:nvSpPr>
          <p:cNvPr id="212" name="TextBox 211">
            <a:extLst>
              <a:ext uri="{FF2B5EF4-FFF2-40B4-BE49-F238E27FC236}">
                <a16:creationId xmlns:a16="http://schemas.microsoft.com/office/drawing/2014/main" id="{8E660AAF-3334-4A4F-A52A-173806FDEAF7}"/>
              </a:ext>
            </a:extLst>
          </p:cNvPr>
          <p:cNvSpPr txBox="1"/>
          <p:nvPr/>
        </p:nvSpPr>
        <p:spPr>
          <a:xfrm>
            <a:off x="4673411" y="1778155"/>
            <a:ext cx="2090323" cy="418803"/>
          </a:xfrm>
          <a:prstGeom prst="rect">
            <a:avLst/>
          </a:prstGeom>
          <a:noFill/>
        </p:spPr>
        <p:txBody>
          <a:bodyPr wrap="square" lIns="165901" tIns="132721" rIns="165901" bIns="132721" rtlCol="0">
            <a:spAutoFit/>
          </a:bodyPr>
          <a:lstStyle/>
          <a:p>
            <a:pPr>
              <a:lnSpc>
                <a:spcPct val="90000"/>
              </a:lnSpc>
              <a:spcAft>
                <a:spcPts val="544"/>
              </a:spcAft>
            </a:pPr>
            <a:r>
              <a:rPr lang="en-GB" sz="1089" b="1" dirty="0">
                <a:solidFill>
                  <a:schemeClr val="tx2"/>
                </a:solidFill>
              </a:rPr>
              <a:t>VALUE PROPOSITIONS</a:t>
            </a:r>
          </a:p>
        </p:txBody>
      </p:sp>
      <p:sp>
        <p:nvSpPr>
          <p:cNvPr id="213" name="TextBox 212">
            <a:extLst>
              <a:ext uri="{FF2B5EF4-FFF2-40B4-BE49-F238E27FC236}">
                <a16:creationId xmlns:a16="http://schemas.microsoft.com/office/drawing/2014/main" id="{8C04C649-4CE5-455A-BEF9-941104204F91}"/>
              </a:ext>
            </a:extLst>
          </p:cNvPr>
          <p:cNvSpPr txBox="1"/>
          <p:nvPr/>
        </p:nvSpPr>
        <p:spPr>
          <a:xfrm>
            <a:off x="6673990" y="1778155"/>
            <a:ext cx="2286289" cy="418803"/>
          </a:xfrm>
          <a:prstGeom prst="rect">
            <a:avLst/>
          </a:prstGeom>
          <a:noFill/>
        </p:spPr>
        <p:txBody>
          <a:bodyPr wrap="square" lIns="165901" tIns="132721" rIns="165901" bIns="132721" rtlCol="0">
            <a:spAutoFit/>
          </a:bodyPr>
          <a:lstStyle/>
          <a:p>
            <a:pPr>
              <a:lnSpc>
                <a:spcPct val="90000"/>
              </a:lnSpc>
              <a:spcAft>
                <a:spcPts val="544"/>
              </a:spcAft>
            </a:pPr>
            <a:r>
              <a:rPr lang="en-GB" sz="1089" b="1" dirty="0">
                <a:solidFill>
                  <a:schemeClr val="tx2"/>
                </a:solidFill>
              </a:rPr>
              <a:t>CUSTOMER RELATIONSHIPS</a:t>
            </a:r>
          </a:p>
        </p:txBody>
      </p:sp>
      <p:sp>
        <p:nvSpPr>
          <p:cNvPr id="214" name="TextBox 213">
            <a:extLst>
              <a:ext uri="{FF2B5EF4-FFF2-40B4-BE49-F238E27FC236}">
                <a16:creationId xmlns:a16="http://schemas.microsoft.com/office/drawing/2014/main" id="{BDE1BFA6-258C-42D6-8684-C1E9DF46DC39}"/>
              </a:ext>
            </a:extLst>
          </p:cNvPr>
          <p:cNvSpPr txBox="1"/>
          <p:nvPr/>
        </p:nvSpPr>
        <p:spPr>
          <a:xfrm>
            <a:off x="2556535" y="3646039"/>
            <a:ext cx="1857882" cy="418803"/>
          </a:xfrm>
          <a:prstGeom prst="rect">
            <a:avLst/>
          </a:prstGeom>
          <a:noFill/>
        </p:spPr>
        <p:txBody>
          <a:bodyPr wrap="square" lIns="165901" tIns="132721" rIns="165901" bIns="132721" rtlCol="0">
            <a:spAutoFit/>
          </a:bodyPr>
          <a:lstStyle/>
          <a:p>
            <a:pPr algn="ctr">
              <a:lnSpc>
                <a:spcPct val="90000"/>
              </a:lnSpc>
              <a:spcAft>
                <a:spcPts val="544"/>
              </a:spcAft>
            </a:pPr>
            <a:r>
              <a:rPr lang="en-GB" sz="1089" b="1" dirty="0">
                <a:solidFill>
                  <a:schemeClr val="tx2"/>
                </a:solidFill>
              </a:rPr>
              <a:t>KEY RESOURCES</a:t>
            </a:r>
          </a:p>
        </p:txBody>
      </p:sp>
      <p:sp>
        <p:nvSpPr>
          <p:cNvPr id="215" name="TextBox 214">
            <a:extLst>
              <a:ext uri="{FF2B5EF4-FFF2-40B4-BE49-F238E27FC236}">
                <a16:creationId xmlns:a16="http://schemas.microsoft.com/office/drawing/2014/main" id="{BB6F2D84-0527-4A80-85D8-6FDD8BA7E1F8}"/>
              </a:ext>
            </a:extLst>
          </p:cNvPr>
          <p:cNvSpPr txBox="1"/>
          <p:nvPr/>
        </p:nvSpPr>
        <p:spPr>
          <a:xfrm>
            <a:off x="7102982" y="3640199"/>
            <a:ext cx="1502420" cy="418803"/>
          </a:xfrm>
          <a:prstGeom prst="rect">
            <a:avLst/>
          </a:prstGeom>
          <a:noFill/>
        </p:spPr>
        <p:txBody>
          <a:bodyPr wrap="square" lIns="165901" tIns="132721" rIns="165901" bIns="132721" rtlCol="0">
            <a:spAutoFit/>
          </a:bodyPr>
          <a:lstStyle/>
          <a:p>
            <a:pPr>
              <a:lnSpc>
                <a:spcPct val="90000"/>
              </a:lnSpc>
              <a:spcAft>
                <a:spcPts val="544"/>
              </a:spcAft>
            </a:pPr>
            <a:r>
              <a:rPr lang="en-GB" sz="1089" b="1" dirty="0">
                <a:solidFill>
                  <a:schemeClr val="tx2"/>
                </a:solidFill>
              </a:rPr>
              <a:t>CHANNELS</a:t>
            </a:r>
          </a:p>
        </p:txBody>
      </p:sp>
      <p:cxnSp>
        <p:nvCxnSpPr>
          <p:cNvPr id="216" name="Straight Connector 215">
            <a:extLst>
              <a:ext uri="{FF2B5EF4-FFF2-40B4-BE49-F238E27FC236}">
                <a16:creationId xmlns:a16="http://schemas.microsoft.com/office/drawing/2014/main" id="{5D28AD86-2ADB-4A84-8D69-B2B096C4E490}"/>
              </a:ext>
            </a:extLst>
          </p:cNvPr>
          <p:cNvCxnSpPr>
            <a:cxnSpLocks/>
          </p:cNvCxnSpPr>
          <p:nvPr/>
        </p:nvCxnSpPr>
        <p:spPr>
          <a:xfrm>
            <a:off x="5803887" y="4976640"/>
            <a:ext cx="0" cy="1090675"/>
          </a:xfrm>
          <a:prstGeom prst="line">
            <a:avLst/>
          </a:prstGeom>
          <a:ln>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17" name="TextBox 216">
            <a:extLst>
              <a:ext uri="{FF2B5EF4-FFF2-40B4-BE49-F238E27FC236}">
                <a16:creationId xmlns:a16="http://schemas.microsoft.com/office/drawing/2014/main" id="{09D4434E-6505-40A7-9F20-08719FE33E91}"/>
              </a:ext>
            </a:extLst>
          </p:cNvPr>
          <p:cNvSpPr txBox="1"/>
          <p:nvPr/>
        </p:nvSpPr>
        <p:spPr>
          <a:xfrm>
            <a:off x="748355" y="4959114"/>
            <a:ext cx="1908479" cy="418803"/>
          </a:xfrm>
          <a:prstGeom prst="rect">
            <a:avLst/>
          </a:prstGeom>
          <a:noFill/>
        </p:spPr>
        <p:txBody>
          <a:bodyPr wrap="square" lIns="165901" tIns="132721" rIns="165901" bIns="132721" rtlCol="0">
            <a:spAutoFit/>
          </a:bodyPr>
          <a:lstStyle/>
          <a:p>
            <a:pPr>
              <a:lnSpc>
                <a:spcPct val="90000"/>
              </a:lnSpc>
              <a:spcAft>
                <a:spcPts val="544"/>
              </a:spcAft>
            </a:pPr>
            <a:r>
              <a:rPr lang="en-GB" sz="1089" b="1" dirty="0">
                <a:solidFill>
                  <a:schemeClr val="tx2"/>
                </a:solidFill>
              </a:rPr>
              <a:t>COST STRUCTURE</a:t>
            </a:r>
          </a:p>
        </p:txBody>
      </p:sp>
      <p:sp>
        <p:nvSpPr>
          <p:cNvPr id="218" name="TextBox 217">
            <a:extLst>
              <a:ext uri="{FF2B5EF4-FFF2-40B4-BE49-F238E27FC236}">
                <a16:creationId xmlns:a16="http://schemas.microsoft.com/office/drawing/2014/main" id="{662AF8E0-4219-4A81-BF80-4A6DA3F7A921}"/>
              </a:ext>
            </a:extLst>
          </p:cNvPr>
          <p:cNvSpPr txBox="1"/>
          <p:nvPr/>
        </p:nvSpPr>
        <p:spPr>
          <a:xfrm>
            <a:off x="6024882" y="4959114"/>
            <a:ext cx="2090320" cy="418803"/>
          </a:xfrm>
          <a:prstGeom prst="rect">
            <a:avLst/>
          </a:prstGeom>
          <a:noFill/>
        </p:spPr>
        <p:txBody>
          <a:bodyPr wrap="square" lIns="165901" tIns="132721" rIns="165901" bIns="132721" rtlCol="0">
            <a:spAutoFit/>
          </a:bodyPr>
          <a:lstStyle/>
          <a:p>
            <a:pPr>
              <a:lnSpc>
                <a:spcPct val="90000"/>
              </a:lnSpc>
              <a:spcAft>
                <a:spcPts val="544"/>
              </a:spcAft>
            </a:pPr>
            <a:r>
              <a:rPr lang="en-GB" sz="1089" b="1" dirty="0">
                <a:solidFill>
                  <a:schemeClr val="tx2"/>
                </a:solidFill>
              </a:rPr>
              <a:t>REVENUE STREAMS</a:t>
            </a:r>
          </a:p>
        </p:txBody>
      </p:sp>
      <p:sp>
        <p:nvSpPr>
          <p:cNvPr id="219" name="Rectangle 218">
            <a:extLst>
              <a:ext uri="{FF2B5EF4-FFF2-40B4-BE49-F238E27FC236}">
                <a16:creationId xmlns:a16="http://schemas.microsoft.com/office/drawing/2014/main" id="{17E26C9B-E5FA-43D2-A68D-82C9A2F8669E}"/>
              </a:ext>
            </a:extLst>
          </p:cNvPr>
          <p:cNvSpPr/>
          <p:nvPr/>
        </p:nvSpPr>
        <p:spPr bwMode="auto">
          <a:xfrm>
            <a:off x="8882719" y="4275509"/>
            <a:ext cx="701738" cy="277091"/>
          </a:xfrm>
          <a:prstGeom prst="rect">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00" b="1" dirty="0">
              <a:solidFill>
                <a:schemeClr val="accent6">
                  <a:lumMod val="50000"/>
                </a:schemeClr>
              </a:solidFill>
              <a:ea typeface="Calibri"/>
              <a:cs typeface="Segoe UI" pitchFamily="34" charset="0"/>
            </a:endParaRPr>
          </a:p>
        </p:txBody>
      </p:sp>
      <p:sp>
        <p:nvSpPr>
          <p:cNvPr id="220" name="Rectangle 219">
            <a:extLst>
              <a:ext uri="{FF2B5EF4-FFF2-40B4-BE49-F238E27FC236}">
                <a16:creationId xmlns:a16="http://schemas.microsoft.com/office/drawing/2014/main" id="{25E437C1-A832-4026-88D1-F2C355566CCC}"/>
              </a:ext>
            </a:extLst>
          </p:cNvPr>
          <p:cNvSpPr/>
          <p:nvPr/>
        </p:nvSpPr>
        <p:spPr bwMode="auto">
          <a:xfrm>
            <a:off x="10005185" y="2877626"/>
            <a:ext cx="706603" cy="379567"/>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635" b="1" dirty="0">
                <a:solidFill>
                  <a:schemeClr val="accent6">
                    <a:lumMod val="50000"/>
                  </a:schemeClr>
                </a:solidFill>
                <a:cs typeface="Segoe UI" pitchFamily="34" charset="0"/>
              </a:rPr>
              <a:t>Banking and Capital Markets</a:t>
            </a:r>
          </a:p>
        </p:txBody>
      </p:sp>
      <p:sp>
        <p:nvSpPr>
          <p:cNvPr id="222" name="Rectangle 221">
            <a:extLst>
              <a:ext uri="{FF2B5EF4-FFF2-40B4-BE49-F238E27FC236}">
                <a16:creationId xmlns:a16="http://schemas.microsoft.com/office/drawing/2014/main" id="{58BCEA66-1A97-436E-853D-FD5082B8908E}"/>
              </a:ext>
            </a:extLst>
          </p:cNvPr>
          <p:cNvSpPr/>
          <p:nvPr/>
        </p:nvSpPr>
        <p:spPr bwMode="auto">
          <a:xfrm>
            <a:off x="9917373" y="4272736"/>
            <a:ext cx="701738" cy="245013"/>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00" b="1" dirty="0">
              <a:solidFill>
                <a:schemeClr val="accent6">
                  <a:lumMod val="50000"/>
                </a:schemeClr>
              </a:solidFill>
              <a:ea typeface="Calibri"/>
              <a:cs typeface="Segoe UI" pitchFamily="34" charset="0"/>
            </a:endParaRPr>
          </a:p>
        </p:txBody>
      </p:sp>
      <p:cxnSp>
        <p:nvCxnSpPr>
          <p:cNvPr id="223" name="Straight Arrow Connector 222">
            <a:extLst>
              <a:ext uri="{FF2B5EF4-FFF2-40B4-BE49-F238E27FC236}">
                <a16:creationId xmlns:a16="http://schemas.microsoft.com/office/drawing/2014/main" id="{2C6F145E-968A-47DD-BA1D-DBB947B31B97}"/>
              </a:ext>
            </a:extLst>
          </p:cNvPr>
          <p:cNvCxnSpPr>
            <a:cxnSpLocks/>
            <a:stCxn id="219" idx="3"/>
            <a:endCxn id="222" idx="1"/>
          </p:cNvCxnSpPr>
          <p:nvPr/>
        </p:nvCxnSpPr>
        <p:spPr>
          <a:xfrm flipV="1">
            <a:off x="9584456" y="4395242"/>
            <a:ext cx="332916" cy="18813"/>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4" name="Rectangle 223">
            <a:extLst>
              <a:ext uri="{FF2B5EF4-FFF2-40B4-BE49-F238E27FC236}">
                <a16:creationId xmlns:a16="http://schemas.microsoft.com/office/drawing/2014/main" id="{0CABCDBA-C6AF-4DA9-9407-0FC7F61E4395}"/>
              </a:ext>
            </a:extLst>
          </p:cNvPr>
          <p:cNvSpPr/>
          <p:nvPr/>
        </p:nvSpPr>
        <p:spPr bwMode="auto">
          <a:xfrm>
            <a:off x="9474203" y="2720081"/>
            <a:ext cx="532905" cy="424349"/>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635" b="1" dirty="0">
                <a:solidFill>
                  <a:schemeClr val="accent6">
                    <a:lumMod val="50000"/>
                  </a:schemeClr>
                </a:solidFill>
                <a:ea typeface="Segoe UI" pitchFamily="34" charset="0"/>
                <a:cs typeface="Segoe UI" pitchFamily="34" charset="0"/>
              </a:rPr>
              <a:t>Lead</a:t>
            </a:r>
          </a:p>
        </p:txBody>
      </p:sp>
      <p:sp>
        <p:nvSpPr>
          <p:cNvPr id="225" name="TextBox 224">
            <a:extLst>
              <a:ext uri="{FF2B5EF4-FFF2-40B4-BE49-F238E27FC236}">
                <a16:creationId xmlns:a16="http://schemas.microsoft.com/office/drawing/2014/main" id="{A7518C92-FA32-4744-B663-C8E53B8DFA19}"/>
              </a:ext>
            </a:extLst>
          </p:cNvPr>
          <p:cNvSpPr txBox="1"/>
          <p:nvPr/>
        </p:nvSpPr>
        <p:spPr>
          <a:xfrm>
            <a:off x="8849361" y="2432094"/>
            <a:ext cx="1782590" cy="368547"/>
          </a:xfrm>
          <a:prstGeom prst="rect">
            <a:avLst/>
          </a:prstGeom>
          <a:noFill/>
        </p:spPr>
        <p:txBody>
          <a:bodyPr wrap="square" lIns="165901" tIns="132721" rIns="165901" bIns="132721" rtlCol="0">
            <a:spAutoFit/>
          </a:bodyPr>
          <a:lstStyle/>
          <a:p>
            <a:pPr algn="ctr">
              <a:lnSpc>
                <a:spcPct val="90000"/>
              </a:lnSpc>
              <a:spcAft>
                <a:spcPts val="544"/>
              </a:spcAft>
            </a:pPr>
            <a:r>
              <a:rPr lang="en-GB" sz="726" b="1" dirty="0">
                <a:solidFill>
                  <a:schemeClr val="tx2"/>
                </a:solidFill>
              </a:rPr>
              <a:t>DIRECT CLIENTS</a:t>
            </a:r>
          </a:p>
        </p:txBody>
      </p:sp>
      <p:sp>
        <p:nvSpPr>
          <p:cNvPr id="226" name="TextBox 225">
            <a:extLst>
              <a:ext uri="{FF2B5EF4-FFF2-40B4-BE49-F238E27FC236}">
                <a16:creationId xmlns:a16="http://schemas.microsoft.com/office/drawing/2014/main" id="{E2D7C513-1DF4-4D66-9B43-277090B40AD4}"/>
              </a:ext>
            </a:extLst>
          </p:cNvPr>
          <p:cNvSpPr txBox="1"/>
          <p:nvPr/>
        </p:nvSpPr>
        <p:spPr>
          <a:xfrm>
            <a:off x="8802332" y="4009356"/>
            <a:ext cx="1959682" cy="368547"/>
          </a:xfrm>
          <a:prstGeom prst="rect">
            <a:avLst/>
          </a:prstGeom>
          <a:noFill/>
        </p:spPr>
        <p:txBody>
          <a:bodyPr wrap="square" lIns="165901" tIns="132721" rIns="165901" bIns="132721" rtlCol="0">
            <a:spAutoFit/>
          </a:bodyPr>
          <a:lstStyle/>
          <a:p>
            <a:pPr algn="ctr">
              <a:lnSpc>
                <a:spcPct val="90000"/>
              </a:lnSpc>
              <a:spcAft>
                <a:spcPts val="544"/>
              </a:spcAft>
            </a:pPr>
            <a:r>
              <a:rPr lang="en-GB" sz="726" b="1" dirty="0">
                <a:solidFill>
                  <a:schemeClr val="tx2"/>
                </a:solidFill>
              </a:rPr>
              <a:t>INDIRECT</a:t>
            </a:r>
            <a:r>
              <a:rPr lang="en-GB" sz="726" b="1" dirty="0">
                <a:gradFill>
                  <a:gsLst>
                    <a:gs pos="2917">
                      <a:schemeClr val="tx1"/>
                    </a:gs>
                    <a:gs pos="30000">
                      <a:schemeClr val="tx1"/>
                    </a:gs>
                  </a:gsLst>
                  <a:lin ang="5400000" scaled="0"/>
                </a:gradFill>
              </a:rPr>
              <a:t> </a:t>
            </a:r>
            <a:r>
              <a:rPr lang="en-GB" sz="726" b="1" dirty="0">
                <a:solidFill>
                  <a:schemeClr val="tx2"/>
                </a:solidFill>
              </a:rPr>
              <a:t>CLIENTS</a:t>
            </a:r>
          </a:p>
        </p:txBody>
      </p:sp>
      <p:sp>
        <p:nvSpPr>
          <p:cNvPr id="227" name="Rectangle 226">
            <a:extLst>
              <a:ext uri="{FF2B5EF4-FFF2-40B4-BE49-F238E27FC236}">
                <a16:creationId xmlns:a16="http://schemas.microsoft.com/office/drawing/2014/main" id="{941B7286-15D1-4F65-AE0B-848CB99F0775}"/>
              </a:ext>
            </a:extLst>
          </p:cNvPr>
          <p:cNvSpPr/>
          <p:nvPr/>
        </p:nvSpPr>
        <p:spPr bwMode="auto">
          <a:xfrm>
            <a:off x="6708635" y="2745853"/>
            <a:ext cx="1030551" cy="817475"/>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726" b="1" dirty="0">
                <a:solidFill>
                  <a:schemeClr val="accent6">
                    <a:lumMod val="50000"/>
                  </a:schemeClr>
                </a:solidFill>
                <a:ea typeface="Segoe UI" pitchFamily="34" charset="0"/>
                <a:cs typeface="Segoe UI" pitchFamily="34" charset="0"/>
              </a:rPr>
              <a:t>COLLABORATIVE –</a:t>
            </a:r>
          </a:p>
          <a:p>
            <a:pPr algn="ctr" defTabSz="845939" fontAlgn="base">
              <a:lnSpc>
                <a:spcPct val="90000"/>
              </a:lnSpc>
              <a:spcBef>
                <a:spcPct val="0"/>
              </a:spcBef>
              <a:spcAft>
                <a:spcPct val="0"/>
              </a:spcAft>
            </a:pPr>
            <a:endParaRPr lang="en-GB" sz="700" b="1">
              <a:solidFill>
                <a:schemeClr val="accent6">
                  <a:lumMod val="50000"/>
                </a:schemeClr>
              </a:solidFill>
              <a:ea typeface="Segoe UI" pitchFamily="34" charset="0"/>
              <a:cs typeface="Segoe UI"/>
            </a:endParaRPr>
          </a:p>
          <a:p>
            <a:pPr algn="ctr" defTabSz="845939" fontAlgn="base">
              <a:lnSpc>
                <a:spcPct val="90000"/>
              </a:lnSpc>
              <a:spcBef>
                <a:spcPct val="0"/>
              </a:spcBef>
              <a:spcAft>
                <a:spcPct val="0"/>
              </a:spcAft>
            </a:pPr>
            <a:endParaRPr lang="en-GB" sz="700" b="1" dirty="0">
              <a:solidFill>
                <a:schemeClr val="accent6">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endParaRPr lang="en-GB" sz="726" b="1" dirty="0">
              <a:gradFill>
                <a:gsLst>
                  <a:gs pos="0">
                    <a:srgbClr val="FFFFFF"/>
                  </a:gs>
                  <a:gs pos="100000">
                    <a:srgbClr val="FFFFFF"/>
                  </a:gs>
                </a:gsLst>
                <a:lin ang="5400000" scaled="0"/>
              </a:gradFill>
              <a:ea typeface="Segoe UI" pitchFamily="34" charset="0"/>
              <a:cs typeface="Segoe UI" pitchFamily="34" charset="0"/>
            </a:endParaRPr>
          </a:p>
        </p:txBody>
      </p:sp>
      <p:sp>
        <p:nvSpPr>
          <p:cNvPr id="228" name="Rectangle 227">
            <a:extLst>
              <a:ext uri="{FF2B5EF4-FFF2-40B4-BE49-F238E27FC236}">
                <a16:creationId xmlns:a16="http://schemas.microsoft.com/office/drawing/2014/main" id="{4AB85C9C-D95C-44D0-B3FB-98CA4F98A285}"/>
              </a:ext>
            </a:extLst>
          </p:cNvPr>
          <p:cNvSpPr/>
          <p:nvPr/>
        </p:nvSpPr>
        <p:spPr bwMode="auto">
          <a:xfrm>
            <a:off x="7773706" y="2751384"/>
            <a:ext cx="975812" cy="786092"/>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726" b="1" dirty="0">
                <a:solidFill>
                  <a:schemeClr val="bg1"/>
                </a:solidFill>
                <a:ea typeface="Segoe UI" pitchFamily="34" charset="0"/>
                <a:cs typeface="Segoe UI" pitchFamily="34" charset="0"/>
              </a:rPr>
              <a:t>REMOTE – </a:t>
            </a:r>
          </a:p>
          <a:p>
            <a:pPr algn="ctr" defTabSz="845939" fontAlgn="base">
              <a:lnSpc>
                <a:spcPct val="90000"/>
              </a:lnSpc>
              <a:spcBef>
                <a:spcPct val="0"/>
              </a:spcBef>
              <a:spcAft>
                <a:spcPct val="0"/>
              </a:spcAft>
            </a:pPr>
            <a:r>
              <a:rPr lang="en-GB" sz="700" b="1" dirty="0">
                <a:solidFill>
                  <a:schemeClr val="bg1"/>
                </a:solidFill>
                <a:ea typeface="Segoe UI" pitchFamily="34" charset="0"/>
                <a:cs typeface="Segoe UI"/>
              </a:rPr>
              <a:t>e.g. Website , Portals, Self-service Saas</a:t>
            </a:r>
          </a:p>
          <a:p>
            <a:pPr algn="ctr" defTabSz="845939" fontAlgn="base">
              <a:lnSpc>
                <a:spcPct val="90000"/>
              </a:lnSpc>
              <a:spcBef>
                <a:spcPct val="0"/>
              </a:spcBef>
              <a:spcAft>
                <a:spcPct val="0"/>
              </a:spcAft>
            </a:pPr>
            <a:endParaRPr lang="en-GB" sz="726" b="1" dirty="0">
              <a:gradFill>
                <a:gsLst>
                  <a:gs pos="0">
                    <a:srgbClr val="FFFFFF"/>
                  </a:gs>
                  <a:gs pos="100000">
                    <a:srgbClr val="FFFFFF"/>
                  </a:gs>
                </a:gsLst>
                <a:lin ang="5400000" scaled="0"/>
              </a:gradFill>
              <a:ea typeface="Segoe UI" pitchFamily="34" charset="0"/>
              <a:cs typeface="Segoe UI" pitchFamily="34" charset="0"/>
            </a:endParaRPr>
          </a:p>
        </p:txBody>
      </p:sp>
      <p:sp>
        <p:nvSpPr>
          <p:cNvPr id="229" name="Rectangle 228">
            <a:extLst>
              <a:ext uri="{FF2B5EF4-FFF2-40B4-BE49-F238E27FC236}">
                <a16:creationId xmlns:a16="http://schemas.microsoft.com/office/drawing/2014/main" id="{3DE3C37D-85BA-4FBD-A89D-CF4A698A33EF}"/>
              </a:ext>
            </a:extLst>
          </p:cNvPr>
          <p:cNvSpPr/>
          <p:nvPr/>
        </p:nvSpPr>
        <p:spPr bwMode="auto">
          <a:xfrm>
            <a:off x="7813566" y="4446593"/>
            <a:ext cx="928025" cy="39990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solidFill>
                <a:schemeClr val="bg1"/>
              </a:solidFill>
              <a:ea typeface="Segoe UI" pitchFamily="34" charset="0"/>
              <a:cs typeface="Segoe UI" pitchFamily="34" charset="0"/>
            </a:endParaRPr>
          </a:p>
          <a:p>
            <a:pPr algn="ctr" defTabSz="845939" fontAlgn="base">
              <a:lnSpc>
                <a:spcPct val="90000"/>
              </a:lnSpc>
              <a:spcBef>
                <a:spcPct val="0"/>
              </a:spcBef>
              <a:spcAft>
                <a:spcPct val="0"/>
              </a:spcAft>
            </a:pPr>
            <a:r>
              <a:rPr lang="en-GB" sz="635" b="1" dirty="0">
                <a:solidFill>
                  <a:schemeClr val="bg1"/>
                </a:solidFill>
                <a:ea typeface="Segoe UI" pitchFamily="34" charset="0"/>
                <a:cs typeface="Segoe UI" pitchFamily="34" charset="0"/>
              </a:rPr>
              <a:t>marketplace</a:t>
            </a:r>
          </a:p>
          <a:p>
            <a:pPr algn="ctr" defTabSz="845939" fontAlgn="base">
              <a:lnSpc>
                <a:spcPct val="90000"/>
              </a:lnSpc>
              <a:spcBef>
                <a:spcPct val="0"/>
              </a:spcBef>
              <a:spcAft>
                <a:spcPct val="0"/>
              </a:spcAft>
            </a:pPr>
            <a:endParaRPr lang="en-GB" sz="635" b="1" dirty="0">
              <a:solidFill>
                <a:schemeClr val="bg1"/>
              </a:solidFill>
              <a:ea typeface="Segoe UI" pitchFamily="34" charset="0"/>
              <a:cs typeface="Segoe UI" pitchFamily="34" charset="0"/>
            </a:endParaRPr>
          </a:p>
        </p:txBody>
      </p:sp>
      <p:sp>
        <p:nvSpPr>
          <p:cNvPr id="230" name="Rectangle 229">
            <a:extLst>
              <a:ext uri="{FF2B5EF4-FFF2-40B4-BE49-F238E27FC236}">
                <a16:creationId xmlns:a16="http://schemas.microsoft.com/office/drawing/2014/main" id="{CF2918E4-8629-476A-928A-33FD4BB5BFC6}"/>
              </a:ext>
            </a:extLst>
          </p:cNvPr>
          <p:cNvSpPr/>
          <p:nvPr/>
        </p:nvSpPr>
        <p:spPr bwMode="auto">
          <a:xfrm>
            <a:off x="5610285" y="2823316"/>
            <a:ext cx="1014208" cy="784586"/>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r>
              <a:rPr lang="en-GB" sz="726" b="1" dirty="0">
                <a:solidFill>
                  <a:schemeClr val="accent6">
                    <a:lumMod val="50000"/>
                  </a:schemeClr>
                </a:solidFill>
                <a:cs typeface="Segoe UI" pitchFamily="34" charset="0"/>
              </a:rPr>
              <a:t>PASS STRESS TEST</a:t>
            </a:r>
          </a:p>
          <a:p>
            <a:pPr defTabSz="845939" fontAlgn="base">
              <a:lnSpc>
                <a:spcPct val="90000"/>
              </a:lnSpc>
              <a:spcBef>
                <a:spcPct val="0"/>
              </a:spcBef>
              <a:spcAft>
                <a:spcPct val="0"/>
              </a:spcAft>
            </a:pPr>
            <a:endParaRPr lang="en-GB" sz="726" b="1" dirty="0">
              <a:solidFill>
                <a:schemeClr val="accent6">
                  <a:lumMod val="50000"/>
                </a:schemeClr>
              </a:solidFill>
              <a:cs typeface="Segoe UI" pitchFamily="34" charset="0"/>
            </a:endParaRPr>
          </a:p>
          <a:p>
            <a:pPr defTabSz="845939" fontAlgn="base">
              <a:lnSpc>
                <a:spcPct val="90000"/>
              </a:lnSpc>
              <a:spcBef>
                <a:spcPct val="0"/>
              </a:spcBef>
              <a:spcAft>
                <a:spcPct val="0"/>
              </a:spcAft>
            </a:pPr>
            <a:endParaRPr lang="en-GB" sz="700" b="1" dirty="0">
              <a:solidFill>
                <a:schemeClr val="accent6">
                  <a:lumMod val="50000"/>
                </a:schemeClr>
              </a:solidFill>
              <a:ea typeface="Calibri"/>
              <a:cs typeface="Segoe UI" pitchFamily="34" charset="0"/>
            </a:endParaRPr>
          </a:p>
        </p:txBody>
      </p:sp>
      <p:sp>
        <p:nvSpPr>
          <p:cNvPr id="231" name="Rectangle 230">
            <a:extLst>
              <a:ext uri="{FF2B5EF4-FFF2-40B4-BE49-F238E27FC236}">
                <a16:creationId xmlns:a16="http://schemas.microsoft.com/office/drawing/2014/main" id="{C8595A3E-B738-45C2-AB74-DA5D9A449599}"/>
              </a:ext>
            </a:extLst>
          </p:cNvPr>
          <p:cNvSpPr/>
          <p:nvPr/>
        </p:nvSpPr>
        <p:spPr bwMode="auto">
          <a:xfrm>
            <a:off x="4543724" y="2825628"/>
            <a:ext cx="1025089" cy="782274"/>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r>
              <a:rPr lang="en-GB" sz="726" b="1" dirty="0">
                <a:solidFill>
                  <a:schemeClr val="accent6">
                    <a:lumMod val="50000"/>
                  </a:schemeClr>
                </a:solidFill>
                <a:cs typeface="Segoe UI" pitchFamily="34" charset="0"/>
              </a:rPr>
              <a:t>REDUCED CREDIT RISK </a:t>
            </a:r>
          </a:p>
          <a:p>
            <a:pPr defTabSz="845939" fontAlgn="base">
              <a:lnSpc>
                <a:spcPct val="90000"/>
              </a:lnSpc>
              <a:spcBef>
                <a:spcPct val="0"/>
              </a:spcBef>
              <a:spcAft>
                <a:spcPct val="0"/>
              </a:spcAft>
            </a:pPr>
            <a:endParaRPr lang="en-GB" sz="726" b="1" dirty="0">
              <a:solidFill>
                <a:schemeClr val="accent6">
                  <a:lumMod val="50000"/>
                </a:schemeClr>
              </a:solidFill>
              <a:cs typeface="Segoe UI" pitchFamily="34" charset="0"/>
            </a:endParaRPr>
          </a:p>
          <a:p>
            <a:pPr defTabSz="845939" fontAlgn="base">
              <a:lnSpc>
                <a:spcPct val="90000"/>
              </a:lnSpc>
              <a:spcBef>
                <a:spcPct val="0"/>
              </a:spcBef>
              <a:spcAft>
                <a:spcPct val="0"/>
              </a:spcAft>
            </a:pPr>
            <a:endParaRPr lang="en-GB" sz="700" b="1" dirty="0">
              <a:solidFill>
                <a:schemeClr val="accent6">
                  <a:lumMod val="50000"/>
                </a:schemeClr>
              </a:solidFill>
              <a:ea typeface="Calibri"/>
              <a:cs typeface="Segoe UI" pitchFamily="34" charset="0"/>
            </a:endParaRPr>
          </a:p>
        </p:txBody>
      </p:sp>
      <p:sp>
        <p:nvSpPr>
          <p:cNvPr id="232" name="Rectangle 231">
            <a:extLst>
              <a:ext uri="{FF2B5EF4-FFF2-40B4-BE49-F238E27FC236}">
                <a16:creationId xmlns:a16="http://schemas.microsoft.com/office/drawing/2014/main" id="{B2B7142D-C661-48BC-AC24-24F01E2D7D8B}"/>
              </a:ext>
            </a:extLst>
          </p:cNvPr>
          <p:cNvSpPr/>
          <p:nvPr/>
        </p:nvSpPr>
        <p:spPr bwMode="auto">
          <a:xfrm>
            <a:off x="2422401" y="2624497"/>
            <a:ext cx="1111155" cy="1015701"/>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gradFill>
                <a:gsLst>
                  <a:gs pos="0">
                    <a:srgbClr val="FFFFFF"/>
                  </a:gs>
                  <a:gs pos="100000">
                    <a:srgbClr val="FFFFFF"/>
                  </a:gs>
                </a:gsLst>
                <a:lin ang="5400000" scaled="0"/>
              </a:gradFill>
              <a:ea typeface="Segoe UI" pitchFamily="34" charset="0"/>
              <a:cs typeface="Segoe UI" pitchFamily="34" charset="0"/>
            </a:endParaRPr>
          </a:p>
          <a:p>
            <a:pPr defTabSz="845939" fontAlgn="base">
              <a:lnSpc>
                <a:spcPct val="90000"/>
              </a:lnSpc>
              <a:spcBef>
                <a:spcPct val="0"/>
              </a:spcBef>
              <a:spcAft>
                <a:spcPct val="0"/>
              </a:spcAft>
            </a:pPr>
            <a:endParaRPr lang="en-GB" sz="635" b="1" dirty="0">
              <a:solidFill>
                <a:schemeClr val="bg1"/>
              </a:solidFill>
              <a:ea typeface="Segoe UI" pitchFamily="34" charset="0"/>
              <a:cs typeface="Segoe UI" pitchFamily="34" charset="0"/>
            </a:endParaRPr>
          </a:p>
          <a:p>
            <a:pPr algn="ctr" defTabSz="845939" fontAlgn="base">
              <a:lnSpc>
                <a:spcPct val="90000"/>
              </a:lnSpc>
              <a:spcBef>
                <a:spcPct val="0"/>
              </a:spcBef>
              <a:spcAft>
                <a:spcPct val="0"/>
              </a:spcAft>
            </a:pPr>
            <a:endParaRPr lang="en-GB" sz="800" b="1" dirty="0">
              <a:solidFill>
                <a:schemeClr val="bg1"/>
              </a:solidFill>
              <a:ea typeface="Segoe UI" pitchFamily="34" charset="0"/>
              <a:cs typeface="Segoe UI" pitchFamily="34" charset="0"/>
            </a:endParaRPr>
          </a:p>
          <a:p>
            <a:pPr algn="ctr" defTabSz="845939" fontAlgn="base">
              <a:lnSpc>
                <a:spcPct val="90000"/>
              </a:lnSpc>
              <a:spcBef>
                <a:spcPct val="0"/>
              </a:spcBef>
              <a:spcAft>
                <a:spcPct val="0"/>
              </a:spcAft>
            </a:pPr>
            <a:endParaRPr lang="en-GB" sz="635" b="1" dirty="0">
              <a:gradFill>
                <a:gsLst>
                  <a:gs pos="0">
                    <a:srgbClr val="FFFFFF"/>
                  </a:gs>
                  <a:gs pos="100000">
                    <a:srgbClr val="FFFFFF"/>
                  </a:gs>
                </a:gsLst>
                <a:lin ang="5400000" scaled="0"/>
              </a:gradFill>
              <a:ea typeface="Segoe UI" pitchFamily="34" charset="0"/>
              <a:cs typeface="Segoe UI" pitchFamily="34" charset="0"/>
            </a:endParaRPr>
          </a:p>
          <a:p>
            <a:pPr algn="ctr" defTabSz="845939" fontAlgn="base">
              <a:lnSpc>
                <a:spcPct val="90000"/>
              </a:lnSpc>
              <a:spcBef>
                <a:spcPct val="0"/>
              </a:spcBef>
              <a:spcAft>
                <a:spcPct val="0"/>
              </a:spcAft>
            </a:pPr>
            <a:endParaRPr lang="en-GB" sz="635" b="1" dirty="0">
              <a:gradFill>
                <a:gsLst>
                  <a:gs pos="0">
                    <a:srgbClr val="FFFFFF"/>
                  </a:gs>
                  <a:gs pos="100000">
                    <a:srgbClr val="FFFFFF"/>
                  </a:gs>
                </a:gsLst>
                <a:lin ang="5400000" scaled="0"/>
              </a:gradFill>
              <a:ea typeface="Segoe UI" pitchFamily="34" charset="0"/>
              <a:cs typeface="Segoe UI" pitchFamily="34" charset="0"/>
            </a:endParaRPr>
          </a:p>
        </p:txBody>
      </p:sp>
      <p:sp>
        <p:nvSpPr>
          <p:cNvPr id="233" name="Rectangle 232">
            <a:extLst>
              <a:ext uri="{FF2B5EF4-FFF2-40B4-BE49-F238E27FC236}">
                <a16:creationId xmlns:a16="http://schemas.microsoft.com/office/drawing/2014/main" id="{EA1E7487-1E06-49BE-9A8F-0C22223EEEC1}"/>
              </a:ext>
            </a:extLst>
          </p:cNvPr>
          <p:cNvSpPr/>
          <p:nvPr/>
        </p:nvSpPr>
        <p:spPr bwMode="auto">
          <a:xfrm>
            <a:off x="3385874" y="4376019"/>
            <a:ext cx="1080623" cy="563483"/>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solidFill>
                <a:schemeClr val="accent6">
                  <a:lumMod val="50000"/>
                </a:schemeClr>
              </a:solidFill>
              <a:cs typeface="Segoe UI" pitchFamily="34" charset="0"/>
            </a:endParaRPr>
          </a:p>
          <a:p>
            <a:pPr marL="155539" indent="-155539" defTabSz="845939" fontAlgn="base">
              <a:lnSpc>
                <a:spcPct val="90000"/>
              </a:lnSpc>
              <a:spcBef>
                <a:spcPct val="0"/>
              </a:spcBef>
              <a:spcAft>
                <a:spcPct val="0"/>
              </a:spcAft>
              <a:buFont typeface="Arial" panose="020B0604020202020204" pitchFamily="34" charset="0"/>
              <a:buChar char="•"/>
            </a:pPr>
            <a:r>
              <a:rPr lang="en-GB" sz="635" b="1" dirty="0">
                <a:solidFill>
                  <a:schemeClr val="accent6">
                    <a:lumMod val="50000"/>
                  </a:schemeClr>
                </a:solidFill>
                <a:cs typeface="Segoe UI" pitchFamily="34" charset="0"/>
              </a:rPr>
              <a:t>MANPOWER</a:t>
            </a:r>
          </a:p>
          <a:p>
            <a:pPr marL="155539" indent="-155539" defTabSz="845939" fontAlgn="base">
              <a:lnSpc>
                <a:spcPct val="90000"/>
              </a:lnSpc>
              <a:spcBef>
                <a:spcPct val="0"/>
              </a:spcBef>
              <a:spcAft>
                <a:spcPct val="0"/>
              </a:spcAft>
              <a:buFont typeface="Arial" panose="020B0604020202020204" pitchFamily="34" charset="0"/>
              <a:buChar char="•"/>
            </a:pPr>
            <a:r>
              <a:rPr lang="en-GB" sz="635" b="1" dirty="0">
                <a:solidFill>
                  <a:schemeClr val="accent6">
                    <a:lumMod val="50000"/>
                  </a:schemeClr>
                </a:solidFill>
                <a:cs typeface="Segoe UI" pitchFamily="34" charset="0"/>
              </a:rPr>
              <a:t>MGMT CONSULTING </a:t>
            </a:r>
          </a:p>
          <a:p>
            <a:pPr marL="155539" indent="-155539" defTabSz="845939" fontAlgn="base">
              <a:lnSpc>
                <a:spcPct val="90000"/>
              </a:lnSpc>
              <a:spcBef>
                <a:spcPct val="0"/>
              </a:spcBef>
              <a:spcAft>
                <a:spcPct val="0"/>
              </a:spcAft>
              <a:buFont typeface="Arial" panose="020B0604020202020204" pitchFamily="34" charset="0"/>
              <a:buChar char="•"/>
            </a:pPr>
            <a:r>
              <a:rPr lang="en-GB" sz="635" b="1" dirty="0">
                <a:solidFill>
                  <a:schemeClr val="accent6">
                    <a:lumMod val="50000"/>
                  </a:schemeClr>
                </a:solidFill>
                <a:cs typeface="Segoe UI" pitchFamily="34" charset="0"/>
              </a:rPr>
              <a:t>CLIENT PIPELINE</a:t>
            </a:r>
          </a:p>
          <a:p>
            <a:pPr marL="155539" indent="-155539" defTabSz="845939" fontAlgn="base">
              <a:lnSpc>
                <a:spcPct val="90000"/>
              </a:lnSpc>
              <a:spcBef>
                <a:spcPct val="0"/>
              </a:spcBef>
              <a:spcAft>
                <a:spcPct val="0"/>
              </a:spcAft>
              <a:buFont typeface="Arial" panose="020B0604020202020204" pitchFamily="34" charset="0"/>
              <a:buChar char="•"/>
            </a:pPr>
            <a:r>
              <a:rPr lang="en-GB" sz="635" b="1" dirty="0">
                <a:solidFill>
                  <a:schemeClr val="accent6">
                    <a:lumMod val="50000"/>
                  </a:schemeClr>
                </a:solidFill>
                <a:cs typeface="Segoe UI" pitchFamily="34" charset="0"/>
              </a:rPr>
              <a:t>MARKETING</a:t>
            </a:r>
          </a:p>
          <a:p>
            <a:pPr algn="ctr" defTabSz="845939" fontAlgn="base">
              <a:lnSpc>
                <a:spcPct val="90000"/>
              </a:lnSpc>
              <a:spcBef>
                <a:spcPct val="0"/>
              </a:spcBef>
              <a:spcAft>
                <a:spcPct val="0"/>
              </a:spcAft>
            </a:pPr>
            <a:endParaRPr lang="en-GB" sz="726" b="1" dirty="0">
              <a:gradFill>
                <a:gsLst>
                  <a:gs pos="0">
                    <a:srgbClr val="FFFFFF"/>
                  </a:gs>
                  <a:gs pos="100000">
                    <a:srgbClr val="FFFFFF"/>
                  </a:gs>
                </a:gsLst>
                <a:lin ang="5400000" scaled="0"/>
              </a:gradFill>
              <a:cs typeface="Segoe UI" pitchFamily="34" charset="0"/>
            </a:endParaRPr>
          </a:p>
        </p:txBody>
      </p:sp>
      <p:sp>
        <p:nvSpPr>
          <p:cNvPr id="234" name="Rectangle 233">
            <a:extLst>
              <a:ext uri="{FF2B5EF4-FFF2-40B4-BE49-F238E27FC236}">
                <a16:creationId xmlns:a16="http://schemas.microsoft.com/office/drawing/2014/main" id="{EA8D6645-1349-483F-9160-D4C2874D012B}"/>
              </a:ext>
            </a:extLst>
          </p:cNvPr>
          <p:cNvSpPr/>
          <p:nvPr/>
        </p:nvSpPr>
        <p:spPr bwMode="auto">
          <a:xfrm>
            <a:off x="962639" y="2882343"/>
            <a:ext cx="1030766" cy="340000"/>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635" b="1" dirty="0">
                <a:solidFill>
                  <a:schemeClr val="tx2">
                    <a:lumMod val="75000"/>
                  </a:schemeClr>
                </a:solidFill>
                <a:cs typeface="Segoe UI" pitchFamily="34" charset="0"/>
              </a:rPr>
              <a:t>Marketing and Comm’s</a:t>
            </a:r>
          </a:p>
          <a:p>
            <a:pPr algn="ctr" defTabSz="845939" fontAlgn="base">
              <a:lnSpc>
                <a:spcPct val="90000"/>
              </a:lnSpc>
              <a:spcBef>
                <a:spcPct val="0"/>
              </a:spcBef>
              <a:spcAft>
                <a:spcPct val="0"/>
              </a:spcAft>
            </a:pPr>
            <a:endParaRPr lang="en-GB" sz="726" b="1" dirty="0">
              <a:gradFill>
                <a:gsLst>
                  <a:gs pos="0">
                    <a:srgbClr val="FFFFFF"/>
                  </a:gs>
                  <a:gs pos="100000">
                    <a:srgbClr val="FFFFFF"/>
                  </a:gs>
                </a:gsLst>
                <a:lin ang="5400000" scaled="0"/>
              </a:gradFill>
              <a:cs typeface="Segoe UI" pitchFamily="34" charset="0"/>
            </a:endParaRPr>
          </a:p>
        </p:txBody>
      </p:sp>
      <p:sp>
        <p:nvSpPr>
          <p:cNvPr id="235" name="Rectangle 234">
            <a:extLst>
              <a:ext uri="{FF2B5EF4-FFF2-40B4-BE49-F238E27FC236}">
                <a16:creationId xmlns:a16="http://schemas.microsoft.com/office/drawing/2014/main" id="{B56018ED-F041-4983-B17C-F865A31A822E}"/>
              </a:ext>
            </a:extLst>
          </p:cNvPr>
          <p:cNvSpPr/>
          <p:nvPr/>
        </p:nvSpPr>
        <p:spPr bwMode="auto">
          <a:xfrm>
            <a:off x="7517755" y="5582410"/>
            <a:ext cx="1331606" cy="381551"/>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dirty="0">
              <a:solidFill>
                <a:schemeClr val="accent6">
                  <a:lumMod val="50000"/>
                </a:schemeClr>
              </a:solidFill>
              <a:ea typeface="Segoe UI" pitchFamily="34" charset="0"/>
              <a:cs typeface="Segoe UI" pitchFamily="34" charset="0"/>
            </a:endParaRPr>
          </a:p>
          <a:p>
            <a:pPr defTabSz="845939" fontAlgn="base">
              <a:lnSpc>
                <a:spcPct val="90000"/>
              </a:lnSpc>
              <a:spcBef>
                <a:spcPct val="0"/>
              </a:spcBef>
              <a:spcAft>
                <a:spcPct val="0"/>
              </a:spcAft>
            </a:pPr>
            <a:endParaRPr lang="en-GB" sz="635" dirty="0">
              <a:solidFill>
                <a:schemeClr val="accent6">
                  <a:lumMod val="50000"/>
                </a:schemeClr>
              </a:solidFill>
              <a:ea typeface="Segoe UI" pitchFamily="34" charset="0"/>
              <a:cs typeface="Segoe UI" pitchFamily="34" charset="0"/>
            </a:endParaRPr>
          </a:p>
          <a:p>
            <a:pPr defTabSz="845939" fontAlgn="base">
              <a:lnSpc>
                <a:spcPct val="90000"/>
              </a:lnSpc>
              <a:spcBef>
                <a:spcPct val="0"/>
              </a:spcBef>
              <a:spcAft>
                <a:spcPct val="0"/>
              </a:spcAft>
            </a:pPr>
            <a:endParaRPr lang="en-GB" sz="635" dirty="0">
              <a:solidFill>
                <a:schemeClr val="bg1"/>
              </a:solidFill>
              <a:ea typeface="Segoe UI" pitchFamily="34" charset="0"/>
              <a:cs typeface="Segoe UI" pitchFamily="34" charset="0"/>
            </a:endParaRPr>
          </a:p>
          <a:p>
            <a:pPr marL="82091" indent="-82091" defTabSz="845939" fontAlgn="base">
              <a:lnSpc>
                <a:spcPct val="90000"/>
              </a:lnSpc>
              <a:spcBef>
                <a:spcPct val="0"/>
              </a:spcBef>
              <a:spcAft>
                <a:spcPct val="0"/>
              </a:spcAft>
              <a:buFont typeface="Arial" panose="020B0604020202020204" pitchFamily="34" charset="0"/>
              <a:buChar char="•"/>
            </a:pPr>
            <a:r>
              <a:rPr lang="en-GB" sz="635" dirty="0">
                <a:solidFill>
                  <a:schemeClr val="bg1"/>
                </a:solidFill>
                <a:ea typeface="Segoe UI" pitchFamily="34" charset="0"/>
                <a:cs typeface="Segoe UI" pitchFamily="34" charset="0"/>
              </a:rPr>
              <a:t>USAGE / SUBSCRIPTION FEES FOR FINAL SERVICE</a:t>
            </a:r>
          </a:p>
          <a:p>
            <a:pPr defTabSz="845939" fontAlgn="base">
              <a:lnSpc>
                <a:spcPct val="90000"/>
              </a:lnSpc>
              <a:spcBef>
                <a:spcPct val="0"/>
              </a:spcBef>
              <a:spcAft>
                <a:spcPct val="0"/>
              </a:spcAft>
            </a:pPr>
            <a:endParaRPr lang="en-GB" sz="635" dirty="0">
              <a:solidFill>
                <a:schemeClr val="accent6">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endParaRPr lang="en-GB" sz="635" dirty="0">
              <a:solidFill>
                <a:schemeClr val="accent6">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endParaRPr lang="en-GB" sz="635" dirty="0">
              <a:solidFill>
                <a:schemeClr val="accent6">
                  <a:lumMod val="50000"/>
                </a:schemeClr>
              </a:solidFill>
              <a:ea typeface="Segoe UI" pitchFamily="34" charset="0"/>
              <a:cs typeface="Segoe UI" pitchFamily="34" charset="0"/>
            </a:endParaRPr>
          </a:p>
        </p:txBody>
      </p:sp>
      <p:sp>
        <p:nvSpPr>
          <p:cNvPr id="236" name="Rectangle 235">
            <a:extLst>
              <a:ext uri="{FF2B5EF4-FFF2-40B4-BE49-F238E27FC236}">
                <a16:creationId xmlns:a16="http://schemas.microsoft.com/office/drawing/2014/main" id="{F0654A9D-F8E7-42DB-B91B-C8F6579FA26B}"/>
              </a:ext>
            </a:extLst>
          </p:cNvPr>
          <p:cNvSpPr/>
          <p:nvPr/>
        </p:nvSpPr>
        <p:spPr bwMode="auto">
          <a:xfrm>
            <a:off x="4133346" y="5546834"/>
            <a:ext cx="1632742" cy="449360"/>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726" dirty="0">
              <a:solidFill>
                <a:schemeClr val="accent6">
                  <a:lumMod val="50000"/>
                </a:schemeClr>
              </a:solidFill>
              <a:ea typeface="Segoe UI" pitchFamily="34" charset="0"/>
              <a:cs typeface="Segoe UI" pitchFamily="34" charset="0"/>
            </a:endParaRPr>
          </a:p>
          <a:p>
            <a:pPr marL="82091" indent="-82091" defTabSz="845939" fontAlgn="base">
              <a:lnSpc>
                <a:spcPct val="90000"/>
              </a:lnSpc>
              <a:spcBef>
                <a:spcPct val="0"/>
              </a:spcBef>
              <a:spcAft>
                <a:spcPct val="0"/>
              </a:spcAft>
              <a:buFont typeface="Arial" panose="020B0604020202020204" pitchFamily="34" charset="0"/>
              <a:buChar char="•"/>
            </a:pPr>
            <a:endParaRPr lang="en-GB" sz="726" dirty="0">
              <a:solidFill>
                <a:schemeClr val="accent6">
                  <a:lumMod val="50000"/>
                </a:schemeClr>
              </a:solidFill>
              <a:ea typeface="Segoe UI" pitchFamily="34" charset="0"/>
              <a:cs typeface="Segoe UI" pitchFamily="34" charset="0"/>
            </a:endParaRPr>
          </a:p>
          <a:p>
            <a:pPr marL="82091" indent="-82091" defTabSz="845939" fontAlgn="base">
              <a:lnSpc>
                <a:spcPct val="90000"/>
              </a:lnSpc>
              <a:spcBef>
                <a:spcPct val="0"/>
              </a:spcBef>
              <a:spcAft>
                <a:spcPct val="0"/>
              </a:spcAft>
              <a:buFont typeface="Arial" panose="020B0604020202020204" pitchFamily="34" charset="0"/>
              <a:buChar char="•"/>
            </a:pPr>
            <a:r>
              <a:rPr lang="en-GB" sz="726" dirty="0">
                <a:solidFill>
                  <a:schemeClr val="accent6">
                    <a:lumMod val="50000"/>
                  </a:schemeClr>
                </a:solidFill>
                <a:ea typeface="Segoe UI" pitchFamily="34" charset="0"/>
                <a:cs typeface="Segoe UI" pitchFamily="34" charset="0"/>
              </a:rPr>
              <a:t>LEGAL FEES</a:t>
            </a:r>
          </a:p>
          <a:p>
            <a:pPr marL="82091" indent="-82091" defTabSz="845939" fontAlgn="base">
              <a:lnSpc>
                <a:spcPct val="90000"/>
              </a:lnSpc>
              <a:spcBef>
                <a:spcPct val="0"/>
              </a:spcBef>
              <a:spcAft>
                <a:spcPct val="0"/>
              </a:spcAft>
              <a:buFont typeface="Arial" panose="020B0604020202020204" pitchFamily="34" charset="0"/>
              <a:buChar char="•"/>
            </a:pPr>
            <a:r>
              <a:rPr lang="en-GB" sz="726" dirty="0">
                <a:solidFill>
                  <a:schemeClr val="accent6">
                    <a:lumMod val="50000"/>
                  </a:schemeClr>
                </a:solidFill>
                <a:ea typeface="Segoe UI" pitchFamily="34" charset="0"/>
                <a:cs typeface="Segoe UI" pitchFamily="34" charset="0"/>
              </a:rPr>
              <a:t>PROFESSIONAL SERVICES</a:t>
            </a:r>
          </a:p>
          <a:p>
            <a:pPr marL="82091" indent="-82091" defTabSz="845939" fontAlgn="base">
              <a:lnSpc>
                <a:spcPct val="90000"/>
              </a:lnSpc>
              <a:spcBef>
                <a:spcPct val="0"/>
              </a:spcBef>
              <a:spcAft>
                <a:spcPct val="0"/>
              </a:spcAft>
              <a:buFont typeface="Arial" panose="020B0604020202020204" pitchFamily="34" charset="0"/>
              <a:buChar char="•"/>
            </a:pPr>
            <a:r>
              <a:rPr lang="en-GB" sz="726" dirty="0">
                <a:solidFill>
                  <a:schemeClr val="accent6">
                    <a:lumMod val="50000"/>
                  </a:schemeClr>
                </a:solidFill>
                <a:ea typeface="Segoe UI" pitchFamily="34" charset="0"/>
                <a:cs typeface="Segoe UI" pitchFamily="34" charset="0"/>
              </a:rPr>
              <a:t>ADVISORS</a:t>
            </a:r>
          </a:p>
          <a:p>
            <a:pPr marL="82091" indent="-82091" defTabSz="845939" fontAlgn="base">
              <a:lnSpc>
                <a:spcPct val="90000"/>
              </a:lnSpc>
              <a:spcBef>
                <a:spcPct val="0"/>
              </a:spcBef>
              <a:spcAft>
                <a:spcPct val="0"/>
              </a:spcAft>
              <a:buFont typeface="Arial" panose="020B0604020202020204" pitchFamily="34" charset="0"/>
              <a:buChar char="•"/>
            </a:pPr>
            <a:r>
              <a:rPr lang="en-GB" sz="726" dirty="0">
                <a:solidFill>
                  <a:schemeClr val="accent6">
                    <a:lumMod val="50000"/>
                  </a:schemeClr>
                </a:solidFill>
                <a:ea typeface="Segoe UI" pitchFamily="34" charset="0"/>
                <a:cs typeface="Segoe UI" pitchFamily="34" charset="0"/>
              </a:rPr>
              <a:t>SUPPORT FUNCTIONS</a:t>
            </a:r>
          </a:p>
          <a:p>
            <a:pPr defTabSz="845939" fontAlgn="base">
              <a:lnSpc>
                <a:spcPct val="90000"/>
              </a:lnSpc>
              <a:spcBef>
                <a:spcPct val="0"/>
              </a:spcBef>
              <a:spcAft>
                <a:spcPct val="0"/>
              </a:spcAft>
            </a:pPr>
            <a:endParaRPr lang="en-GB" sz="726" dirty="0">
              <a:solidFill>
                <a:schemeClr val="accent6">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endParaRPr lang="en-GB" sz="726" dirty="0">
              <a:gradFill>
                <a:gsLst>
                  <a:gs pos="0">
                    <a:srgbClr val="FFFFFF"/>
                  </a:gs>
                  <a:gs pos="100000">
                    <a:srgbClr val="FFFFFF"/>
                  </a:gs>
                </a:gsLst>
                <a:lin ang="5400000" scaled="0"/>
              </a:gradFill>
              <a:ea typeface="Segoe UI" pitchFamily="34" charset="0"/>
              <a:cs typeface="Segoe UI" pitchFamily="34" charset="0"/>
            </a:endParaRPr>
          </a:p>
        </p:txBody>
      </p:sp>
      <p:sp>
        <p:nvSpPr>
          <p:cNvPr id="237" name="TextBox 236">
            <a:extLst>
              <a:ext uri="{FF2B5EF4-FFF2-40B4-BE49-F238E27FC236}">
                <a16:creationId xmlns:a16="http://schemas.microsoft.com/office/drawing/2014/main" id="{7AA97F79-CF98-4553-8849-7BF342D01B8B}"/>
              </a:ext>
            </a:extLst>
          </p:cNvPr>
          <p:cNvSpPr txBox="1"/>
          <p:nvPr/>
        </p:nvSpPr>
        <p:spPr>
          <a:xfrm>
            <a:off x="4550448" y="2039446"/>
            <a:ext cx="2109123" cy="670132"/>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WHAT IS THIS GOING TO DO FOR THE CUSTOMER TO IMPROVE THEIR BUSINESS / JOB / LIFE</a:t>
            </a:r>
            <a:r>
              <a:rPr lang="en-GB" sz="1089" b="1" i="1" dirty="0">
                <a:solidFill>
                  <a:srgbClr val="FF0000"/>
                </a:solidFill>
              </a:rPr>
              <a:t>?</a:t>
            </a:r>
          </a:p>
        </p:txBody>
      </p:sp>
      <p:sp>
        <p:nvSpPr>
          <p:cNvPr id="238" name="TextBox 237">
            <a:extLst>
              <a:ext uri="{FF2B5EF4-FFF2-40B4-BE49-F238E27FC236}">
                <a16:creationId xmlns:a16="http://schemas.microsoft.com/office/drawing/2014/main" id="{18E57E73-4F10-4A2B-89A0-40DCB02D3570}"/>
              </a:ext>
            </a:extLst>
          </p:cNvPr>
          <p:cNvSpPr txBox="1"/>
          <p:nvPr/>
        </p:nvSpPr>
        <p:spPr>
          <a:xfrm>
            <a:off x="6702700" y="3889768"/>
            <a:ext cx="2242516" cy="519257"/>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HOW WILL THE PRODUCT / SERVICE BE SOLD / DISTRIBUTED?</a:t>
            </a:r>
          </a:p>
        </p:txBody>
      </p:sp>
      <p:sp>
        <p:nvSpPr>
          <p:cNvPr id="239" name="TextBox 238">
            <a:extLst>
              <a:ext uri="{FF2B5EF4-FFF2-40B4-BE49-F238E27FC236}">
                <a16:creationId xmlns:a16="http://schemas.microsoft.com/office/drawing/2014/main" id="{F41872F4-BAC8-42D6-936E-9EDE0E43F154}"/>
              </a:ext>
            </a:extLst>
          </p:cNvPr>
          <p:cNvSpPr txBox="1"/>
          <p:nvPr/>
        </p:nvSpPr>
        <p:spPr>
          <a:xfrm>
            <a:off x="6655315" y="2029285"/>
            <a:ext cx="2109123" cy="519257"/>
          </a:xfrm>
          <a:prstGeom prst="rect">
            <a:avLst/>
          </a:prstGeom>
          <a:noFill/>
        </p:spPr>
        <p:txBody>
          <a:bodyPr wrap="square" lIns="165901" tIns="132721" rIns="165901" bIns="132721" rtlCol="0" anchor="t">
            <a:spAutoFit/>
          </a:bodyPr>
          <a:lstStyle/>
          <a:p>
            <a:pPr>
              <a:lnSpc>
                <a:spcPct val="90000"/>
              </a:lnSpc>
              <a:spcAft>
                <a:spcPts val="544"/>
              </a:spcAft>
            </a:pPr>
            <a:r>
              <a:rPr lang="en-GB" sz="907" b="1" i="1" dirty="0">
                <a:solidFill>
                  <a:srgbClr val="FF0000"/>
                </a:solidFill>
              </a:rPr>
              <a:t>WHAT IS THE SUPPORT STRATEGY FOR NEW CUSTOMERS?</a:t>
            </a:r>
          </a:p>
        </p:txBody>
      </p:sp>
      <p:sp>
        <p:nvSpPr>
          <p:cNvPr id="240" name="TextBox 239">
            <a:extLst>
              <a:ext uri="{FF2B5EF4-FFF2-40B4-BE49-F238E27FC236}">
                <a16:creationId xmlns:a16="http://schemas.microsoft.com/office/drawing/2014/main" id="{5F966D58-725B-4E8E-AEC0-9B5F88659DFA}"/>
              </a:ext>
            </a:extLst>
          </p:cNvPr>
          <p:cNvSpPr txBox="1"/>
          <p:nvPr/>
        </p:nvSpPr>
        <p:spPr>
          <a:xfrm>
            <a:off x="580550" y="2052010"/>
            <a:ext cx="1848038" cy="770479"/>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WHAT OTHER COMPANIES / INDIVIDUALS ARE PART OF THE DEVELOPMENT AND GO-TO-MARKET STRATEGY?</a:t>
            </a:r>
          </a:p>
        </p:txBody>
      </p:sp>
      <p:sp>
        <p:nvSpPr>
          <p:cNvPr id="241" name="TextBox 240">
            <a:extLst>
              <a:ext uri="{FF2B5EF4-FFF2-40B4-BE49-F238E27FC236}">
                <a16:creationId xmlns:a16="http://schemas.microsoft.com/office/drawing/2014/main" id="{B96AE9A8-93DA-4FD3-B2FC-97D77334FFF3}"/>
              </a:ext>
            </a:extLst>
          </p:cNvPr>
          <p:cNvSpPr txBox="1"/>
          <p:nvPr/>
        </p:nvSpPr>
        <p:spPr>
          <a:xfrm>
            <a:off x="2431863" y="2047715"/>
            <a:ext cx="2109123" cy="519257"/>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WHAT MUST HAPPEN INTERNALLY TO RELEASE THIS PRODUCT?</a:t>
            </a:r>
          </a:p>
        </p:txBody>
      </p:sp>
      <p:sp>
        <p:nvSpPr>
          <p:cNvPr id="242" name="TextBox 241">
            <a:extLst>
              <a:ext uri="{FF2B5EF4-FFF2-40B4-BE49-F238E27FC236}">
                <a16:creationId xmlns:a16="http://schemas.microsoft.com/office/drawing/2014/main" id="{464C8D38-2FFD-4C84-93B3-693018AE9CD7}"/>
              </a:ext>
            </a:extLst>
          </p:cNvPr>
          <p:cNvSpPr txBox="1"/>
          <p:nvPr/>
        </p:nvSpPr>
        <p:spPr>
          <a:xfrm>
            <a:off x="2252713" y="3805852"/>
            <a:ext cx="2434721" cy="644869"/>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WHAT PEOPLE, SKILLS, MATERIALS, BUDGET ARE REQUIRED TO DELIVER THE PRODUCT?</a:t>
            </a:r>
          </a:p>
        </p:txBody>
      </p:sp>
      <p:sp>
        <p:nvSpPr>
          <p:cNvPr id="243" name="TextBox 242">
            <a:extLst>
              <a:ext uri="{FF2B5EF4-FFF2-40B4-BE49-F238E27FC236}">
                <a16:creationId xmlns:a16="http://schemas.microsoft.com/office/drawing/2014/main" id="{CA7997B0-B306-43F2-B5BB-30D565F000BF}"/>
              </a:ext>
            </a:extLst>
          </p:cNvPr>
          <p:cNvSpPr txBox="1"/>
          <p:nvPr/>
        </p:nvSpPr>
        <p:spPr>
          <a:xfrm>
            <a:off x="665332" y="5175194"/>
            <a:ext cx="4879487" cy="393646"/>
          </a:xfrm>
          <a:prstGeom prst="rect">
            <a:avLst/>
          </a:prstGeom>
          <a:noFill/>
        </p:spPr>
        <p:txBody>
          <a:bodyPr wrap="square" lIns="165901" tIns="132721" rIns="165901" bIns="132721" rtlCol="0">
            <a:spAutoFit/>
          </a:bodyPr>
          <a:lstStyle/>
          <a:p>
            <a:pPr>
              <a:lnSpc>
                <a:spcPct val="90000"/>
              </a:lnSpc>
              <a:spcAft>
                <a:spcPts val="544"/>
              </a:spcAft>
            </a:pPr>
            <a:r>
              <a:rPr lang="en-GB" sz="907" b="1" i="1" dirty="0">
                <a:solidFill>
                  <a:srgbClr val="FF0000"/>
                </a:solidFill>
              </a:rPr>
              <a:t>WHAT COSTS WILL BE INCURRED TO DEVELOP, DISTRIBUTE AND SUPPORT THE PRODUCT?</a:t>
            </a:r>
          </a:p>
        </p:txBody>
      </p:sp>
      <p:sp>
        <p:nvSpPr>
          <p:cNvPr id="245" name="Rectangle 244">
            <a:extLst>
              <a:ext uri="{FF2B5EF4-FFF2-40B4-BE49-F238E27FC236}">
                <a16:creationId xmlns:a16="http://schemas.microsoft.com/office/drawing/2014/main" id="{73D40870-C2CC-4B9D-9AF9-F2B5AE69A739}"/>
              </a:ext>
            </a:extLst>
          </p:cNvPr>
          <p:cNvSpPr/>
          <p:nvPr/>
        </p:nvSpPr>
        <p:spPr bwMode="auto">
          <a:xfrm>
            <a:off x="3571686" y="3236787"/>
            <a:ext cx="864877" cy="41880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solidFill>
                <a:schemeClr val="bg1"/>
              </a:solidFill>
              <a:ea typeface="Segoe UI" pitchFamily="34" charset="0"/>
              <a:cs typeface="Segoe UI" pitchFamily="34" charset="0"/>
            </a:endParaRPr>
          </a:p>
          <a:p>
            <a:pPr algn="ctr" defTabSz="845939" fontAlgn="base">
              <a:lnSpc>
                <a:spcPct val="90000"/>
              </a:lnSpc>
              <a:spcBef>
                <a:spcPct val="0"/>
              </a:spcBef>
              <a:spcAft>
                <a:spcPct val="0"/>
              </a:spcAft>
            </a:pPr>
            <a:endParaRPr lang="en-GB" sz="635" b="1" dirty="0">
              <a:solidFill>
                <a:schemeClr val="bg1"/>
              </a:solidFill>
              <a:ea typeface="Segoe UI" pitchFamily="34" charset="0"/>
              <a:cs typeface="Segoe UI" pitchFamily="34" charset="0"/>
            </a:endParaRPr>
          </a:p>
        </p:txBody>
      </p:sp>
      <p:sp>
        <p:nvSpPr>
          <p:cNvPr id="246" name="Rectangle 245">
            <a:extLst>
              <a:ext uri="{FF2B5EF4-FFF2-40B4-BE49-F238E27FC236}">
                <a16:creationId xmlns:a16="http://schemas.microsoft.com/office/drawing/2014/main" id="{FBD4F063-AB8E-4CE6-BCA2-28BB118C44CC}"/>
              </a:ext>
            </a:extLst>
          </p:cNvPr>
          <p:cNvSpPr/>
          <p:nvPr/>
        </p:nvSpPr>
        <p:spPr bwMode="auto">
          <a:xfrm>
            <a:off x="2406801" y="4361225"/>
            <a:ext cx="927111" cy="26674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endParaRPr lang="en-GB" sz="600" b="1" dirty="0">
              <a:solidFill>
                <a:schemeClr val="bg1"/>
              </a:solidFill>
              <a:ea typeface="Segoe UI" pitchFamily="34" charset="0"/>
              <a:cs typeface="Segoe UI" pitchFamily="34" charset="0"/>
            </a:endParaRPr>
          </a:p>
        </p:txBody>
      </p:sp>
      <p:sp>
        <p:nvSpPr>
          <p:cNvPr id="247" name="Rectangle 246">
            <a:extLst>
              <a:ext uri="{FF2B5EF4-FFF2-40B4-BE49-F238E27FC236}">
                <a16:creationId xmlns:a16="http://schemas.microsoft.com/office/drawing/2014/main" id="{4350AF15-7BAF-4090-95C6-9DFD4C266C3B}"/>
              </a:ext>
            </a:extLst>
          </p:cNvPr>
          <p:cNvSpPr/>
          <p:nvPr/>
        </p:nvSpPr>
        <p:spPr bwMode="auto">
          <a:xfrm>
            <a:off x="865245" y="5563989"/>
            <a:ext cx="1587547" cy="45878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endParaRPr lang="en-GB" sz="600" dirty="0">
              <a:solidFill>
                <a:schemeClr val="bg1"/>
              </a:solidFill>
              <a:ea typeface="Segoe UI" pitchFamily="34" charset="0"/>
              <a:cs typeface="Segoe UI" pitchFamily="34" charset="0"/>
            </a:endParaRPr>
          </a:p>
        </p:txBody>
      </p:sp>
      <p:sp>
        <p:nvSpPr>
          <p:cNvPr id="248" name="Rectangle 247">
            <a:extLst>
              <a:ext uri="{FF2B5EF4-FFF2-40B4-BE49-F238E27FC236}">
                <a16:creationId xmlns:a16="http://schemas.microsoft.com/office/drawing/2014/main" id="{F1B5B4AC-DEDD-4729-92FB-61F6A9A23E5E}"/>
              </a:ext>
            </a:extLst>
          </p:cNvPr>
          <p:cNvSpPr/>
          <p:nvPr/>
        </p:nvSpPr>
        <p:spPr bwMode="auto">
          <a:xfrm>
            <a:off x="4563236" y="3666350"/>
            <a:ext cx="1017591" cy="864228"/>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endParaRPr lang="en-GB" sz="700" b="1" dirty="0">
              <a:solidFill>
                <a:schemeClr val="accent6">
                  <a:lumMod val="50000"/>
                </a:schemeClr>
              </a:solidFill>
              <a:ea typeface="Calibri"/>
              <a:cs typeface="Segoe UI" pitchFamily="34" charset="0"/>
            </a:endParaRPr>
          </a:p>
        </p:txBody>
      </p:sp>
      <p:sp>
        <p:nvSpPr>
          <p:cNvPr id="249" name="Rectangle 248">
            <a:extLst>
              <a:ext uri="{FF2B5EF4-FFF2-40B4-BE49-F238E27FC236}">
                <a16:creationId xmlns:a16="http://schemas.microsoft.com/office/drawing/2014/main" id="{AFA4A2BA-E00A-458C-93FE-DCACC6396AB3}"/>
              </a:ext>
            </a:extLst>
          </p:cNvPr>
          <p:cNvSpPr/>
          <p:nvPr/>
        </p:nvSpPr>
        <p:spPr bwMode="auto">
          <a:xfrm>
            <a:off x="6726956" y="4445056"/>
            <a:ext cx="1078706" cy="401445"/>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r>
              <a:rPr lang="en-GB" sz="726" b="1" dirty="0">
                <a:solidFill>
                  <a:schemeClr val="accent6">
                    <a:lumMod val="50000"/>
                  </a:schemeClr>
                </a:solidFill>
                <a:ea typeface="Segoe UI" pitchFamily="34" charset="0"/>
                <a:cs typeface="Segoe UI" pitchFamily="34" charset="0"/>
              </a:rPr>
              <a:t>Part of a solution managed service</a:t>
            </a:r>
          </a:p>
        </p:txBody>
      </p:sp>
      <p:sp>
        <p:nvSpPr>
          <p:cNvPr id="250" name="Rectangle 249">
            <a:extLst>
              <a:ext uri="{FF2B5EF4-FFF2-40B4-BE49-F238E27FC236}">
                <a16:creationId xmlns:a16="http://schemas.microsoft.com/office/drawing/2014/main" id="{54B6014E-5678-400E-94F9-CFFF56B59B43}"/>
              </a:ext>
            </a:extLst>
          </p:cNvPr>
          <p:cNvSpPr/>
          <p:nvPr/>
        </p:nvSpPr>
        <p:spPr bwMode="auto">
          <a:xfrm>
            <a:off x="6162604" y="5565901"/>
            <a:ext cx="1202260" cy="38155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marL="82091" indent="-82091" defTabSz="845939" fontAlgn="base">
              <a:lnSpc>
                <a:spcPct val="90000"/>
              </a:lnSpc>
              <a:spcBef>
                <a:spcPct val="0"/>
              </a:spcBef>
              <a:spcAft>
                <a:spcPct val="0"/>
              </a:spcAft>
              <a:buFont typeface="Arial" panose="020B0604020202020204" pitchFamily="34" charset="0"/>
              <a:buChar char="•"/>
            </a:pPr>
            <a:r>
              <a:rPr lang="en-GB" sz="635" dirty="0">
                <a:solidFill>
                  <a:schemeClr val="bg1"/>
                </a:solidFill>
                <a:ea typeface="Segoe UI" pitchFamily="34" charset="0"/>
                <a:cs typeface="Segoe UI" pitchFamily="34" charset="0"/>
              </a:rPr>
              <a:t>ADDITIONAL CLOUD SERVICE RENT SUBSCRIPTIONS</a:t>
            </a:r>
          </a:p>
        </p:txBody>
      </p:sp>
      <p:sp>
        <p:nvSpPr>
          <p:cNvPr id="257" name="Rectangle 256">
            <a:extLst>
              <a:ext uri="{FF2B5EF4-FFF2-40B4-BE49-F238E27FC236}">
                <a16:creationId xmlns:a16="http://schemas.microsoft.com/office/drawing/2014/main" id="{6C21C6ED-7252-480C-B083-D06E7A0E6F73}"/>
              </a:ext>
            </a:extLst>
          </p:cNvPr>
          <p:cNvSpPr/>
          <p:nvPr/>
        </p:nvSpPr>
        <p:spPr bwMode="auto">
          <a:xfrm>
            <a:off x="10952924" y="4208553"/>
            <a:ext cx="884426" cy="266435"/>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635" dirty="0">
                <a:solidFill>
                  <a:schemeClr val="accent6">
                    <a:lumMod val="50000"/>
                  </a:schemeClr>
                </a:solidFill>
                <a:cs typeface="Segoe UI" pitchFamily="34" charset="0"/>
              </a:rPr>
              <a:t>INDIRECT CUSTOMER</a:t>
            </a:r>
          </a:p>
        </p:txBody>
      </p:sp>
      <p:sp>
        <p:nvSpPr>
          <p:cNvPr id="67" name="Rectangle 66">
            <a:extLst>
              <a:ext uri="{FF2B5EF4-FFF2-40B4-BE49-F238E27FC236}">
                <a16:creationId xmlns:a16="http://schemas.microsoft.com/office/drawing/2014/main" id="{74EE3F12-CAAA-45BE-ABA1-27B45856C370}"/>
              </a:ext>
            </a:extLst>
          </p:cNvPr>
          <p:cNvSpPr/>
          <p:nvPr/>
        </p:nvSpPr>
        <p:spPr bwMode="auto">
          <a:xfrm>
            <a:off x="5600023" y="3658852"/>
            <a:ext cx="1017591" cy="864228"/>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endParaRPr lang="en-GB" sz="700" b="1" dirty="0">
              <a:solidFill>
                <a:schemeClr val="accent6">
                  <a:lumMod val="50000"/>
                </a:schemeClr>
              </a:solidFill>
              <a:ea typeface="Calibri"/>
              <a:cs typeface="Segoe UI" pitchFamily="34" charset="0"/>
            </a:endParaRPr>
          </a:p>
        </p:txBody>
      </p:sp>
      <p:sp>
        <p:nvSpPr>
          <p:cNvPr id="68" name="Rectangle 67">
            <a:extLst>
              <a:ext uri="{FF2B5EF4-FFF2-40B4-BE49-F238E27FC236}">
                <a16:creationId xmlns:a16="http://schemas.microsoft.com/office/drawing/2014/main" id="{9249742B-903E-49F5-AADA-777C0316265E}"/>
              </a:ext>
            </a:extLst>
          </p:cNvPr>
          <p:cNvSpPr/>
          <p:nvPr/>
        </p:nvSpPr>
        <p:spPr bwMode="auto">
          <a:xfrm>
            <a:off x="3571686" y="2616407"/>
            <a:ext cx="864877" cy="607578"/>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gradFill>
                <a:gsLst>
                  <a:gs pos="0">
                    <a:srgbClr val="FFFFFF"/>
                  </a:gs>
                  <a:gs pos="100000">
                    <a:srgbClr val="FFFFFF"/>
                  </a:gs>
                </a:gsLst>
                <a:lin ang="5400000" scaled="0"/>
              </a:gradFill>
              <a:ea typeface="Segoe UI" pitchFamily="34" charset="0"/>
              <a:cs typeface="Segoe UI" pitchFamily="34" charset="0"/>
            </a:endParaRPr>
          </a:p>
          <a:p>
            <a:pPr algn="ctr" defTabSz="845939" fontAlgn="base">
              <a:lnSpc>
                <a:spcPct val="90000"/>
              </a:lnSpc>
              <a:spcBef>
                <a:spcPct val="0"/>
              </a:spcBef>
              <a:spcAft>
                <a:spcPct val="0"/>
              </a:spcAft>
            </a:pPr>
            <a:r>
              <a:rPr lang="en-GB" sz="635" b="1" dirty="0">
                <a:solidFill>
                  <a:schemeClr val="accent6">
                    <a:lumMod val="50000"/>
                  </a:schemeClr>
                </a:solidFill>
                <a:ea typeface="Segoe UI" pitchFamily="34" charset="0"/>
                <a:cs typeface="Segoe UI" pitchFamily="34" charset="0"/>
              </a:rPr>
              <a:t>Build client facing value prop, integrate into consulting offerings and GTM</a:t>
            </a:r>
          </a:p>
          <a:p>
            <a:pPr algn="ctr" defTabSz="845939" fontAlgn="base">
              <a:lnSpc>
                <a:spcPct val="90000"/>
              </a:lnSpc>
              <a:spcBef>
                <a:spcPct val="0"/>
              </a:spcBef>
              <a:spcAft>
                <a:spcPct val="0"/>
              </a:spcAft>
            </a:pPr>
            <a:endParaRPr lang="en-GB" sz="635" b="1" dirty="0">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68">
            <a:extLst>
              <a:ext uri="{FF2B5EF4-FFF2-40B4-BE49-F238E27FC236}">
                <a16:creationId xmlns:a16="http://schemas.microsoft.com/office/drawing/2014/main" id="{3027137B-9A23-4B28-8E5C-5375F661B592}"/>
              </a:ext>
            </a:extLst>
          </p:cNvPr>
          <p:cNvSpPr/>
          <p:nvPr/>
        </p:nvSpPr>
        <p:spPr bwMode="auto">
          <a:xfrm>
            <a:off x="2422668" y="4662440"/>
            <a:ext cx="902648" cy="277063"/>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solidFill>
                <a:schemeClr val="accent6">
                  <a:lumMod val="50000"/>
                </a:schemeClr>
              </a:solidFill>
              <a:cs typeface="Segoe UI" pitchFamily="34" charset="0"/>
            </a:endParaRPr>
          </a:p>
          <a:p>
            <a:pPr algn="ctr" defTabSz="845939" fontAlgn="base">
              <a:lnSpc>
                <a:spcPct val="90000"/>
              </a:lnSpc>
              <a:spcBef>
                <a:spcPct val="0"/>
              </a:spcBef>
              <a:spcAft>
                <a:spcPct val="0"/>
              </a:spcAft>
            </a:pPr>
            <a:endParaRPr lang="en-GB" sz="726" b="1" dirty="0">
              <a:gradFill>
                <a:gsLst>
                  <a:gs pos="0">
                    <a:srgbClr val="FFFFFF"/>
                  </a:gs>
                  <a:gs pos="100000">
                    <a:srgbClr val="FFFFFF"/>
                  </a:gs>
                </a:gsLst>
                <a:lin ang="5400000" scaled="0"/>
              </a:gradFill>
              <a:cs typeface="Segoe UI" pitchFamily="34" charset="0"/>
            </a:endParaRPr>
          </a:p>
        </p:txBody>
      </p:sp>
      <p:sp>
        <p:nvSpPr>
          <p:cNvPr id="70" name="Rectangle 69">
            <a:extLst>
              <a:ext uri="{FF2B5EF4-FFF2-40B4-BE49-F238E27FC236}">
                <a16:creationId xmlns:a16="http://schemas.microsoft.com/office/drawing/2014/main" id="{7B8235FC-188F-43E2-B788-80022B58AD19}"/>
              </a:ext>
            </a:extLst>
          </p:cNvPr>
          <p:cNvSpPr/>
          <p:nvPr/>
        </p:nvSpPr>
        <p:spPr bwMode="auto">
          <a:xfrm>
            <a:off x="10954606" y="4544391"/>
            <a:ext cx="884426" cy="266435"/>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r>
              <a:rPr lang="en-GB" sz="635" dirty="0">
                <a:solidFill>
                  <a:schemeClr val="tx2">
                    <a:lumMod val="75000"/>
                  </a:schemeClr>
                </a:solidFill>
                <a:cs typeface="Segoe UI" pitchFamily="34" charset="0"/>
              </a:rPr>
              <a:t>OTHER</a:t>
            </a:r>
          </a:p>
        </p:txBody>
      </p:sp>
      <p:sp>
        <p:nvSpPr>
          <p:cNvPr id="72" name="Rectangle 71">
            <a:extLst>
              <a:ext uri="{FF2B5EF4-FFF2-40B4-BE49-F238E27FC236}">
                <a16:creationId xmlns:a16="http://schemas.microsoft.com/office/drawing/2014/main" id="{9D4D1BEE-0311-478E-A601-65FFDDC22A6C}"/>
              </a:ext>
            </a:extLst>
          </p:cNvPr>
          <p:cNvSpPr/>
          <p:nvPr/>
        </p:nvSpPr>
        <p:spPr bwMode="auto">
          <a:xfrm>
            <a:off x="8926996" y="5580739"/>
            <a:ext cx="1331606" cy="381551"/>
          </a:xfrm>
          <a:prstGeom prst="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dirty="0">
              <a:solidFill>
                <a:schemeClr val="tx2">
                  <a:lumMod val="50000"/>
                </a:schemeClr>
              </a:solidFill>
              <a:ea typeface="Segoe UI" pitchFamily="34" charset="0"/>
              <a:cs typeface="Segoe UI" pitchFamily="34" charset="0"/>
            </a:endParaRPr>
          </a:p>
          <a:p>
            <a:pPr defTabSz="845939" fontAlgn="base">
              <a:lnSpc>
                <a:spcPct val="90000"/>
              </a:lnSpc>
              <a:spcBef>
                <a:spcPct val="0"/>
              </a:spcBef>
              <a:spcAft>
                <a:spcPct val="0"/>
              </a:spcAft>
            </a:pPr>
            <a:endParaRPr lang="en-GB" sz="635" dirty="0">
              <a:solidFill>
                <a:schemeClr val="tx2">
                  <a:lumMod val="50000"/>
                </a:schemeClr>
              </a:solidFill>
              <a:ea typeface="Segoe UI" pitchFamily="34" charset="0"/>
              <a:cs typeface="Segoe UI" pitchFamily="34" charset="0"/>
            </a:endParaRPr>
          </a:p>
          <a:p>
            <a:pPr defTabSz="845939" fontAlgn="base">
              <a:lnSpc>
                <a:spcPct val="90000"/>
              </a:lnSpc>
              <a:spcBef>
                <a:spcPct val="0"/>
              </a:spcBef>
              <a:spcAft>
                <a:spcPct val="0"/>
              </a:spcAft>
            </a:pPr>
            <a:endParaRPr lang="en-GB" sz="635" dirty="0">
              <a:solidFill>
                <a:schemeClr val="tx2">
                  <a:lumMod val="50000"/>
                </a:schemeClr>
              </a:solidFill>
              <a:ea typeface="Segoe UI" pitchFamily="34" charset="0"/>
              <a:cs typeface="Segoe UI" pitchFamily="34" charset="0"/>
            </a:endParaRPr>
          </a:p>
          <a:p>
            <a:pPr marL="82091" indent="-82091" defTabSz="845939" fontAlgn="base">
              <a:lnSpc>
                <a:spcPct val="90000"/>
              </a:lnSpc>
              <a:spcBef>
                <a:spcPct val="0"/>
              </a:spcBef>
              <a:spcAft>
                <a:spcPct val="0"/>
              </a:spcAft>
              <a:buFont typeface="Arial" panose="020B0604020202020204" pitchFamily="34" charset="0"/>
              <a:buChar char="•"/>
            </a:pPr>
            <a:r>
              <a:rPr lang="en-GB" sz="635" dirty="0">
                <a:solidFill>
                  <a:schemeClr val="tx2">
                    <a:lumMod val="50000"/>
                  </a:schemeClr>
                </a:solidFill>
                <a:ea typeface="Segoe UI" pitchFamily="34" charset="0"/>
                <a:cs typeface="Segoe UI" pitchFamily="34" charset="0"/>
              </a:rPr>
              <a:t>CONSULTING, AUDIT AND INTEGRATION FEES</a:t>
            </a:r>
          </a:p>
          <a:p>
            <a:pPr defTabSz="845939" fontAlgn="base">
              <a:lnSpc>
                <a:spcPct val="90000"/>
              </a:lnSpc>
              <a:spcBef>
                <a:spcPct val="0"/>
              </a:spcBef>
              <a:spcAft>
                <a:spcPct val="0"/>
              </a:spcAft>
            </a:pPr>
            <a:endParaRPr lang="en-GB" sz="635" dirty="0">
              <a:solidFill>
                <a:schemeClr val="tx2">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endParaRPr lang="en-GB" sz="635" dirty="0">
              <a:solidFill>
                <a:schemeClr val="tx2">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endParaRPr lang="en-GB" sz="635" dirty="0">
              <a:solidFill>
                <a:schemeClr val="tx2">
                  <a:lumMod val="50000"/>
                </a:schemeClr>
              </a:solidFill>
              <a:ea typeface="Segoe UI" pitchFamily="34" charset="0"/>
              <a:cs typeface="Segoe UI" pitchFamily="34" charset="0"/>
            </a:endParaRPr>
          </a:p>
        </p:txBody>
      </p:sp>
      <p:sp>
        <p:nvSpPr>
          <p:cNvPr id="73" name="Rectangle 72">
            <a:extLst>
              <a:ext uri="{FF2B5EF4-FFF2-40B4-BE49-F238E27FC236}">
                <a16:creationId xmlns:a16="http://schemas.microsoft.com/office/drawing/2014/main" id="{8F4F4750-2D1D-400A-916E-F66DAF33D772}"/>
              </a:ext>
            </a:extLst>
          </p:cNvPr>
          <p:cNvSpPr/>
          <p:nvPr/>
        </p:nvSpPr>
        <p:spPr bwMode="auto">
          <a:xfrm>
            <a:off x="2499295" y="5555886"/>
            <a:ext cx="1587547" cy="458782"/>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defTabSz="845939" fontAlgn="base">
              <a:lnSpc>
                <a:spcPct val="90000"/>
              </a:lnSpc>
              <a:spcBef>
                <a:spcPct val="0"/>
              </a:spcBef>
              <a:spcAft>
                <a:spcPct val="0"/>
              </a:spcAft>
            </a:pPr>
            <a:endParaRPr lang="en-GB" sz="600" dirty="0">
              <a:solidFill>
                <a:schemeClr val="bg1"/>
              </a:solidFill>
              <a:ea typeface="Segoe UI" pitchFamily="34" charset="0"/>
              <a:cs typeface="Segoe UI" pitchFamily="34" charset="0"/>
            </a:endParaRPr>
          </a:p>
        </p:txBody>
      </p:sp>
      <p:sp>
        <p:nvSpPr>
          <p:cNvPr id="75" name="Rectangle 74">
            <a:extLst>
              <a:ext uri="{FF2B5EF4-FFF2-40B4-BE49-F238E27FC236}">
                <a16:creationId xmlns:a16="http://schemas.microsoft.com/office/drawing/2014/main" id="{128FD695-9F9D-405F-AB36-C1B4D1DF84D9}"/>
              </a:ext>
            </a:extLst>
          </p:cNvPr>
          <p:cNvSpPr/>
          <p:nvPr/>
        </p:nvSpPr>
        <p:spPr bwMode="auto">
          <a:xfrm>
            <a:off x="9095687" y="3157588"/>
            <a:ext cx="807863" cy="5553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gradFill>
                <a:gsLst>
                  <a:gs pos="0">
                    <a:srgbClr val="FFFFFF"/>
                  </a:gs>
                  <a:gs pos="100000">
                    <a:srgbClr val="FFFFFF"/>
                  </a:gs>
                </a:gsLst>
                <a:lin ang="5400000" scaled="0"/>
              </a:gradFill>
              <a:ea typeface="Segoe UI" pitchFamily="34" charset="0"/>
              <a:cs typeface="Segoe UI" pitchFamily="34" charset="0"/>
            </a:endParaRPr>
          </a:p>
          <a:p>
            <a:pPr algn="ctr" defTabSz="845939" fontAlgn="base">
              <a:lnSpc>
                <a:spcPct val="90000"/>
              </a:lnSpc>
              <a:spcBef>
                <a:spcPct val="0"/>
              </a:spcBef>
              <a:spcAft>
                <a:spcPct val="0"/>
              </a:spcAft>
            </a:pPr>
            <a:r>
              <a:rPr lang="en-GB" sz="635" b="1" dirty="0">
                <a:solidFill>
                  <a:schemeClr val="accent6">
                    <a:lumMod val="50000"/>
                  </a:schemeClr>
                </a:solidFill>
                <a:ea typeface="Segoe UI" pitchFamily="34" charset="0"/>
                <a:cs typeface="Segoe UI" pitchFamily="34" charset="0"/>
              </a:rPr>
              <a:t> </a:t>
            </a:r>
          </a:p>
          <a:p>
            <a:pPr algn="ctr" defTabSz="845939" fontAlgn="base">
              <a:lnSpc>
                <a:spcPct val="90000"/>
              </a:lnSpc>
              <a:spcBef>
                <a:spcPct val="0"/>
              </a:spcBef>
              <a:spcAft>
                <a:spcPct val="0"/>
              </a:spcAft>
            </a:pPr>
            <a:r>
              <a:rPr lang="en-GB" sz="635" b="1" dirty="0">
                <a:solidFill>
                  <a:schemeClr val="bg1"/>
                </a:solidFill>
                <a:ea typeface="Segoe UI" pitchFamily="34" charset="0"/>
                <a:cs typeface="Segoe UI" pitchFamily="34" charset="0"/>
              </a:rPr>
              <a:t>Connect and pass</a:t>
            </a:r>
          </a:p>
        </p:txBody>
      </p:sp>
      <p:sp>
        <p:nvSpPr>
          <p:cNvPr id="76" name="Rectangle 75">
            <a:extLst>
              <a:ext uri="{FF2B5EF4-FFF2-40B4-BE49-F238E27FC236}">
                <a16:creationId xmlns:a16="http://schemas.microsoft.com/office/drawing/2014/main" id="{A5A5FD4A-46ED-407C-BF85-566B313678AA}"/>
              </a:ext>
            </a:extLst>
          </p:cNvPr>
          <p:cNvSpPr/>
          <p:nvPr/>
        </p:nvSpPr>
        <p:spPr bwMode="auto">
          <a:xfrm>
            <a:off x="8833276" y="2889624"/>
            <a:ext cx="649058" cy="414031"/>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65901" tIns="132721" rIns="165901" bIns="132721" numCol="1" spcCol="0" rtlCol="0" fromWordArt="0" anchor="ctr" anchorCtr="0" forceAA="0" compatLnSpc="1">
            <a:prstTxWarp prst="textNoShape">
              <a:avLst/>
            </a:prstTxWarp>
            <a:noAutofit/>
          </a:bodyPr>
          <a:lstStyle/>
          <a:p>
            <a:pPr algn="ctr" defTabSz="845939" fontAlgn="base">
              <a:lnSpc>
                <a:spcPct val="90000"/>
              </a:lnSpc>
              <a:spcBef>
                <a:spcPct val="0"/>
              </a:spcBef>
              <a:spcAft>
                <a:spcPct val="0"/>
              </a:spcAft>
            </a:pPr>
            <a:endParaRPr lang="en-GB" sz="635" b="1" dirty="0">
              <a:solidFill>
                <a:schemeClr val="accent6">
                  <a:lumMod val="50000"/>
                </a:schemeClr>
              </a:solidFill>
              <a:ea typeface="Segoe UI" pitchFamily="34" charset="0"/>
              <a:cs typeface="Segoe UI" pitchFamily="34" charset="0"/>
            </a:endParaRPr>
          </a:p>
          <a:p>
            <a:pPr algn="ctr" defTabSz="845939" fontAlgn="base">
              <a:lnSpc>
                <a:spcPct val="90000"/>
              </a:lnSpc>
              <a:spcBef>
                <a:spcPct val="0"/>
              </a:spcBef>
              <a:spcAft>
                <a:spcPct val="0"/>
              </a:spcAft>
            </a:pPr>
            <a:r>
              <a:rPr lang="en-GB" sz="635" b="1" dirty="0">
                <a:solidFill>
                  <a:schemeClr val="bg1"/>
                </a:solidFill>
                <a:ea typeface="Segoe UI" pitchFamily="34" charset="0"/>
                <a:cs typeface="Segoe UI" pitchFamily="34" charset="0"/>
              </a:rPr>
              <a:t>Support</a:t>
            </a:r>
          </a:p>
          <a:p>
            <a:pPr algn="ctr" defTabSz="845939" fontAlgn="base">
              <a:lnSpc>
                <a:spcPct val="90000"/>
              </a:lnSpc>
              <a:spcBef>
                <a:spcPct val="0"/>
              </a:spcBef>
              <a:spcAft>
                <a:spcPct val="0"/>
              </a:spcAft>
            </a:pPr>
            <a:endParaRPr lang="en-GB" sz="635" b="1"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5630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88383" y="398639"/>
            <a:ext cx="9510509" cy="1232737"/>
          </a:xfrm>
        </p:spPr>
        <p:txBody>
          <a:bodyPr/>
          <a:lstStyle/>
          <a:p>
            <a:pPr algn="ctr">
              <a:lnSpc>
                <a:spcPct val="100000"/>
              </a:lnSpc>
              <a:spcBef>
                <a:spcPts val="0"/>
              </a:spcBef>
              <a:buClr>
                <a:srgbClr val="000000"/>
              </a:buClr>
              <a:buSzPts val="2400"/>
            </a:pPr>
            <a:r>
              <a:rPr lang="en-US" sz="3400" dirty="0">
                <a:solidFill>
                  <a:schemeClr val="tx2">
                    <a:lumMod val="75000"/>
                  </a:schemeClr>
                </a:solidFill>
              </a:rPr>
              <a:t>Notional GTM Go Live work back plan</a:t>
            </a:r>
            <a:br>
              <a:rPr lang="en-US" sz="3400" dirty="0">
                <a:solidFill>
                  <a:schemeClr val="tx2">
                    <a:lumMod val="75000"/>
                  </a:schemeClr>
                </a:solidFill>
              </a:rPr>
            </a:br>
            <a:r>
              <a:rPr lang="en-US" sz="3400" dirty="0">
                <a:solidFill>
                  <a:schemeClr val="tx2">
                    <a:lumMod val="75000"/>
                  </a:schemeClr>
                </a:solidFill>
              </a:rPr>
              <a:t>Project Schedule and Milestones</a:t>
            </a:r>
          </a:p>
        </p:txBody>
      </p:sp>
      <p:graphicFrame>
        <p:nvGraphicFramePr>
          <p:cNvPr id="4" name="Content Placeholder 3" descr="Chevron Access Process diagram showing 4 milestones from left to right with bullet points inside each milestone box."/>
          <p:cNvGraphicFramePr>
            <a:graphicFrameLocks noGrp="1"/>
          </p:cNvGraphicFramePr>
          <p:nvPr>
            <p:ph idx="4294967295"/>
          </p:nvPr>
        </p:nvGraphicFramePr>
        <p:xfrm>
          <a:off x="946155" y="1631376"/>
          <a:ext cx="10299691" cy="45449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77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F72AF3F-CD02-4A2A-AFA3-109017D5C6C4}"/>
              </a:ext>
            </a:extLst>
          </p:cNvPr>
          <p:cNvSpPr/>
          <p:nvPr/>
        </p:nvSpPr>
        <p:spPr>
          <a:xfrm>
            <a:off x="5077" y="-1411"/>
            <a:ext cx="2951714" cy="54814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sz="1633"/>
          </a:p>
        </p:txBody>
      </p:sp>
      <p:grpSp>
        <p:nvGrpSpPr>
          <p:cNvPr id="6" name="StoryboardList0"/>
          <p:cNvGrpSpPr/>
          <p:nvPr/>
        </p:nvGrpSpPr>
        <p:grpSpPr>
          <a:xfrm>
            <a:off x="391747" y="4690436"/>
            <a:ext cx="2603419" cy="1715576"/>
            <a:chOff x="434340" y="3426201"/>
            <a:chExt cx="2251042" cy="307678"/>
          </a:xfrm>
        </p:grpSpPr>
        <p:sp>
          <p:nvSpPr>
            <p:cNvPr id="4" name="StoryboardListDescription"/>
            <p:cNvSpPr txBox="1"/>
            <p:nvPr/>
          </p:nvSpPr>
          <p:spPr>
            <a:xfrm>
              <a:off x="434340" y="3514468"/>
              <a:ext cx="2251042" cy="219411"/>
            </a:xfrm>
            <a:prstGeom prst="rect">
              <a:avLst/>
            </a:prstGeom>
            <a:noFill/>
          </p:spPr>
          <p:txBody>
            <a:bodyPr wrap="square" rtlCol="0">
              <a:spAutoFit/>
            </a:bodyPr>
            <a:lstStyle/>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Reach market innovation in services to customer base through partners.</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Increased customer satisfaction and loyalty</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Increased cross-sell and up-sell</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Improved operational efficiency</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Increased channel breadth</a:t>
              </a:r>
            </a:p>
          </p:txBody>
        </p:sp>
        <p:sp>
          <p:nvSpPr>
            <p:cNvPr id="7" name="StoryboardListHeader"/>
            <p:cNvSpPr txBox="1"/>
            <p:nvPr/>
          </p:nvSpPr>
          <p:spPr>
            <a:xfrm>
              <a:off x="434340" y="3426201"/>
              <a:ext cx="1097803" cy="60718"/>
            </a:xfrm>
            <a:prstGeom prst="rect">
              <a:avLst/>
            </a:prstGeom>
            <a:noFill/>
          </p:spPr>
          <p:txBody>
            <a:bodyPr wrap="square" rtlCol="0">
              <a:spAutoFit/>
            </a:bodyPr>
            <a:lstStyle/>
            <a:p>
              <a:pPr defTabSz="914329">
                <a:defRPr/>
              </a:pPr>
              <a:r>
                <a:rPr lang="en-US" sz="1600">
                  <a:solidFill>
                    <a:prstClr val="white"/>
                  </a:solidFill>
                  <a:latin typeface="Segoe UI" panose="020B0502040204020203" pitchFamily="34" charset="0"/>
                  <a:cs typeface="Segoe UI" panose="020B0502040204020203" pitchFamily="34" charset="0"/>
                </a:rPr>
                <a:t>Benefits</a:t>
              </a:r>
            </a:p>
          </p:txBody>
        </p:sp>
      </p:grpSp>
      <p:grpSp>
        <p:nvGrpSpPr>
          <p:cNvPr id="11" name="StoryboardList2"/>
          <p:cNvGrpSpPr/>
          <p:nvPr/>
        </p:nvGrpSpPr>
        <p:grpSpPr>
          <a:xfrm>
            <a:off x="5994785" y="4669082"/>
            <a:ext cx="2603419" cy="1877161"/>
            <a:chOff x="434340" y="3426201"/>
            <a:chExt cx="2251042" cy="336658"/>
          </a:xfrm>
        </p:grpSpPr>
        <p:sp>
          <p:nvSpPr>
            <p:cNvPr id="12" name="StoryboardListDescription"/>
            <p:cNvSpPr txBox="1"/>
            <p:nvPr/>
          </p:nvSpPr>
          <p:spPr>
            <a:xfrm>
              <a:off x="434340" y="3514468"/>
              <a:ext cx="2251042" cy="248391"/>
            </a:xfrm>
            <a:prstGeom prst="rect">
              <a:avLst/>
            </a:prstGeom>
            <a:noFill/>
          </p:spPr>
          <p:txBody>
            <a:bodyPr wrap="square" rtlCol="0">
              <a:spAutoFit/>
            </a:bodyPr>
            <a:lstStyle/>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Stop doing redundant, repeatable processes. – automate where possible.</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Requiring customers to manually integrate services</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Restricting customers from performing transactions anytime, anywhere</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Scaling cost with transaction volume</a:t>
              </a:r>
            </a:p>
          </p:txBody>
        </p:sp>
        <p:sp>
          <p:nvSpPr>
            <p:cNvPr id="13" name="StoryboardListHeader"/>
            <p:cNvSpPr txBox="1"/>
            <p:nvPr/>
          </p:nvSpPr>
          <p:spPr>
            <a:xfrm>
              <a:off x="434340" y="3426201"/>
              <a:ext cx="1097803" cy="60718"/>
            </a:xfrm>
            <a:prstGeom prst="rect">
              <a:avLst/>
            </a:prstGeom>
            <a:noFill/>
          </p:spPr>
          <p:txBody>
            <a:bodyPr wrap="square" rtlCol="0">
              <a:spAutoFit/>
            </a:bodyPr>
            <a:lstStyle/>
            <a:p>
              <a:pPr defTabSz="914329">
                <a:defRPr/>
              </a:pPr>
              <a:r>
                <a:rPr lang="en-US" sz="1600">
                  <a:solidFill>
                    <a:prstClr val="white"/>
                  </a:solidFill>
                  <a:latin typeface="Segoe UI" panose="020B0502040204020203" pitchFamily="34" charset="0"/>
                  <a:cs typeface="Segoe UI" panose="020B0502040204020203" pitchFamily="34" charset="0"/>
                </a:rPr>
                <a:t>Stop</a:t>
              </a:r>
            </a:p>
          </p:txBody>
        </p:sp>
      </p:grpSp>
      <p:grpSp>
        <p:nvGrpSpPr>
          <p:cNvPr id="14" name="StoryboardList3"/>
          <p:cNvGrpSpPr/>
          <p:nvPr/>
        </p:nvGrpSpPr>
        <p:grpSpPr>
          <a:xfrm>
            <a:off x="8673446" y="4696667"/>
            <a:ext cx="2603419" cy="1715579"/>
            <a:chOff x="434340" y="3426201"/>
            <a:chExt cx="2251042" cy="307679"/>
          </a:xfrm>
        </p:grpSpPr>
        <p:sp>
          <p:nvSpPr>
            <p:cNvPr id="28" name="StoryboardListDescription"/>
            <p:cNvSpPr txBox="1"/>
            <p:nvPr/>
          </p:nvSpPr>
          <p:spPr>
            <a:xfrm>
              <a:off x="434340" y="3514468"/>
              <a:ext cx="2251042" cy="219412"/>
            </a:xfrm>
            <a:prstGeom prst="rect">
              <a:avLst/>
            </a:prstGeom>
            <a:noFill/>
          </p:spPr>
          <p:txBody>
            <a:bodyPr wrap="square" rtlCol="0">
              <a:spAutoFit/>
            </a:bodyPr>
            <a:lstStyle/>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Providing banking services anytime, anywhere</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Serving customers over any partner channel</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Increasing sales of products and services</a:t>
              </a:r>
            </a:p>
            <a:p>
              <a:pPr marL="171436" indent="-171436" defTabSz="914329">
                <a:buFont typeface="Arial" panose="020B0604020202020204" pitchFamily="34" charset="0"/>
                <a:buChar char="•"/>
                <a:defRPr/>
              </a:pPr>
              <a:r>
                <a:rPr lang="en-US" sz="1050">
                  <a:solidFill>
                    <a:prstClr val="white"/>
                  </a:solidFill>
                  <a:latin typeface="Segoe UI" panose="020B0502040204020203" pitchFamily="34" charset="0"/>
                  <a:cs typeface="Segoe UI" panose="020B0502040204020203" pitchFamily="34" charset="0"/>
                </a:rPr>
                <a:t>Increasing customer satisfaction</a:t>
              </a:r>
            </a:p>
          </p:txBody>
        </p:sp>
        <p:sp>
          <p:nvSpPr>
            <p:cNvPr id="26" name="StoryboardListHeader"/>
            <p:cNvSpPr txBox="1"/>
            <p:nvPr/>
          </p:nvSpPr>
          <p:spPr>
            <a:xfrm>
              <a:off x="434340" y="3426201"/>
              <a:ext cx="1097803" cy="60718"/>
            </a:xfrm>
            <a:prstGeom prst="rect">
              <a:avLst/>
            </a:prstGeom>
            <a:noFill/>
          </p:spPr>
          <p:txBody>
            <a:bodyPr wrap="square" rtlCol="0">
              <a:spAutoFit/>
            </a:bodyPr>
            <a:lstStyle/>
            <a:p>
              <a:pPr defTabSz="914329">
                <a:defRPr/>
              </a:pPr>
              <a:r>
                <a:rPr lang="en-US" sz="1600">
                  <a:solidFill>
                    <a:prstClr val="white"/>
                  </a:solidFill>
                  <a:latin typeface="Segoe UI" panose="020B0502040204020203" pitchFamily="34" charset="0"/>
                  <a:cs typeface="Segoe UI" panose="020B0502040204020203" pitchFamily="34" charset="0"/>
                </a:rPr>
                <a:t>Continue</a:t>
              </a:r>
            </a:p>
          </p:txBody>
        </p:sp>
      </p:grpSp>
      <p:sp>
        <p:nvSpPr>
          <p:cNvPr id="29" name="Freeform 12">
            <a:extLst>
              <a:ext uri="{FF2B5EF4-FFF2-40B4-BE49-F238E27FC236}">
                <a16:creationId xmlns:a16="http://schemas.microsoft.com/office/drawing/2014/main" id="{D3F0934E-E4D3-466E-A6F6-C9C87E3087BE}"/>
              </a:ext>
            </a:extLst>
          </p:cNvPr>
          <p:cNvSpPr/>
          <p:nvPr/>
        </p:nvSpPr>
        <p:spPr bwMode="auto">
          <a:xfrm>
            <a:off x="311362" y="1114068"/>
            <a:ext cx="10927410" cy="3051429"/>
          </a:xfrm>
          <a:custGeom>
            <a:avLst/>
            <a:gdLst>
              <a:gd name="connsiteX0" fmla="*/ 0 w 12119714"/>
              <a:gd name="connsiteY0" fmla="*/ 1020655 h 3785780"/>
              <a:gd name="connsiteX1" fmla="*/ 1383632 w 12119714"/>
              <a:gd name="connsiteY1" fmla="*/ 118287 h 3785780"/>
              <a:gd name="connsiteX2" fmla="*/ 2442411 w 12119714"/>
              <a:gd name="connsiteY2" fmla="*/ 1513950 h 3785780"/>
              <a:gd name="connsiteX3" fmla="*/ 1130969 w 12119714"/>
              <a:gd name="connsiteY3" fmla="*/ 2536634 h 3785780"/>
              <a:gd name="connsiteX4" fmla="*/ 1143000 w 12119714"/>
              <a:gd name="connsiteY4" fmla="*/ 3523223 h 3785780"/>
              <a:gd name="connsiteX5" fmla="*/ 3164306 w 12119714"/>
              <a:gd name="connsiteY5" fmla="*/ 3330718 h 3785780"/>
              <a:gd name="connsiteX6" fmla="*/ 4030579 w 12119714"/>
              <a:gd name="connsiteY6" fmla="*/ 1213160 h 3785780"/>
              <a:gd name="connsiteX7" fmla="*/ 4896853 w 12119714"/>
              <a:gd name="connsiteY7" fmla="*/ 70160 h 3785780"/>
              <a:gd name="connsiteX8" fmla="*/ 6388769 w 12119714"/>
              <a:gd name="connsiteY8" fmla="*/ 743929 h 3785780"/>
              <a:gd name="connsiteX9" fmla="*/ 7279106 w 12119714"/>
              <a:gd name="connsiteY9" fmla="*/ 1104876 h 3785780"/>
              <a:gd name="connsiteX10" fmla="*/ 8446169 w 12119714"/>
              <a:gd name="connsiteY10" fmla="*/ 142350 h 3785780"/>
              <a:gd name="connsiteX11" fmla="*/ 11105148 w 12119714"/>
              <a:gd name="connsiteY11" fmla="*/ 214539 h 3785780"/>
              <a:gd name="connsiteX12" fmla="*/ 11694695 w 12119714"/>
              <a:gd name="connsiteY12" fmla="*/ 2103497 h 3785780"/>
              <a:gd name="connsiteX13" fmla="*/ 9745579 w 12119714"/>
              <a:gd name="connsiteY13" fmla="*/ 1826771 h 3785780"/>
              <a:gd name="connsiteX14" fmla="*/ 6605337 w 12119714"/>
              <a:gd name="connsiteY14" fmla="*/ 1778644 h 3785780"/>
              <a:gd name="connsiteX15" fmla="*/ 4632158 w 12119714"/>
              <a:gd name="connsiteY15" fmla="*/ 2067402 h 3785780"/>
              <a:gd name="connsiteX16" fmla="*/ 4307306 w 12119714"/>
              <a:gd name="connsiteY16" fmla="*/ 3571350 h 3785780"/>
              <a:gd name="connsiteX17" fmla="*/ 5305927 w 12119714"/>
              <a:gd name="connsiteY17" fmla="*/ 3643539 h 3785780"/>
              <a:gd name="connsiteX18" fmla="*/ 6424863 w 12119714"/>
              <a:gd name="connsiteY18" fmla="*/ 2320065 h 3785780"/>
              <a:gd name="connsiteX19" fmla="*/ 8698832 w 12119714"/>
              <a:gd name="connsiteY19" fmla="*/ 3330718 h 3785780"/>
              <a:gd name="connsiteX20" fmla="*/ 11670632 w 12119714"/>
              <a:gd name="connsiteY20" fmla="*/ 3174308 h 3785780"/>
              <a:gd name="connsiteX21" fmla="*/ 12055642 w 12119714"/>
              <a:gd name="connsiteY21" fmla="*/ 3174308 h 3785780"/>
              <a:gd name="connsiteX0" fmla="*/ 0 w 12119714"/>
              <a:gd name="connsiteY0" fmla="*/ 1020655 h 3785780"/>
              <a:gd name="connsiteX1" fmla="*/ 1383632 w 12119714"/>
              <a:gd name="connsiteY1" fmla="*/ 118287 h 3785780"/>
              <a:gd name="connsiteX2" fmla="*/ 2442411 w 12119714"/>
              <a:gd name="connsiteY2" fmla="*/ 1513950 h 3785780"/>
              <a:gd name="connsiteX3" fmla="*/ 1130969 w 12119714"/>
              <a:gd name="connsiteY3" fmla="*/ 2536634 h 3785780"/>
              <a:gd name="connsiteX4" fmla="*/ 1143000 w 12119714"/>
              <a:gd name="connsiteY4" fmla="*/ 3523223 h 3785780"/>
              <a:gd name="connsiteX5" fmla="*/ 3164306 w 12119714"/>
              <a:gd name="connsiteY5" fmla="*/ 3330718 h 3785780"/>
              <a:gd name="connsiteX6" fmla="*/ 4030579 w 12119714"/>
              <a:gd name="connsiteY6" fmla="*/ 1213160 h 3785780"/>
              <a:gd name="connsiteX7" fmla="*/ 4896853 w 12119714"/>
              <a:gd name="connsiteY7" fmla="*/ 70160 h 3785780"/>
              <a:gd name="connsiteX8" fmla="*/ 6388769 w 12119714"/>
              <a:gd name="connsiteY8" fmla="*/ 743929 h 3785780"/>
              <a:gd name="connsiteX9" fmla="*/ 7279106 w 12119714"/>
              <a:gd name="connsiteY9" fmla="*/ 1104876 h 3785780"/>
              <a:gd name="connsiteX10" fmla="*/ 8446169 w 12119714"/>
              <a:gd name="connsiteY10" fmla="*/ 142350 h 3785780"/>
              <a:gd name="connsiteX11" fmla="*/ 11105148 w 12119714"/>
              <a:gd name="connsiteY11" fmla="*/ 214539 h 3785780"/>
              <a:gd name="connsiteX12" fmla="*/ 11694695 w 12119714"/>
              <a:gd name="connsiteY12" fmla="*/ 2103497 h 3785780"/>
              <a:gd name="connsiteX13" fmla="*/ 9745579 w 12119714"/>
              <a:gd name="connsiteY13" fmla="*/ 1826771 h 3785780"/>
              <a:gd name="connsiteX14" fmla="*/ 6605337 w 12119714"/>
              <a:gd name="connsiteY14" fmla="*/ 1778644 h 3785780"/>
              <a:gd name="connsiteX15" fmla="*/ 4632158 w 12119714"/>
              <a:gd name="connsiteY15" fmla="*/ 2067402 h 3785780"/>
              <a:gd name="connsiteX16" fmla="*/ 4307306 w 12119714"/>
              <a:gd name="connsiteY16" fmla="*/ 3571350 h 3785780"/>
              <a:gd name="connsiteX17" fmla="*/ 5305927 w 12119714"/>
              <a:gd name="connsiteY17" fmla="*/ 3643539 h 3785780"/>
              <a:gd name="connsiteX18" fmla="*/ 6424863 w 12119714"/>
              <a:gd name="connsiteY18" fmla="*/ 2320065 h 3785780"/>
              <a:gd name="connsiteX19" fmla="*/ 8698832 w 12119714"/>
              <a:gd name="connsiteY19" fmla="*/ 3330718 h 3785780"/>
              <a:gd name="connsiteX20" fmla="*/ 11670632 w 12119714"/>
              <a:gd name="connsiteY20" fmla="*/ 3174308 h 3785780"/>
              <a:gd name="connsiteX21" fmla="*/ 12055642 w 12119714"/>
              <a:gd name="connsiteY21" fmla="*/ 3174308 h 3785780"/>
              <a:gd name="connsiteX0" fmla="*/ 0 w 12119714"/>
              <a:gd name="connsiteY0" fmla="*/ 1020655 h 3785780"/>
              <a:gd name="connsiteX1" fmla="*/ 1383632 w 12119714"/>
              <a:gd name="connsiteY1" fmla="*/ 118287 h 3785780"/>
              <a:gd name="connsiteX2" fmla="*/ 2442411 w 12119714"/>
              <a:gd name="connsiteY2" fmla="*/ 1513950 h 3785780"/>
              <a:gd name="connsiteX3" fmla="*/ 1130969 w 12119714"/>
              <a:gd name="connsiteY3" fmla="*/ 2536634 h 3785780"/>
              <a:gd name="connsiteX4" fmla="*/ 1143000 w 12119714"/>
              <a:gd name="connsiteY4" fmla="*/ 3523223 h 3785780"/>
              <a:gd name="connsiteX5" fmla="*/ 3164306 w 12119714"/>
              <a:gd name="connsiteY5" fmla="*/ 3330718 h 3785780"/>
              <a:gd name="connsiteX6" fmla="*/ 4030579 w 12119714"/>
              <a:gd name="connsiteY6" fmla="*/ 1213160 h 3785780"/>
              <a:gd name="connsiteX7" fmla="*/ 4896853 w 12119714"/>
              <a:gd name="connsiteY7" fmla="*/ 70160 h 3785780"/>
              <a:gd name="connsiteX8" fmla="*/ 7279106 w 12119714"/>
              <a:gd name="connsiteY8" fmla="*/ 1104876 h 3785780"/>
              <a:gd name="connsiteX9" fmla="*/ 8446169 w 12119714"/>
              <a:gd name="connsiteY9" fmla="*/ 142350 h 3785780"/>
              <a:gd name="connsiteX10" fmla="*/ 11105148 w 12119714"/>
              <a:gd name="connsiteY10" fmla="*/ 214539 h 3785780"/>
              <a:gd name="connsiteX11" fmla="*/ 11694695 w 12119714"/>
              <a:gd name="connsiteY11" fmla="*/ 2103497 h 3785780"/>
              <a:gd name="connsiteX12" fmla="*/ 9745579 w 12119714"/>
              <a:gd name="connsiteY12" fmla="*/ 1826771 h 3785780"/>
              <a:gd name="connsiteX13" fmla="*/ 6605337 w 12119714"/>
              <a:gd name="connsiteY13" fmla="*/ 1778644 h 3785780"/>
              <a:gd name="connsiteX14" fmla="*/ 4632158 w 12119714"/>
              <a:gd name="connsiteY14" fmla="*/ 2067402 h 3785780"/>
              <a:gd name="connsiteX15" fmla="*/ 4307306 w 12119714"/>
              <a:gd name="connsiteY15" fmla="*/ 3571350 h 3785780"/>
              <a:gd name="connsiteX16" fmla="*/ 5305927 w 12119714"/>
              <a:gd name="connsiteY16" fmla="*/ 3643539 h 3785780"/>
              <a:gd name="connsiteX17" fmla="*/ 6424863 w 12119714"/>
              <a:gd name="connsiteY17" fmla="*/ 2320065 h 3785780"/>
              <a:gd name="connsiteX18" fmla="*/ 8698832 w 12119714"/>
              <a:gd name="connsiteY18" fmla="*/ 3330718 h 3785780"/>
              <a:gd name="connsiteX19" fmla="*/ 11670632 w 12119714"/>
              <a:gd name="connsiteY19" fmla="*/ 3174308 h 3785780"/>
              <a:gd name="connsiteX20" fmla="*/ 12055642 w 12119714"/>
              <a:gd name="connsiteY20" fmla="*/ 3174308 h 3785780"/>
              <a:gd name="connsiteX0" fmla="*/ 0 w 12119714"/>
              <a:gd name="connsiteY0" fmla="*/ 1020655 h 3785780"/>
              <a:gd name="connsiteX1" fmla="*/ 1383632 w 12119714"/>
              <a:gd name="connsiteY1" fmla="*/ 118287 h 3785780"/>
              <a:gd name="connsiteX2" fmla="*/ 2442411 w 12119714"/>
              <a:gd name="connsiteY2" fmla="*/ 1513950 h 3785780"/>
              <a:gd name="connsiteX3" fmla="*/ 1130969 w 12119714"/>
              <a:gd name="connsiteY3" fmla="*/ 2536634 h 3785780"/>
              <a:gd name="connsiteX4" fmla="*/ 1143000 w 12119714"/>
              <a:gd name="connsiteY4" fmla="*/ 3523223 h 3785780"/>
              <a:gd name="connsiteX5" fmla="*/ 3164306 w 12119714"/>
              <a:gd name="connsiteY5" fmla="*/ 3330718 h 3785780"/>
              <a:gd name="connsiteX6" fmla="*/ 4030579 w 12119714"/>
              <a:gd name="connsiteY6" fmla="*/ 1213160 h 3785780"/>
              <a:gd name="connsiteX7" fmla="*/ 4896853 w 12119714"/>
              <a:gd name="connsiteY7" fmla="*/ 70160 h 3785780"/>
              <a:gd name="connsiteX8" fmla="*/ 7279106 w 12119714"/>
              <a:gd name="connsiteY8" fmla="*/ 1104876 h 3785780"/>
              <a:gd name="connsiteX9" fmla="*/ 8446169 w 12119714"/>
              <a:gd name="connsiteY9" fmla="*/ 142350 h 3785780"/>
              <a:gd name="connsiteX10" fmla="*/ 11105148 w 12119714"/>
              <a:gd name="connsiteY10" fmla="*/ 214539 h 3785780"/>
              <a:gd name="connsiteX11" fmla="*/ 11694695 w 12119714"/>
              <a:gd name="connsiteY11" fmla="*/ 2103497 h 3785780"/>
              <a:gd name="connsiteX12" fmla="*/ 9745579 w 12119714"/>
              <a:gd name="connsiteY12" fmla="*/ 1826771 h 3785780"/>
              <a:gd name="connsiteX13" fmla="*/ 6605337 w 12119714"/>
              <a:gd name="connsiteY13" fmla="*/ 1778644 h 3785780"/>
              <a:gd name="connsiteX14" fmla="*/ 4632158 w 12119714"/>
              <a:gd name="connsiteY14" fmla="*/ 2067402 h 3785780"/>
              <a:gd name="connsiteX15" fmla="*/ 4307306 w 12119714"/>
              <a:gd name="connsiteY15" fmla="*/ 3571350 h 3785780"/>
              <a:gd name="connsiteX16" fmla="*/ 5305927 w 12119714"/>
              <a:gd name="connsiteY16" fmla="*/ 3643539 h 3785780"/>
              <a:gd name="connsiteX17" fmla="*/ 6424863 w 12119714"/>
              <a:gd name="connsiteY17" fmla="*/ 2320065 h 3785780"/>
              <a:gd name="connsiteX18" fmla="*/ 8698832 w 12119714"/>
              <a:gd name="connsiteY18" fmla="*/ 3330718 h 3785780"/>
              <a:gd name="connsiteX19" fmla="*/ 11670632 w 12119714"/>
              <a:gd name="connsiteY19" fmla="*/ 3174308 h 3785780"/>
              <a:gd name="connsiteX20" fmla="*/ 12055642 w 12119714"/>
              <a:gd name="connsiteY20" fmla="*/ 3174308 h 3785780"/>
              <a:gd name="connsiteX0" fmla="*/ 0 w 12119714"/>
              <a:gd name="connsiteY0" fmla="*/ 950730 h 3715855"/>
              <a:gd name="connsiteX1" fmla="*/ 1383632 w 12119714"/>
              <a:gd name="connsiteY1" fmla="*/ 48362 h 3715855"/>
              <a:gd name="connsiteX2" fmla="*/ 2442411 w 12119714"/>
              <a:gd name="connsiteY2" fmla="*/ 1444025 h 3715855"/>
              <a:gd name="connsiteX3" fmla="*/ 1130969 w 12119714"/>
              <a:gd name="connsiteY3" fmla="*/ 2466709 h 3715855"/>
              <a:gd name="connsiteX4" fmla="*/ 1143000 w 12119714"/>
              <a:gd name="connsiteY4" fmla="*/ 3453298 h 3715855"/>
              <a:gd name="connsiteX5" fmla="*/ 3164306 w 12119714"/>
              <a:gd name="connsiteY5" fmla="*/ 3260793 h 3715855"/>
              <a:gd name="connsiteX6" fmla="*/ 4030579 w 12119714"/>
              <a:gd name="connsiteY6" fmla="*/ 1143235 h 3715855"/>
              <a:gd name="connsiteX7" fmla="*/ 4896853 w 12119714"/>
              <a:gd name="connsiteY7" fmla="*/ 235 h 3715855"/>
              <a:gd name="connsiteX8" fmla="*/ 7279106 w 12119714"/>
              <a:gd name="connsiteY8" fmla="*/ 1034951 h 3715855"/>
              <a:gd name="connsiteX9" fmla="*/ 11105148 w 12119714"/>
              <a:gd name="connsiteY9" fmla="*/ 144614 h 3715855"/>
              <a:gd name="connsiteX10" fmla="*/ 11694695 w 12119714"/>
              <a:gd name="connsiteY10" fmla="*/ 2033572 h 3715855"/>
              <a:gd name="connsiteX11" fmla="*/ 9745579 w 12119714"/>
              <a:gd name="connsiteY11" fmla="*/ 1756846 h 3715855"/>
              <a:gd name="connsiteX12" fmla="*/ 6605337 w 12119714"/>
              <a:gd name="connsiteY12" fmla="*/ 1708719 h 3715855"/>
              <a:gd name="connsiteX13" fmla="*/ 4632158 w 12119714"/>
              <a:gd name="connsiteY13" fmla="*/ 1997477 h 3715855"/>
              <a:gd name="connsiteX14" fmla="*/ 4307306 w 12119714"/>
              <a:gd name="connsiteY14" fmla="*/ 3501425 h 3715855"/>
              <a:gd name="connsiteX15" fmla="*/ 5305927 w 12119714"/>
              <a:gd name="connsiteY15" fmla="*/ 3573614 h 3715855"/>
              <a:gd name="connsiteX16" fmla="*/ 6424863 w 12119714"/>
              <a:gd name="connsiteY16" fmla="*/ 2250140 h 3715855"/>
              <a:gd name="connsiteX17" fmla="*/ 8698832 w 12119714"/>
              <a:gd name="connsiteY17" fmla="*/ 3260793 h 3715855"/>
              <a:gd name="connsiteX18" fmla="*/ 11670632 w 12119714"/>
              <a:gd name="connsiteY18" fmla="*/ 3104383 h 3715855"/>
              <a:gd name="connsiteX19" fmla="*/ 12055642 w 12119714"/>
              <a:gd name="connsiteY19" fmla="*/ 3104383 h 3715855"/>
              <a:gd name="connsiteX0" fmla="*/ 0 w 12119714"/>
              <a:gd name="connsiteY0" fmla="*/ 950730 h 3715855"/>
              <a:gd name="connsiteX1" fmla="*/ 1383632 w 12119714"/>
              <a:gd name="connsiteY1" fmla="*/ 48362 h 3715855"/>
              <a:gd name="connsiteX2" fmla="*/ 2442411 w 12119714"/>
              <a:gd name="connsiteY2" fmla="*/ 1444025 h 3715855"/>
              <a:gd name="connsiteX3" fmla="*/ 1130969 w 12119714"/>
              <a:gd name="connsiteY3" fmla="*/ 2466709 h 3715855"/>
              <a:gd name="connsiteX4" fmla="*/ 1143000 w 12119714"/>
              <a:gd name="connsiteY4" fmla="*/ 3453298 h 3715855"/>
              <a:gd name="connsiteX5" fmla="*/ 3164306 w 12119714"/>
              <a:gd name="connsiteY5" fmla="*/ 3260793 h 3715855"/>
              <a:gd name="connsiteX6" fmla="*/ 4030579 w 12119714"/>
              <a:gd name="connsiteY6" fmla="*/ 1143235 h 3715855"/>
              <a:gd name="connsiteX7" fmla="*/ 4896853 w 12119714"/>
              <a:gd name="connsiteY7" fmla="*/ 235 h 3715855"/>
              <a:gd name="connsiteX8" fmla="*/ 7279106 w 12119714"/>
              <a:gd name="connsiteY8" fmla="*/ 1034951 h 3715855"/>
              <a:gd name="connsiteX9" fmla="*/ 11105148 w 12119714"/>
              <a:gd name="connsiteY9" fmla="*/ 144614 h 3715855"/>
              <a:gd name="connsiteX10" fmla="*/ 11694695 w 12119714"/>
              <a:gd name="connsiteY10" fmla="*/ 2033572 h 3715855"/>
              <a:gd name="connsiteX11" fmla="*/ 9745579 w 12119714"/>
              <a:gd name="connsiteY11" fmla="*/ 1756846 h 3715855"/>
              <a:gd name="connsiteX12" fmla="*/ 6605337 w 12119714"/>
              <a:gd name="connsiteY12" fmla="*/ 1708719 h 3715855"/>
              <a:gd name="connsiteX13" fmla="*/ 4632158 w 12119714"/>
              <a:gd name="connsiteY13" fmla="*/ 1997477 h 3715855"/>
              <a:gd name="connsiteX14" fmla="*/ 4307306 w 12119714"/>
              <a:gd name="connsiteY14" fmla="*/ 3501425 h 3715855"/>
              <a:gd name="connsiteX15" fmla="*/ 5305927 w 12119714"/>
              <a:gd name="connsiteY15" fmla="*/ 3573614 h 3715855"/>
              <a:gd name="connsiteX16" fmla="*/ 6424863 w 12119714"/>
              <a:gd name="connsiteY16" fmla="*/ 2250140 h 3715855"/>
              <a:gd name="connsiteX17" fmla="*/ 8698832 w 12119714"/>
              <a:gd name="connsiteY17" fmla="*/ 3260793 h 3715855"/>
              <a:gd name="connsiteX18" fmla="*/ 11670632 w 12119714"/>
              <a:gd name="connsiteY18" fmla="*/ 3104383 h 3715855"/>
              <a:gd name="connsiteX19" fmla="*/ 12055642 w 12119714"/>
              <a:gd name="connsiteY19" fmla="*/ 3104383 h 3715855"/>
              <a:gd name="connsiteX0" fmla="*/ 0 w 12119714"/>
              <a:gd name="connsiteY0" fmla="*/ 1108674 h 3873799"/>
              <a:gd name="connsiteX1" fmla="*/ 1383632 w 12119714"/>
              <a:gd name="connsiteY1" fmla="*/ 206306 h 3873799"/>
              <a:gd name="connsiteX2" fmla="*/ 2442411 w 12119714"/>
              <a:gd name="connsiteY2" fmla="*/ 1601969 h 3873799"/>
              <a:gd name="connsiteX3" fmla="*/ 1130969 w 12119714"/>
              <a:gd name="connsiteY3" fmla="*/ 2624653 h 3873799"/>
              <a:gd name="connsiteX4" fmla="*/ 1143000 w 12119714"/>
              <a:gd name="connsiteY4" fmla="*/ 3611242 h 3873799"/>
              <a:gd name="connsiteX5" fmla="*/ 3164306 w 12119714"/>
              <a:gd name="connsiteY5" fmla="*/ 3418737 h 3873799"/>
              <a:gd name="connsiteX6" fmla="*/ 4030579 w 12119714"/>
              <a:gd name="connsiteY6" fmla="*/ 1301179 h 3873799"/>
              <a:gd name="connsiteX7" fmla="*/ 4896853 w 12119714"/>
              <a:gd name="connsiteY7" fmla="*/ 158179 h 3873799"/>
              <a:gd name="connsiteX8" fmla="*/ 7279106 w 12119714"/>
              <a:gd name="connsiteY8" fmla="*/ 1192895 h 3873799"/>
              <a:gd name="connsiteX9" fmla="*/ 10323095 w 12119714"/>
              <a:gd name="connsiteY9" fmla="*/ 49894 h 3873799"/>
              <a:gd name="connsiteX10" fmla="*/ 11694695 w 12119714"/>
              <a:gd name="connsiteY10" fmla="*/ 2191516 h 3873799"/>
              <a:gd name="connsiteX11" fmla="*/ 9745579 w 12119714"/>
              <a:gd name="connsiteY11" fmla="*/ 1914790 h 3873799"/>
              <a:gd name="connsiteX12" fmla="*/ 6605337 w 12119714"/>
              <a:gd name="connsiteY12" fmla="*/ 1866663 h 3873799"/>
              <a:gd name="connsiteX13" fmla="*/ 4632158 w 12119714"/>
              <a:gd name="connsiteY13" fmla="*/ 2155421 h 3873799"/>
              <a:gd name="connsiteX14" fmla="*/ 4307306 w 12119714"/>
              <a:gd name="connsiteY14" fmla="*/ 3659369 h 3873799"/>
              <a:gd name="connsiteX15" fmla="*/ 5305927 w 12119714"/>
              <a:gd name="connsiteY15" fmla="*/ 3731558 h 3873799"/>
              <a:gd name="connsiteX16" fmla="*/ 6424863 w 12119714"/>
              <a:gd name="connsiteY16" fmla="*/ 2408084 h 3873799"/>
              <a:gd name="connsiteX17" fmla="*/ 8698832 w 12119714"/>
              <a:gd name="connsiteY17" fmla="*/ 3418737 h 3873799"/>
              <a:gd name="connsiteX18" fmla="*/ 11670632 w 12119714"/>
              <a:gd name="connsiteY18" fmla="*/ 3262327 h 3873799"/>
              <a:gd name="connsiteX19" fmla="*/ 12055642 w 12119714"/>
              <a:gd name="connsiteY19" fmla="*/ 3262327 h 3873799"/>
              <a:gd name="connsiteX0" fmla="*/ 0 w 12119714"/>
              <a:gd name="connsiteY0" fmla="*/ 1124285 h 3889410"/>
              <a:gd name="connsiteX1" fmla="*/ 1383632 w 12119714"/>
              <a:gd name="connsiteY1" fmla="*/ 221917 h 3889410"/>
              <a:gd name="connsiteX2" fmla="*/ 2442411 w 12119714"/>
              <a:gd name="connsiteY2" fmla="*/ 1617580 h 3889410"/>
              <a:gd name="connsiteX3" fmla="*/ 1130969 w 12119714"/>
              <a:gd name="connsiteY3" fmla="*/ 2640264 h 3889410"/>
              <a:gd name="connsiteX4" fmla="*/ 1143000 w 12119714"/>
              <a:gd name="connsiteY4" fmla="*/ 3626853 h 3889410"/>
              <a:gd name="connsiteX5" fmla="*/ 3164306 w 12119714"/>
              <a:gd name="connsiteY5" fmla="*/ 3434348 h 3889410"/>
              <a:gd name="connsiteX6" fmla="*/ 4030579 w 12119714"/>
              <a:gd name="connsiteY6" fmla="*/ 1316790 h 3889410"/>
              <a:gd name="connsiteX7" fmla="*/ 4896853 w 12119714"/>
              <a:gd name="connsiteY7" fmla="*/ 173790 h 3889410"/>
              <a:gd name="connsiteX8" fmla="*/ 7279106 w 12119714"/>
              <a:gd name="connsiteY8" fmla="*/ 1208506 h 3889410"/>
              <a:gd name="connsiteX9" fmla="*/ 10323095 w 12119714"/>
              <a:gd name="connsiteY9" fmla="*/ 65505 h 3889410"/>
              <a:gd name="connsiteX10" fmla="*/ 11694695 w 12119714"/>
              <a:gd name="connsiteY10" fmla="*/ 2207127 h 3889410"/>
              <a:gd name="connsiteX11" fmla="*/ 9745579 w 12119714"/>
              <a:gd name="connsiteY11" fmla="*/ 1930401 h 3889410"/>
              <a:gd name="connsiteX12" fmla="*/ 6605337 w 12119714"/>
              <a:gd name="connsiteY12" fmla="*/ 1882274 h 3889410"/>
              <a:gd name="connsiteX13" fmla="*/ 4632158 w 12119714"/>
              <a:gd name="connsiteY13" fmla="*/ 2171032 h 3889410"/>
              <a:gd name="connsiteX14" fmla="*/ 4307306 w 12119714"/>
              <a:gd name="connsiteY14" fmla="*/ 3674980 h 3889410"/>
              <a:gd name="connsiteX15" fmla="*/ 5305927 w 12119714"/>
              <a:gd name="connsiteY15" fmla="*/ 3747169 h 3889410"/>
              <a:gd name="connsiteX16" fmla="*/ 6424863 w 12119714"/>
              <a:gd name="connsiteY16" fmla="*/ 2423695 h 3889410"/>
              <a:gd name="connsiteX17" fmla="*/ 8698832 w 12119714"/>
              <a:gd name="connsiteY17" fmla="*/ 3434348 h 3889410"/>
              <a:gd name="connsiteX18" fmla="*/ 11670632 w 12119714"/>
              <a:gd name="connsiteY18" fmla="*/ 3277938 h 3889410"/>
              <a:gd name="connsiteX19" fmla="*/ 12055642 w 12119714"/>
              <a:gd name="connsiteY19" fmla="*/ 3277938 h 3889410"/>
              <a:gd name="connsiteX0" fmla="*/ 0 w 12119714"/>
              <a:gd name="connsiteY0" fmla="*/ 1124285 h 3889410"/>
              <a:gd name="connsiteX1" fmla="*/ 1383632 w 12119714"/>
              <a:gd name="connsiteY1" fmla="*/ 221917 h 3889410"/>
              <a:gd name="connsiteX2" fmla="*/ 2442411 w 12119714"/>
              <a:gd name="connsiteY2" fmla="*/ 1617580 h 3889410"/>
              <a:gd name="connsiteX3" fmla="*/ 1130969 w 12119714"/>
              <a:gd name="connsiteY3" fmla="*/ 2640264 h 3889410"/>
              <a:gd name="connsiteX4" fmla="*/ 1143000 w 12119714"/>
              <a:gd name="connsiteY4" fmla="*/ 3626853 h 3889410"/>
              <a:gd name="connsiteX5" fmla="*/ 3164306 w 12119714"/>
              <a:gd name="connsiteY5" fmla="*/ 3434348 h 3889410"/>
              <a:gd name="connsiteX6" fmla="*/ 4030579 w 12119714"/>
              <a:gd name="connsiteY6" fmla="*/ 1316790 h 3889410"/>
              <a:gd name="connsiteX7" fmla="*/ 4896853 w 12119714"/>
              <a:gd name="connsiteY7" fmla="*/ 173790 h 3889410"/>
              <a:gd name="connsiteX8" fmla="*/ 7279106 w 12119714"/>
              <a:gd name="connsiteY8" fmla="*/ 1208506 h 3889410"/>
              <a:gd name="connsiteX9" fmla="*/ 10323095 w 12119714"/>
              <a:gd name="connsiteY9" fmla="*/ 65505 h 3889410"/>
              <a:gd name="connsiteX10" fmla="*/ 11694695 w 12119714"/>
              <a:gd name="connsiteY10" fmla="*/ 2207127 h 3889410"/>
              <a:gd name="connsiteX11" fmla="*/ 9468853 w 12119714"/>
              <a:gd name="connsiteY11" fmla="*/ 1425075 h 3889410"/>
              <a:gd name="connsiteX12" fmla="*/ 6605337 w 12119714"/>
              <a:gd name="connsiteY12" fmla="*/ 1882274 h 3889410"/>
              <a:gd name="connsiteX13" fmla="*/ 4632158 w 12119714"/>
              <a:gd name="connsiteY13" fmla="*/ 2171032 h 3889410"/>
              <a:gd name="connsiteX14" fmla="*/ 4307306 w 12119714"/>
              <a:gd name="connsiteY14" fmla="*/ 3674980 h 3889410"/>
              <a:gd name="connsiteX15" fmla="*/ 5305927 w 12119714"/>
              <a:gd name="connsiteY15" fmla="*/ 3747169 h 3889410"/>
              <a:gd name="connsiteX16" fmla="*/ 6424863 w 12119714"/>
              <a:gd name="connsiteY16" fmla="*/ 2423695 h 3889410"/>
              <a:gd name="connsiteX17" fmla="*/ 8698832 w 12119714"/>
              <a:gd name="connsiteY17" fmla="*/ 3434348 h 3889410"/>
              <a:gd name="connsiteX18" fmla="*/ 11670632 w 12119714"/>
              <a:gd name="connsiteY18" fmla="*/ 3277938 h 3889410"/>
              <a:gd name="connsiteX19" fmla="*/ 12055642 w 12119714"/>
              <a:gd name="connsiteY19" fmla="*/ 3277938 h 3889410"/>
              <a:gd name="connsiteX0" fmla="*/ 0 w 12119714"/>
              <a:gd name="connsiteY0" fmla="*/ 1124285 h 3889410"/>
              <a:gd name="connsiteX1" fmla="*/ 1383632 w 12119714"/>
              <a:gd name="connsiteY1" fmla="*/ 221917 h 3889410"/>
              <a:gd name="connsiteX2" fmla="*/ 2442411 w 12119714"/>
              <a:gd name="connsiteY2" fmla="*/ 1617580 h 3889410"/>
              <a:gd name="connsiteX3" fmla="*/ 1130969 w 12119714"/>
              <a:gd name="connsiteY3" fmla="*/ 2640264 h 3889410"/>
              <a:gd name="connsiteX4" fmla="*/ 1143000 w 12119714"/>
              <a:gd name="connsiteY4" fmla="*/ 3626853 h 3889410"/>
              <a:gd name="connsiteX5" fmla="*/ 3164306 w 12119714"/>
              <a:gd name="connsiteY5" fmla="*/ 3434348 h 3889410"/>
              <a:gd name="connsiteX6" fmla="*/ 4030579 w 12119714"/>
              <a:gd name="connsiteY6" fmla="*/ 1316790 h 3889410"/>
              <a:gd name="connsiteX7" fmla="*/ 4896853 w 12119714"/>
              <a:gd name="connsiteY7" fmla="*/ 173790 h 3889410"/>
              <a:gd name="connsiteX8" fmla="*/ 7279106 w 12119714"/>
              <a:gd name="connsiteY8" fmla="*/ 1208506 h 3889410"/>
              <a:gd name="connsiteX9" fmla="*/ 10323095 w 12119714"/>
              <a:gd name="connsiteY9" fmla="*/ 65505 h 3889410"/>
              <a:gd name="connsiteX10" fmla="*/ 11694695 w 12119714"/>
              <a:gd name="connsiteY10" fmla="*/ 2207127 h 3889410"/>
              <a:gd name="connsiteX11" fmla="*/ 9468853 w 12119714"/>
              <a:gd name="connsiteY11" fmla="*/ 1425075 h 3889410"/>
              <a:gd name="connsiteX12" fmla="*/ 6605337 w 12119714"/>
              <a:gd name="connsiteY12" fmla="*/ 1882274 h 3889410"/>
              <a:gd name="connsiteX13" fmla="*/ 4632158 w 12119714"/>
              <a:gd name="connsiteY13" fmla="*/ 2171032 h 3889410"/>
              <a:gd name="connsiteX14" fmla="*/ 4307306 w 12119714"/>
              <a:gd name="connsiteY14" fmla="*/ 3674980 h 3889410"/>
              <a:gd name="connsiteX15" fmla="*/ 5305927 w 12119714"/>
              <a:gd name="connsiteY15" fmla="*/ 3747169 h 3889410"/>
              <a:gd name="connsiteX16" fmla="*/ 6424863 w 12119714"/>
              <a:gd name="connsiteY16" fmla="*/ 2423695 h 3889410"/>
              <a:gd name="connsiteX17" fmla="*/ 8698832 w 12119714"/>
              <a:gd name="connsiteY17" fmla="*/ 3434348 h 3889410"/>
              <a:gd name="connsiteX18" fmla="*/ 11670632 w 12119714"/>
              <a:gd name="connsiteY18" fmla="*/ 3277938 h 3889410"/>
              <a:gd name="connsiteX19" fmla="*/ 12055642 w 12119714"/>
              <a:gd name="connsiteY19" fmla="*/ 3277938 h 3889410"/>
              <a:gd name="connsiteX0" fmla="*/ 0 w 12119714"/>
              <a:gd name="connsiteY0" fmla="*/ 1124285 h 3889410"/>
              <a:gd name="connsiteX1" fmla="*/ 1383632 w 12119714"/>
              <a:gd name="connsiteY1" fmla="*/ 221917 h 3889410"/>
              <a:gd name="connsiteX2" fmla="*/ 2442411 w 12119714"/>
              <a:gd name="connsiteY2" fmla="*/ 1617580 h 3889410"/>
              <a:gd name="connsiteX3" fmla="*/ 1130969 w 12119714"/>
              <a:gd name="connsiteY3" fmla="*/ 2640264 h 3889410"/>
              <a:gd name="connsiteX4" fmla="*/ 1143000 w 12119714"/>
              <a:gd name="connsiteY4" fmla="*/ 3626853 h 3889410"/>
              <a:gd name="connsiteX5" fmla="*/ 3164306 w 12119714"/>
              <a:gd name="connsiteY5" fmla="*/ 3434348 h 3889410"/>
              <a:gd name="connsiteX6" fmla="*/ 4030579 w 12119714"/>
              <a:gd name="connsiteY6" fmla="*/ 1316790 h 3889410"/>
              <a:gd name="connsiteX7" fmla="*/ 4896853 w 12119714"/>
              <a:gd name="connsiteY7" fmla="*/ 173790 h 3889410"/>
              <a:gd name="connsiteX8" fmla="*/ 7279106 w 12119714"/>
              <a:gd name="connsiteY8" fmla="*/ 1208506 h 3889410"/>
              <a:gd name="connsiteX9" fmla="*/ 10323095 w 12119714"/>
              <a:gd name="connsiteY9" fmla="*/ 65505 h 3889410"/>
              <a:gd name="connsiteX10" fmla="*/ 11694695 w 12119714"/>
              <a:gd name="connsiteY10" fmla="*/ 2207127 h 3889410"/>
              <a:gd name="connsiteX11" fmla="*/ 9468853 w 12119714"/>
              <a:gd name="connsiteY11" fmla="*/ 1425075 h 3889410"/>
              <a:gd name="connsiteX12" fmla="*/ 6605337 w 12119714"/>
              <a:gd name="connsiteY12" fmla="*/ 1882274 h 3889410"/>
              <a:gd name="connsiteX13" fmla="*/ 4632158 w 12119714"/>
              <a:gd name="connsiteY13" fmla="*/ 2171032 h 3889410"/>
              <a:gd name="connsiteX14" fmla="*/ 4307306 w 12119714"/>
              <a:gd name="connsiteY14" fmla="*/ 3674980 h 3889410"/>
              <a:gd name="connsiteX15" fmla="*/ 5305927 w 12119714"/>
              <a:gd name="connsiteY15" fmla="*/ 3747169 h 3889410"/>
              <a:gd name="connsiteX16" fmla="*/ 6424863 w 12119714"/>
              <a:gd name="connsiteY16" fmla="*/ 2423695 h 3889410"/>
              <a:gd name="connsiteX17" fmla="*/ 8698832 w 12119714"/>
              <a:gd name="connsiteY17" fmla="*/ 3434348 h 3889410"/>
              <a:gd name="connsiteX18" fmla="*/ 11670632 w 12119714"/>
              <a:gd name="connsiteY18" fmla="*/ 3277938 h 3889410"/>
              <a:gd name="connsiteX19" fmla="*/ 12055642 w 12119714"/>
              <a:gd name="connsiteY19" fmla="*/ 3277938 h 3889410"/>
              <a:gd name="connsiteX0" fmla="*/ 0 w 12119714"/>
              <a:gd name="connsiteY0" fmla="*/ 1124285 h 3889410"/>
              <a:gd name="connsiteX1" fmla="*/ 1383632 w 12119714"/>
              <a:gd name="connsiteY1" fmla="*/ 221917 h 3889410"/>
              <a:gd name="connsiteX2" fmla="*/ 2442411 w 12119714"/>
              <a:gd name="connsiteY2" fmla="*/ 1617580 h 3889410"/>
              <a:gd name="connsiteX3" fmla="*/ 1130969 w 12119714"/>
              <a:gd name="connsiteY3" fmla="*/ 2640264 h 3889410"/>
              <a:gd name="connsiteX4" fmla="*/ 1143000 w 12119714"/>
              <a:gd name="connsiteY4" fmla="*/ 3626853 h 3889410"/>
              <a:gd name="connsiteX5" fmla="*/ 3164306 w 12119714"/>
              <a:gd name="connsiteY5" fmla="*/ 3434348 h 3889410"/>
              <a:gd name="connsiteX6" fmla="*/ 4030579 w 12119714"/>
              <a:gd name="connsiteY6" fmla="*/ 1316790 h 3889410"/>
              <a:gd name="connsiteX7" fmla="*/ 4896853 w 12119714"/>
              <a:gd name="connsiteY7" fmla="*/ 173790 h 3889410"/>
              <a:gd name="connsiteX8" fmla="*/ 7279106 w 12119714"/>
              <a:gd name="connsiteY8" fmla="*/ 1208506 h 3889410"/>
              <a:gd name="connsiteX9" fmla="*/ 10323095 w 12119714"/>
              <a:gd name="connsiteY9" fmla="*/ 65505 h 3889410"/>
              <a:gd name="connsiteX10" fmla="*/ 11694695 w 12119714"/>
              <a:gd name="connsiteY10" fmla="*/ 2207127 h 3889410"/>
              <a:gd name="connsiteX11" fmla="*/ 9023684 w 12119714"/>
              <a:gd name="connsiteY11" fmla="*/ 1413043 h 3889410"/>
              <a:gd name="connsiteX12" fmla="*/ 6605337 w 12119714"/>
              <a:gd name="connsiteY12" fmla="*/ 1882274 h 3889410"/>
              <a:gd name="connsiteX13" fmla="*/ 4632158 w 12119714"/>
              <a:gd name="connsiteY13" fmla="*/ 2171032 h 3889410"/>
              <a:gd name="connsiteX14" fmla="*/ 4307306 w 12119714"/>
              <a:gd name="connsiteY14" fmla="*/ 3674980 h 3889410"/>
              <a:gd name="connsiteX15" fmla="*/ 5305927 w 12119714"/>
              <a:gd name="connsiteY15" fmla="*/ 3747169 h 3889410"/>
              <a:gd name="connsiteX16" fmla="*/ 6424863 w 12119714"/>
              <a:gd name="connsiteY16" fmla="*/ 2423695 h 3889410"/>
              <a:gd name="connsiteX17" fmla="*/ 8698832 w 12119714"/>
              <a:gd name="connsiteY17" fmla="*/ 3434348 h 3889410"/>
              <a:gd name="connsiteX18" fmla="*/ 11670632 w 12119714"/>
              <a:gd name="connsiteY18" fmla="*/ 3277938 h 3889410"/>
              <a:gd name="connsiteX19" fmla="*/ 12055642 w 12119714"/>
              <a:gd name="connsiteY19" fmla="*/ 3277938 h 3889410"/>
              <a:gd name="connsiteX0" fmla="*/ 0 w 12119714"/>
              <a:gd name="connsiteY0" fmla="*/ 1073586 h 3838711"/>
              <a:gd name="connsiteX1" fmla="*/ 1383632 w 12119714"/>
              <a:gd name="connsiteY1" fmla="*/ 171218 h 3838711"/>
              <a:gd name="connsiteX2" fmla="*/ 2442411 w 12119714"/>
              <a:gd name="connsiteY2" fmla="*/ 1566881 h 3838711"/>
              <a:gd name="connsiteX3" fmla="*/ 1130969 w 12119714"/>
              <a:gd name="connsiteY3" fmla="*/ 2589565 h 3838711"/>
              <a:gd name="connsiteX4" fmla="*/ 1143000 w 12119714"/>
              <a:gd name="connsiteY4" fmla="*/ 3576154 h 3838711"/>
              <a:gd name="connsiteX5" fmla="*/ 3164306 w 12119714"/>
              <a:gd name="connsiteY5" fmla="*/ 3383649 h 3838711"/>
              <a:gd name="connsiteX6" fmla="*/ 4030579 w 12119714"/>
              <a:gd name="connsiteY6" fmla="*/ 1266091 h 3838711"/>
              <a:gd name="connsiteX7" fmla="*/ 4896853 w 12119714"/>
              <a:gd name="connsiteY7" fmla="*/ 123091 h 3838711"/>
              <a:gd name="connsiteX8" fmla="*/ 7279106 w 12119714"/>
              <a:gd name="connsiteY8" fmla="*/ 1157807 h 3838711"/>
              <a:gd name="connsiteX9" fmla="*/ 10323095 w 12119714"/>
              <a:gd name="connsiteY9" fmla="*/ 14806 h 3838711"/>
              <a:gd name="connsiteX10" fmla="*/ 11694695 w 12119714"/>
              <a:gd name="connsiteY10" fmla="*/ 2156428 h 3838711"/>
              <a:gd name="connsiteX11" fmla="*/ 9023684 w 12119714"/>
              <a:gd name="connsiteY11" fmla="*/ 1362344 h 3838711"/>
              <a:gd name="connsiteX12" fmla="*/ 6605337 w 12119714"/>
              <a:gd name="connsiteY12" fmla="*/ 1831575 h 3838711"/>
              <a:gd name="connsiteX13" fmla="*/ 4632158 w 12119714"/>
              <a:gd name="connsiteY13" fmla="*/ 2120333 h 3838711"/>
              <a:gd name="connsiteX14" fmla="*/ 4307306 w 12119714"/>
              <a:gd name="connsiteY14" fmla="*/ 3624281 h 3838711"/>
              <a:gd name="connsiteX15" fmla="*/ 5305927 w 12119714"/>
              <a:gd name="connsiteY15" fmla="*/ 3696470 h 3838711"/>
              <a:gd name="connsiteX16" fmla="*/ 6424863 w 12119714"/>
              <a:gd name="connsiteY16" fmla="*/ 2372996 h 3838711"/>
              <a:gd name="connsiteX17" fmla="*/ 8698832 w 12119714"/>
              <a:gd name="connsiteY17" fmla="*/ 3383649 h 3838711"/>
              <a:gd name="connsiteX18" fmla="*/ 11670632 w 12119714"/>
              <a:gd name="connsiteY18" fmla="*/ 3227239 h 3838711"/>
              <a:gd name="connsiteX19" fmla="*/ 12055642 w 12119714"/>
              <a:gd name="connsiteY19" fmla="*/ 3227239 h 3838711"/>
              <a:gd name="connsiteX0" fmla="*/ 0 w 12119714"/>
              <a:gd name="connsiteY0" fmla="*/ 1073586 h 3838711"/>
              <a:gd name="connsiteX1" fmla="*/ 1383632 w 12119714"/>
              <a:gd name="connsiteY1" fmla="*/ 171218 h 3838711"/>
              <a:gd name="connsiteX2" fmla="*/ 2442411 w 12119714"/>
              <a:gd name="connsiteY2" fmla="*/ 1566881 h 3838711"/>
              <a:gd name="connsiteX3" fmla="*/ 1130969 w 12119714"/>
              <a:gd name="connsiteY3" fmla="*/ 2589565 h 3838711"/>
              <a:gd name="connsiteX4" fmla="*/ 1143000 w 12119714"/>
              <a:gd name="connsiteY4" fmla="*/ 3576154 h 3838711"/>
              <a:gd name="connsiteX5" fmla="*/ 3164306 w 12119714"/>
              <a:gd name="connsiteY5" fmla="*/ 3383649 h 3838711"/>
              <a:gd name="connsiteX6" fmla="*/ 4030579 w 12119714"/>
              <a:gd name="connsiteY6" fmla="*/ 1266091 h 3838711"/>
              <a:gd name="connsiteX7" fmla="*/ 4896853 w 12119714"/>
              <a:gd name="connsiteY7" fmla="*/ 123091 h 3838711"/>
              <a:gd name="connsiteX8" fmla="*/ 7279106 w 12119714"/>
              <a:gd name="connsiteY8" fmla="*/ 1157807 h 3838711"/>
              <a:gd name="connsiteX9" fmla="*/ 10323095 w 12119714"/>
              <a:gd name="connsiteY9" fmla="*/ 14806 h 3838711"/>
              <a:gd name="connsiteX10" fmla="*/ 11694695 w 12119714"/>
              <a:gd name="connsiteY10" fmla="*/ 2156428 h 3838711"/>
              <a:gd name="connsiteX11" fmla="*/ 9023684 w 12119714"/>
              <a:gd name="connsiteY11" fmla="*/ 1362344 h 3838711"/>
              <a:gd name="connsiteX12" fmla="*/ 6605337 w 12119714"/>
              <a:gd name="connsiteY12" fmla="*/ 1831575 h 3838711"/>
              <a:gd name="connsiteX13" fmla="*/ 4632158 w 12119714"/>
              <a:gd name="connsiteY13" fmla="*/ 2120333 h 3838711"/>
              <a:gd name="connsiteX14" fmla="*/ 4307306 w 12119714"/>
              <a:gd name="connsiteY14" fmla="*/ 3624281 h 3838711"/>
              <a:gd name="connsiteX15" fmla="*/ 5305927 w 12119714"/>
              <a:gd name="connsiteY15" fmla="*/ 3696470 h 3838711"/>
              <a:gd name="connsiteX16" fmla="*/ 6424863 w 12119714"/>
              <a:gd name="connsiteY16" fmla="*/ 2372996 h 3838711"/>
              <a:gd name="connsiteX17" fmla="*/ 8698832 w 12119714"/>
              <a:gd name="connsiteY17" fmla="*/ 3383649 h 3838711"/>
              <a:gd name="connsiteX18" fmla="*/ 11670632 w 12119714"/>
              <a:gd name="connsiteY18" fmla="*/ 3227239 h 3838711"/>
              <a:gd name="connsiteX19" fmla="*/ 12055642 w 12119714"/>
              <a:gd name="connsiteY19" fmla="*/ 3227239 h 3838711"/>
              <a:gd name="connsiteX0" fmla="*/ 0 w 12119714"/>
              <a:gd name="connsiteY0" fmla="*/ 1086920 h 3852045"/>
              <a:gd name="connsiteX1" fmla="*/ 1383632 w 12119714"/>
              <a:gd name="connsiteY1" fmla="*/ 184552 h 3852045"/>
              <a:gd name="connsiteX2" fmla="*/ 2442411 w 12119714"/>
              <a:gd name="connsiteY2" fmla="*/ 1580215 h 3852045"/>
              <a:gd name="connsiteX3" fmla="*/ 1130969 w 12119714"/>
              <a:gd name="connsiteY3" fmla="*/ 2602899 h 3852045"/>
              <a:gd name="connsiteX4" fmla="*/ 1143000 w 12119714"/>
              <a:gd name="connsiteY4" fmla="*/ 3589488 h 3852045"/>
              <a:gd name="connsiteX5" fmla="*/ 3164306 w 12119714"/>
              <a:gd name="connsiteY5" fmla="*/ 3396983 h 3852045"/>
              <a:gd name="connsiteX6" fmla="*/ 4030579 w 12119714"/>
              <a:gd name="connsiteY6" fmla="*/ 1279425 h 3852045"/>
              <a:gd name="connsiteX7" fmla="*/ 4896853 w 12119714"/>
              <a:gd name="connsiteY7" fmla="*/ 136425 h 3852045"/>
              <a:gd name="connsiteX8" fmla="*/ 7279106 w 12119714"/>
              <a:gd name="connsiteY8" fmla="*/ 894415 h 3852045"/>
              <a:gd name="connsiteX9" fmla="*/ 10323095 w 12119714"/>
              <a:gd name="connsiteY9" fmla="*/ 28140 h 3852045"/>
              <a:gd name="connsiteX10" fmla="*/ 11694695 w 12119714"/>
              <a:gd name="connsiteY10" fmla="*/ 2169762 h 3852045"/>
              <a:gd name="connsiteX11" fmla="*/ 9023684 w 12119714"/>
              <a:gd name="connsiteY11" fmla="*/ 1375678 h 3852045"/>
              <a:gd name="connsiteX12" fmla="*/ 6605337 w 12119714"/>
              <a:gd name="connsiteY12" fmla="*/ 1844909 h 3852045"/>
              <a:gd name="connsiteX13" fmla="*/ 4632158 w 12119714"/>
              <a:gd name="connsiteY13" fmla="*/ 2133667 h 3852045"/>
              <a:gd name="connsiteX14" fmla="*/ 4307306 w 12119714"/>
              <a:gd name="connsiteY14" fmla="*/ 3637615 h 3852045"/>
              <a:gd name="connsiteX15" fmla="*/ 5305927 w 12119714"/>
              <a:gd name="connsiteY15" fmla="*/ 3709804 h 3852045"/>
              <a:gd name="connsiteX16" fmla="*/ 6424863 w 12119714"/>
              <a:gd name="connsiteY16" fmla="*/ 2386330 h 3852045"/>
              <a:gd name="connsiteX17" fmla="*/ 8698832 w 12119714"/>
              <a:gd name="connsiteY17" fmla="*/ 3396983 h 3852045"/>
              <a:gd name="connsiteX18" fmla="*/ 11670632 w 12119714"/>
              <a:gd name="connsiteY18" fmla="*/ 3240573 h 3852045"/>
              <a:gd name="connsiteX19" fmla="*/ 12055642 w 12119714"/>
              <a:gd name="connsiteY19" fmla="*/ 3240573 h 3852045"/>
              <a:gd name="connsiteX0" fmla="*/ 0 w 12119714"/>
              <a:gd name="connsiteY0" fmla="*/ 1086920 h 3852045"/>
              <a:gd name="connsiteX1" fmla="*/ 1383632 w 12119714"/>
              <a:gd name="connsiteY1" fmla="*/ 184552 h 3852045"/>
              <a:gd name="connsiteX2" fmla="*/ 2442411 w 12119714"/>
              <a:gd name="connsiteY2" fmla="*/ 1580215 h 3852045"/>
              <a:gd name="connsiteX3" fmla="*/ 1130969 w 12119714"/>
              <a:gd name="connsiteY3" fmla="*/ 2602899 h 3852045"/>
              <a:gd name="connsiteX4" fmla="*/ 1143000 w 12119714"/>
              <a:gd name="connsiteY4" fmla="*/ 3589488 h 3852045"/>
              <a:gd name="connsiteX5" fmla="*/ 3164306 w 12119714"/>
              <a:gd name="connsiteY5" fmla="*/ 3396983 h 3852045"/>
              <a:gd name="connsiteX6" fmla="*/ 4896853 w 12119714"/>
              <a:gd name="connsiteY6" fmla="*/ 136425 h 3852045"/>
              <a:gd name="connsiteX7" fmla="*/ 7279106 w 12119714"/>
              <a:gd name="connsiteY7" fmla="*/ 894415 h 3852045"/>
              <a:gd name="connsiteX8" fmla="*/ 10323095 w 12119714"/>
              <a:gd name="connsiteY8" fmla="*/ 28140 h 3852045"/>
              <a:gd name="connsiteX9" fmla="*/ 11694695 w 12119714"/>
              <a:gd name="connsiteY9" fmla="*/ 2169762 h 3852045"/>
              <a:gd name="connsiteX10" fmla="*/ 9023684 w 12119714"/>
              <a:gd name="connsiteY10" fmla="*/ 1375678 h 3852045"/>
              <a:gd name="connsiteX11" fmla="*/ 6605337 w 12119714"/>
              <a:gd name="connsiteY11" fmla="*/ 1844909 h 3852045"/>
              <a:gd name="connsiteX12" fmla="*/ 4632158 w 12119714"/>
              <a:gd name="connsiteY12" fmla="*/ 2133667 h 3852045"/>
              <a:gd name="connsiteX13" fmla="*/ 4307306 w 12119714"/>
              <a:gd name="connsiteY13" fmla="*/ 3637615 h 3852045"/>
              <a:gd name="connsiteX14" fmla="*/ 5305927 w 12119714"/>
              <a:gd name="connsiteY14" fmla="*/ 3709804 h 3852045"/>
              <a:gd name="connsiteX15" fmla="*/ 6424863 w 12119714"/>
              <a:gd name="connsiteY15" fmla="*/ 2386330 h 3852045"/>
              <a:gd name="connsiteX16" fmla="*/ 8698832 w 12119714"/>
              <a:gd name="connsiteY16" fmla="*/ 3396983 h 3852045"/>
              <a:gd name="connsiteX17" fmla="*/ 11670632 w 12119714"/>
              <a:gd name="connsiteY17" fmla="*/ 3240573 h 3852045"/>
              <a:gd name="connsiteX18" fmla="*/ 12055642 w 12119714"/>
              <a:gd name="connsiteY18" fmla="*/ 3240573 h 3852045"/>
              <a:gd name="connsiteX0" fmla="*/ 0 w 12119714"/>
              <a:gd name="connsiteY0" fmla="*/ 1086920 h 3852045"/>
              <a:gd name="connsiteX1" fmla="*/ 1383632 w 12119714"/>
              <a:gd name="connsiteY1" fmla="*/ 184552 h 3852045"/>
              <a:gd name="connsiteX2" fmla="*/ 2442411 w 12119714"/>
              <a:gd name="connsiteY2" fmla="*/ 1580215 h 3852045"/>
              <a:gd name="connsiteX3" fmla="*/ 1143000 w 12119714"/>
              <a:gd name="connsiteY3" fmla="*/ 358948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920 h 4157199"/>
              <a:gd name="connsiteX1" fmla="*/ 1383632 w 12119714"/>
              <a:gd name="connsiteY1" fmla="*/ 184552 h 4157199"/>
              <a:gd name="connsiteX2" fmla="*/ 2442411 w 12119714"/>
              <a:gd name="connsiteY2" fmla="*/ 1580215 h 4157199"/>
              <a:gd name="connsiteX3" fmla="*/ 1143000 w 12119714"/>
              <a:gd name="connsiteY3" fmla="*/ 3589488 h 4157199"/>
              <a:gd name="connsiteX4" fmla="*/ 3164306 w 12119714"/>
              <a:gd name="connsiteY4" fmla="*/ 3396983 h 4157199"/>
              <a:gd name="connsiteX5" fmla="*/ 4896853 w 12119714"/>
              <a:gd name="connsiteY5" fmla="*/ 136425 h 4157199"/>
              <a:gd name="connsiteX6" fmla="*/ 7279106 w 12119714"/>
              <a:gd name="connsiteY6" fmla="*/ 894415 h 4157199"/>
              <a:gd name="connsiteX7" fmla="*/ 10323095 w 12119714"/>
              <a:gd name="connsiteY7" fmla="*/ 28140 h 4157199"/>
              <a:gd name="connsiteX8" fmla="*/ 11694695 w 12119714"/>
              <a:gd name="connsiteY8" fmla="*/ 2169762 h 4157199"/>
              <a:gd name="connsiteX9" fmla="*/ 9023684 w 12119714"/>
              <a:gd name="connsiteY9" fmla="*/ 1375678 h 4157199"/>
              <a:gd name="connsiteX10" fmla="*/ 6605337 w 12119714"/>
              <a:gd name="connsiteY10" fmla="*/ 1844909 h 4157199"/>
              <a:gd name="connsiteX11" fmla="*/ 4632158 w 12119714"/>
              <a:gd name="connsiteY11" fmla="*/ 2133667 h 4157199"/>
              <a:gd name="connsiteX12" fmla="*/ 4307306 w 12119714"/>
              <a:gd name="connsiteY12" fmla="*/ 3637615 h 4157199"/>
              <a:gd name="connsiteX13" fmla="*/ 5305927 w 12119714"/>
              <a:gd name="connsiteY13" fmla="*/ 3709804 h 4157199"/>
              <a:gd name="connsiteX14" fmla="*/ 6424863 w 12119714"/>
              <a:gd name="connsiteY14" fmla="*/ 2386330 h 4157199"/>
              <a:gd name="connsiteX15" fmla="*/ 8698832 w 12119714"/>
              <a:gd name="connsiteY15" fmla="*/ 3396983 h 4157199"/>
              <a:gd name="connsiteX16" fmla="*/ 11670632 w 12119714"/>
              <a:gd name="connsiteY16" fmla="*/ 3240573 h 4157199"/>
              <a:gd name="connsiteX17" fmla="*/ 12055642 w 12119714"/>
              <a:gd name="connsiteY17" fmla="*/ 3240573 h 4157199"/>
              <a:gd name="connsiteX0" fmla="*/ 0 w 12119714"/>
              <a:gd name="connsiteY0" fmla="*/ 1086920 h 3852045"/>
              <a:gd name="connsiteX1" fmla="*/ 1383632 w 12119714"/>
              <a:gd name="connsiteY1" fmla="*/ 184552 h 3852045"/>
              <a:gd name="connsiteX2" fmla="*/ 2442411 w 12119714"/>
              <a:gd name="connsiteY2" fmla="*/ 1580215 h 3852045"/>
              <a:gd name="connsiteX3" fmla="*/ 589548 w 12119714"/>
              <a:gd name="connsiteY3" fmla="*/ 297587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920 h 3852045"/>
              <a:gd name="connsiteX1" fmla="*/ 1383632 w 12119714"/>
              <a:gd name="connsiteY1" fmla="*/ 184552 h 3852045"/>
              <a:gd name="connsiteX2" fmla="*/ 2538664 w 12119714"/>
              <a:gd name="connsiteY2" fmla="*/ 1351615 h 3852045"/>
              <a:gd name="connsiteX3" fmla="*/ 589548 w 12119714"/>
              <a:gd name="connsiteY3" fmla="*/ 297587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920 h 3852045"/>
              <a:gd name="connsiteX1" fmla="*/ 1383632 w 12119714"/>
              <a:gd name="connsiteY1" fmla="*/ 184552 h 3852045"/>
              <a:gd name="connsiteX2" fmla="*/ 2538664 w 12119714"/>
              <a:gd name="connsiteY2" fmla="*/ 1351615 h 3852045"/>
              <a:gd name="connsiteX3" fmla="*/ 589548 w 12119714"/>
              <a:gd name="connsiteY3" fmla="*/ 297587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920 h 3852045"/>
              <a:gd name="connsiteX1" fmla="*/ 1383632 w 12119714"/>
              <a:gd name="connsiteY1" fmla="*/ 184552 h 3852045"/>
              <a:gd name="connsiteX2" fmla="*/ 2538664 w 12119714"/>
              <a:gd name="connsiteY2" fmla="*/ 1351615 h 3852045"/>
              <a:gd name="connsiteX3" fmla="*/ 589548 w 12119714"/>
              <a:gd name="connsiteY3" fmla="*/ 297587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920 h 3852045"/>
              <a:gd name="connsiteX1" fmla="*/ 1383632 w 12119714"/>
              <a:gd name="connsiteY1" fmla="*/ 184552 h 3852045"/>
              <a:gd name="connsiteX2" fmla="*/ 2538664 w 12119714"/>
              <a:gd name="connsiteY2" fmla="*/ 1351615 h 3852045"/>
              <a:gd name="connsiteX3" fmla="*/ 589548 w 12119714"/>
              <a:gd name="connsiteY3" fmla="*/ 297587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920 h 3852045"/>
              <a:gd name="connsiteX1" fmla="*/ 1479885 w 12119714"/>
              <a:gd name="connsiteY1" fmla="*/ 148457 h 3852045"/>
              <a:gd name="connsiteX2" fmla="*/ 2538664 w 12119714"/>
              <a:gd name="connsiteY2" fmla="*/ 1351615 h 3852045"/>
              <a:gd name="connsiteX3" fmla="*/ 589548 w 12119714"/>
              <a:gd name="connsiteY3" fmla="*/ 297587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920 h 3852045"/>
              <a:gd name="connsiteX1" fmla="*/ 1479885 w 12119714"/>
              <a:gd name="connsiteY1" fmla="*/ 148457 h 3852045"/>
              <a:gd name="connsiteX2" fmla="*/ 2538664 w 12119714"/>
              <a:gd name="connsiteY2" fmla="*/ 1351615 h 3852045"/>
              <a:gd name="connsiteX3" fmla="*/ 589548 w 12119714"/>
              <a:gd name="connsiteY3" fmla="*/ 2975878 h 3852045"/>
              <a:gd name="connsiteX4" fmla="*/ 3164306 w 12119714"/>
              <a:gd name="connsiteY4" fmla="*/ 3396983 h 3852045"/>
              <a:gd name="connsiteX5" fmla="*/ 4896853 w 12119714"/>
              <a:gd name="connsiteY5" fmla="*/ 136425 h 3852045"/>
              <a:gd name="connsiteX6" fmla="*/ 7279106 w 12119714"/>
              <a:gd name="connsiteY6" fmla="*/ 894415 h 3852045"/>
              <a:gd name="connsiteX7" fmla="*/ 10323095 w 12119714"/>
              <a:gd name="connsiteY7" fmla="*/ 28140 h 3852045"/>
              <a:gd name="connsiteX8" fmla="*/ 11694695 w 12119714"/>
              <a:gd name="connsiteY8" fmla="*/ 2169762 h 3852045"/>
              <a:gd name="connsiteX9" fmla="*/ 9023684 w 12119714"/>
              <a:gd name="connsiteY9" fmla="*/ 1375678 h 3852045"/>
              <a:gd name="connsiteX10" fmla="*/ 6605337 w 12119714"/>
              <a:gd name="connsiteY10" fmla="*/ 1844909 h 3852045"/>
              <a:gd name="connsiteX11" fmla="*/ 4632158 w 12119714"/>
              <a:gd name="connsiteY11" fmla="*/ 2133667 h 3852045"/>
              <a:gd name="connsiteX12" fmla="*/ 4307306 w 12119714"/>
              <a:gd name="connsiteY12" fmla="*/ 3637615 h 3852045"/>
              <a:gd name="connsiteX13" fmla="*/ 5305927 w 12119714"/>
              <a:gd name="connsiteY13" fmla="*/ 3709804 h 3852045"/>
              <a:gd name="connsiteX14" fmla="*/ 6424863 w 12119714"/>
              <a:gd name="connsiteY14" fmla="*/ 2386330 h 3852045"/>
              <a:gd name="connsiteX15" fmla="*/ 8698832 w 12119714"/>
              <a:gd name="connsiteY15" fmla="*/ 3396983 h 3852045"/>
              <a:gd name="connsiteX16" fmla="*/ 11670632 w 12119714"/>
              <a:gd name="connsiteY16" fmla="*/ 3240573 h 3852045"/>
              <a:gd name="connsiteX17" fmla="*/ 12055642 w 12119714"/>
              <a:gd name="connsiteY17" fmla="*/ 3240573 h 3852045"/>
              <a:gd name="connsiteX0" fmla="*/ 0 w 12119714"/>
              <a:gd name="connsiteY0" fmla="*/ 1086875 h 3852000"/>
              <a:gd name="connsiteX1" fmla="*/ 1479885 w 12119714"/>
              <a:gd name="connsiteY1" fmla="*/ 148412 h 3852000"/>
              <a:gd name="connsiteX2" fmla="*/ 2538664 w 12119714"/>
              <a:gd name="connsiteY2" fmla="*/ 1351570 h 3852000"/>
              <a:gd name="connsiteX3" fmla="*/ 589548 w 12119714"/>
              <a:gd name="connsiteY3" fmla="*/ 2975833 h 3852000"/>
              <a:gd name="connsiteX4" fmla="*/ 3164306 w 12119714"/>
              <a:gd name="connsiteY4" fmla="*/ 3396938 h 3852000"/>
              <a:gd name="connsiteX5" fmla="*/ 4547937 w 12119714"/>
              <a:gd name="connsiteY5" fmla="*/ 124348 h 3852000"/>
              <a:gd name="connsiteX6" fmla="*/ 7279106 w 12119714"/>
              <a:gd name="connsiteY6" fmla="*/ 894370 h 3852000"/>
              <a:gd name="connsiteX7" fmla="*/ 10323095 w 12119714"/>
              <a:gd name="connsiteY7" fmla="*/ 28095 h 3852000"/>
              <a:gd name="connsiteX8" fmla="*/ 11694695 w 12119714"/>
              <a:gd name="connsiteY8" fmla="*/ 2169717 h 3852000"/>
              <a:gd name="connsiteX9" fmla="*/ 9023684 w 12119714"/>
              <a:gd name="connsiteY9" fmla="*/ 1375633 h 3852000"/>
              <a:gd name="connsiteX10" fmla="*/ 6605337 w 12119714"/>
              <a:gd name="connsiteY10" fmla="*/ 1844864 h 3852000"/>
              <a:gd name="connsiteX11" fmla="*/ 4632158 w 12119714"/>
              <a:gd name="connsiteY11" fmla="*/ 2133622 h 3852000"/>
              <a:gd name="connsiteX12" fmla="*/ 4307306 w 12119714"/>
              <a:gd name="connsiteY12" fmla="*/ 3637570 h 3852000"/>
              <a:gd name="connsiteX13" fmla="*/ 5305927 w 12119714"/>
              <a:gd name="connsiteY13" fmla="*/ 3709759 h 3852000"/>
              <a:gd name="connsiteX14" fmla="*/ 6424863 w 12119714"/>
              <a:gd name="connsiteY14" fmla="*/ 2386285 h 3852000"/>
              <a:gd name="connsiteX15" fmla="*/ 8698832 w 12119714"/>
              <a:gd name="connsiteY15" fmla="*/ 3396938 h 3852000"/>
              <a:gd name="connsiteX16" fmla="*/ 11670632 w 12119714"/>
              <a:gd name="connsiteY16" fmla="*/ 3240528 h 3852000"/>
              <a:gd name="connsiteX17" fmla="*/ 12055642 w 12119714"/>
              <a:gd name="connsiteY17" fmla="*/ 3240528 h 3852000"/>
              <a:gd name="connsiteX0" fmla="*/ 0 w 12119714"/>
              <a:gd name="connsiteY0" fmla="*/ 1086875 h 3852000"/>
              <a:gd name="connsiteX1" fmla="*/ 1479885 w 12119714"/>
              <a:gd name="connsiteY1" fmla="*/ 148412 h 3852000"/>
              <a:gd name="connsiteX2" fmla="*/ 2538664 w 12119714"/>
              <a:gd name="connsiteY2" fmla="*/ 1351570 h 3852000"/>
              <a:gd name="connsiteX3" fmla="*/ 589548 w 12119714"/>
              <a:gd name="connsiteY3" fmla="*/ 2975833 h 3852000"/>
              <a:gd name="connsiteX4" fmla="*/ 3164306 w 12119714"/>
              <a:gd name="connsiteY4" fmla="*/ 3396938 h 3852000"/>
              <a:gd name="connsiteX5" fmla="*/ 4547937 w 12119714"/>
              <a:gd name="connsiteY5" fmla="*/ 124348 h 3852000"/>
              <a:gd name="connsiteX6" fmla="*/ 7279106 w 12119714"/>
              <a:gd name="connsiteY6" fmla="*/ 894370 h 3852000"/>
              <a:gd name="connsiteX7" fmla="*/ 10323095 w 12119714"/>
              <a:gd name="connsiteY7" fmla="*/ 28095 h 3852000"/>
              <a:gd name="connsiteX8" fmla="*/ 11694695 w 12119714"/>
              <a:gd name="connsiteY8" fmla="*/ 2169717 h 3852000"/>
              <a:gd name="connsiteX9" fmla="*/ 9023684 w 12119714"/>
              <a:gd name="connsiteY9" fmla="*/ 1375633 h 3852000"/>
              <a:gd name="connsiteX10" fmla="*/ 6545179 w 12119714"/>
              <a:gd name="connsiteY10" fmla="*/ 1808769 h 3852000"/>
              <a:gd name="connsiteX11" fmla="*/ 4632158 w 12119714"/>
              <a:gd name="connsiteY11" fmla="*/ 2133622 h 3852000"/>
              <a:gd name="connsiteX12" fmla="*/ 4307306 w 12119714"/>
              <a:gd name="connsiteY12" fmla="*/ 3637570 h 3852000"/>
              <a:gd name="connsiteX13" fmla="*/ 5305927 w 12119714"/>
              <a:gd name="connsiteY13" fmla="*/ 3709759 h 3852000"/>
              <a:gd name="connsiteX14" fmla="*/ 6424863 w 12119714"/>
              <a:gd name="connsiteY14" fmla="*/ 2386285 h 3852000"/>
              <a:gd name="connsiteX15" fmla="*/ 8698832 w 12119714"/>
              <a:gd name="connsiteY15" fmla="*/ 3396938 h 3852000"/>
              <a:gd name="connsiteX16" fmla="*/ 11670632 w 12119714"/>
              <a:gd name="connsiteY16" fmla="*/ 3240528 h 3852000"/>
              <a:gd name="connsiteX17" fmla="*/ 12055642 w 12119714"/>
              <a:gd name="connsiteY17" fmla="*/ 3240528 h 3852000"/>
              <a:gd name="connsiteX0" fmla="*/ 0 w 12119714"/>
              <a:gd name="connsiteY0" fmla="*/ 1086875 h 3876767"/>
              <a:gd name="connsiteX1" fmla="*/ 1479885 w 12119714"/>
              <a:gd name="connsiteY1" fmla="*/ 148412 h 3876767"/>
              <a:gd name="connsiteX2" fmla="*/ 2538664 w 12119714"/>
              <a:gd name="connsiteY2" fmla="*/ 1351570 h 3876767"/>
              <a:gd name="connsiteX3" fmla="*/ 589548 w 12119714"/>
              <a:gd name="connsiteY3" fmla="*/ 2975833 h 3876767"/>
              <a:gd name="connsiteX4" fmla="*/ 3164306 w 12119714"/>
              <a:gd name="connsiteY4" fmla="*/ 3396938 h 3876767"/>
              <a:gd name="connsiteX5" fmla="*/ 4547937 w 12119714"/>
              <a:gd name="connsiteY5" fmla="*/ 124348 h 3876767"/>
              <a:gd name="connsiteX6" fmla="*/ 7279106 w 12119714"/>
              <a:gd name="connsiteY6" fmla="*/ 894370 h 3876767"/>
              <a:gd name="connsiteX7" fmla="*/ 10323095 w 12119714"/>
              <a:gd name="connsiteY7" fmla="*/ 28095 h 3876767"/>
              <a:gd name="connsiteX8" fmla="*/ 11694695 w 12119714"/>
              <a:gd name="connsiteY8" fmla="*/ 2169717 h 3876767"/>
              <a:gd name="connsiteX9" fmla="*/ 9023684 w 12119714"/>
              <a:gd name="connsiteY9" fmla="*/ 1375633 h 3876767"/>
              <a:gd name="connsiteX10" fmla="*/ 6545179 w 12119714"/>
              <a:gd name="connsiteY10" fmla="*/ 1808769 h 3876767"/>
              <a:gd name="connsiteX11" fmla="*/ 4511843 w 12119714"/>
              <a:gd name="connsiteY11" fmla="*/ 1712517 h 3876767"/>
              <a:gd name="connsiteX12" fmla="*/ 4307306 w 12119714"/>
              <a:gd name="connsiteY12" fmla="*/ 3637570 h 3876767"/>
              <a:gd name="connsiteX13" fmla="*/ 5305927 w 12119714"/>
              <a:gd name="connsiteY13" fmla="*/ 3709759 h 3876767"/>
              <a:gd name="connsiteX14" fmla="*/ 6424863 w 12119714"/>
              <a:gd name="connsiteY14" fmla="*/ 2386285 h 3876767"/>
              <a:gd name="connsiteX15" fmla="*/ 8698832 w 12119714"/>
              <a:gd name="connsiteY15" fmla="*/ 3396938 h 3876767"/>
              <a:gd name="connsiteX16" fmla="*/ 11670632 w 12119714"/>
              <a:gd name="connsiteY16" fmla="*/ 3240528 h 3876767"/>
              <a:gd name="connsiteX17" fmla="*/ 12055642 w 12119714"/>
              <a:gd name="connsiteY17" fmla="*/ 3240528 h 3876767"/>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511843 w 12119714"/>
              <a:gd name="connsiteY11" fmla="*/ 1712517 h 3719904"/>
              <a:gd name="connsiteX12" fmla="*/ 4307306 w 12119714"/>
              <a:gd name="connsiteY12" fmla="*/ 3637570 h 3719904"/>
              <a:gd name="connsiteX13" fmla="*/ 6424863 w 12119714"/>
              <a:gd name="connsiteY13" fmla="*/ 238628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511843 w 12119714"/>
              <a:gd name="connsiteY11" fmla="*/ 1712517 h 3719904"/>
              <a:gd name="connsiteX12" fmla="*/ 4307306 w 12119714"/>
              <a:gd name="connsiteY12" fmla="*/ 3637570 h 3719904"/>
              <a:gd name="connsiteX13" fmla="*/ 6424863 w 12119714"/>
              <a:gd name="connsiteY13" fmla="*/ 238628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511843 w 12119714"/>
              <a:gd name="connsiteY11" fmla="*/ 1712517 h 3719904"/>
              <a:gd name="connsiteX12" fmla="*/ 4307306 w 12119714"/>
              <a:gd name="connsiteY12" fmla="*/ 3637570 h 3719904"/>
              <a:gd name="connsiteX13" fmla="*/ 6424863 w 12119714"/>
              <a:gd name="connsiteY13" fmla="*/ 238628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511843 w 12119714"/>
              <a:gd name="connsiteY11" fmla="*/ 1712517 h 3719904"/>
              <a:gd name="connsiteX12" fmla="*/ 4752475 w 12119714"/>
              <a:gd name="connsiteY12" fmla="*/ 3661633 h 3719904"/>
              <a:gd name="connsiteX13" fmla="*/ 6424863 w 12119714"/>
              <a:gd name="connsiteY13" fmla="*/ 238628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511843 w 12119714"/>
              <a:gd name="connsiteY11" fmla="*/ 1712517 h 3719904"/>
              <a:gd name="connsiteX12" fmla="*/ 4752475 w 12119714"/>
              <a:gd name="connsiteY12" fmla="*/ 3661633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511843 w 12119714"/>
              <a:gd name="connsiteY11" fmla="*/ 1712517 h 3719904"/>
              <a:gd name="connsiteX12" fmla="*/ 4981075 w 12119714"/>
              <a:gd name="connsiteY12" fmla="*/ 3673665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511843 w 12119714"/>
              <a:gd name="connsiteY11" fmla="*/ 1712517 h 3719904"/>
              <a:gd name="connsiteX12" fmla="*/ 4981075 w 12119714"/>
              <a:gd name="connsiteY12" fmla="*/ 3673665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776538 w 12119714"/>
              <a:gd name="connsiteY11" fmla="*/ 1953149 h 3719904"/>
              <a:gd name="connsiteX12" fmla="*/ 4981075 w 12119714"/>
              <a:gd name="connsiteY12" fmla="*/ 3673665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776538 w 12119714"/>
              <a:gd name="connsiteY11" fmla="*/ 1953149 h 3719904"/>
              <a:gd name="connsiteX12" fmla="*/ 4981075 w 12119714"/>
              <a:gd name="connsiteY12" fmla="*/ 3673665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545179 w 12119714"/>
              <a:gd name="connsiteY10" fmla="*/ 1808769 h 3719904"/>
              <a:gd name="connsiteX11" fmla="*/ 4776538 w 12119714"/>
              <a:gd name="connsiteY11" fmla="*/ 1953149 h 3719904"/>
              <a:gd name="connsiteX12" fmla="*/ 4981075 w 12119714"/>
              <a:gd name="connsiteY12" fmla="*/ 3673665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918158 w 12119714"/>
              <a:gd name="connsiteY10" fmla="*/ 1652358 h 3719904"/>
              <a:gd name="connsiteX11" fmla="*/ 4776538 w 12119714"/>
              <a:gd name="connsiteY11" fmla="*/ 1953149 h 3719904"/>
              <a:gd name="connsiteX12" fmla="*/ 4981075 w 12119714"/>
              <a:gd name="connsiteY12" fmla="*/ 3673665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918158 w 12119714"/>
              <a:gd name="connsiteY10" fmla="*/ 1652358 h 3719904"/>
              <a:gd name="connsiteX11" fmla="*/ 6304548 w 12119714"/>
              <a:gd name="connsiteY11" fmla="*/ 1868928 h 3719904"/>
              <a:gd name="connsiteX12" fmla="*/ 4981075 w 12119714"/>
              <a:gd name="connsiteY12" fmla="*/ 3673665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918158 w 12119714"/>
              <a:gd name="connsiteY10" fmla="*/ 1652358 h 3719904"/>
              <a:gd name="connsiteX11" fmla="*/ 6304548 w 12119714"/>
              <a:gd name="connsiteY11" fmla="*/ 1868928 h 3719904"/>
              <a:gd name="connsiteX12" fmla="*/ 6641433 w 12119714"/>
              <a:gd name="connsiteY12" fmla="*/ 3264592 h 3719904"/>
              <a:gd name="connsiteX13" fmla="*/ 6821905 w 12119714"/>
              <a:gd name="connsiteY13" fmla="*/ 2458475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119714"/>
              <a:gd name="connsiteY0" fmla="*/ 1086875 h 3719904"/>
              <a:gd name="connsiteX1" fmla="*/ 1479885 w 12119714"/>
              <a:gd name="connsiteY1" fmla="*/ 148412 h 3719904"/>
              <a:gd name="connsiteX2" fmla="*/ 2538664 w 12119714"/>
              <a:gd name="connsiteY2" fmla="*/ 1351570 h 3719904"/>
              <a:gd name="connsiteX3" fmla="*/ 589548 w 12119714"/>
              <a:gd name="connsiteY3" fmla="*/ 2975833 h 3719904"/>
              <a:gd name="connsiteX4" fmla="*/ 3164306 w 12119714"/>
              <a:gd name="connsiteY4" fmla="*/ 3396938 h 3719904"/>
              <a:gd name="connsiteX5" fmla="*/ 4547937 w 12119714"/>
              <a:gd name="connsiteY5" fmla="*/ 124348 h 3719904"/>
              <a:gd name="connsiteX6" fmla="*/ 7279106 w 12119714"/>
              <a:gd name="connsiteY6" fmla="*/ 894370 h 3719904"/>
              <a:gd name="connsiteX7" fmla="*/ 10323095 w 12119714"/>
              <a:gd name="connsiteY7" fmla="*/ 28095 h 3719904"/>
              <a:gd name="connsiteX8" fmla="*/ 11694695 w 12119714"/>
              <a:gd name="connsiteY8" fmla="*/ 2169717 h 3719904"/>
              <a:gd name="connsiteX9" fmla="*/ 9023684 w 12119714"/>
              <a:gd name="connsiteY9" fmla="*/ 1375633 h 3719904"/>
              <a:gd name="connsiteX10" fmla="*/ 6918158 w 12119714"/>
              <a:gd name="connsiteY10" fmla="*/ 1652358 h 3719904"/>
              <a:gd name="connsiteX11" fmla="*/ 6304548 w 12119714"/>
              <a:gd name="connsiteY11" fmla="*/ 1868928 h 3719904"/>
              <a:gd name="connsiteX12" fmla="*/ 6641433 w 12119714"/>
              <a:gd name="connsiteY12" fmla="*/ 3264592 h 3719904"/>
              <a:gd name="connsiteX13" fmla="*/ 8915400 w 12119714"/>
              <a:gd name="connsiteY13" fmla="*/ 2518633 h 3719904"/>
              <a:gd name="connsiteX14" fmla="*/ 8698832 w 12119714"/>
              <a:gd name="connsiteY14" fmla="*/ 3396938 h 3719904"/>
              <a:gd name="connsiteX15" fmla="*/ 11670632 w 12119714"/>
              <a:gd name="connsiteY15" fmla="*/ 3240528 h 3719904"/>
              <a:gd name="connsiteX16" fmla="*/ 12055642 w 12119714"/>
              <a:gd name="connsiteY16" fmla="*/ 3240528 h 3719904"/>
              <a:gd name="connsiteX0" fmla="*/ 0 w 12073168"/>
              <a:gd name="connsiteY0" fmla="*/ 1086875 h 3763216"/>
              <a:gd name="connsiteX1" fmla="*/ 1479885 w 12073168"/>
              <a:gd name="connsiteY1" fmla="*/ 148412 h 3763216"/>
              <a:gd name="connsiteX2" fmla="*/ 2538664 w 12073168"/>
              <a:gd name="connsiteY2" fmla="*/ 1351570 h 3763216"/>
              <a:gd name="connsiteX3" fmla="*/ 589548 w 12073168"/>
              <a:gd name="connsiteY3" fmla="*/ 2975833 h 3763216"/>
              <a:gd name="connsiteX4" fmla="*/ 3164306 w 12073168"/>
              <a:gd name="connsiteY4" fmla="*/ 3396938 h 3763216"/>
              <a:gd name="connsiteX5" fmla="*/ 4547937 w 12073168"/>
              <a:gd name="connsiteY5" fmla="*/ 124348 h 3763216"/>
              <a:gd name="connsiteX6" fmla="*/ 7279106 w 12073168"/>
              <a:gd name="connsiteY6" fmla="*/ 894370 h 3763216"/>
              <a:gd name="connsiteX7" fmla="*/ 10323095 w 12073168"/>
              <a:gd name="connsiteY7" fmla="*/ 28095 h 3763216"/>
              <a:gd name="connsiteX8" fmla="*/ 11694695 w 12073168"/>
              <a:gd name="connsiteY8" fmla="*/ 2169717 h 3763216"/>
              <a:gd name="connsiteX9" fmla="*/ 9023684 w 12073168"/>
              <a:gd name="connsiteY9" fmla="*/ 1375633 h 3763216"/>
              <a:gd name="connsiteX10" fmla="*/ 6918158 w 12073168"/>
              <a:gd name="connsiteY10" fmla="*/ 1652358 h 3763216"/>
              <a:gd name="connsiteX11" fmla="*/ 6304548 w 12073168"/>
              <a:gd name="connsiteY11" fmla="*/ 1868928 h 3763216"/>
              <a:gd name="connsiteX12" fmla="*/ 6641433 w 12073168"/>
              <a:gd name="connsiteY12" fmla="*/ 3264592 h 3763216"/>
              <a:gd name="connsiteX13" fmla="*/ 8915400 w 12073168"/>
              <a:gd name="connsiteY13" fmla="*/ 2518633 h 3763216"/>
              <a:gd name="connsiteX14" fmla="*/ 10756232 w 12073168"/>
              <a:gd name="connsiteY14" fmla="*/ 3745854 h 3763216"/>
              <a:gd name="connsiteX15" fmla="*/ 11670632 w 12073168"/>
              <a:gd name="connsiteY15" fmla="*/ 3240528 h 3763216"/>
              <a:gd name="connsiteX16" fmla="*/ 12055642 w 12073168"/>
              <a:gd name="connsiteY16" fmla="*/ 3240528 h 3763216"/>
              <a:gd name="connsiteX0" fmla="*/ 0 w 12073168"/>
              <a:gd name="connsiteY0" fmla="*/ 1086875 h 3750732"/>
              <a:gd name="connsiteX1" fmla="*/ 1479885 w 12073168"/>
              <a:gd name="connsiteY1" fmla="*/ 148412 h 3750732"/>
              <a:gd name="connsiteX2" fmla="*/ 2538664 w 12073168"/>
              <a:gd name="connsiteY2" fmla="*/ 1351570 h 3750732"/>
              <a:gd name="connsiteX3" fmla="*/ 589548 w 12073168"/>
              <a:gd name="connsiteY3" fmla="*/ 2975833 h 3750732"/>
              <a:gd name="connsiteX4" fmla="*/ 3164306 w 12073168"/>
              <a:gd name="connsiteY4" fmla="*/ 3396938 h 3750732"/>
              <a:gd name="connsiteX5" fmla="*/ 4547937 w 12073168"/>
              <a:gd name="connsiteY5" fmla="*/ 124348 h 3750732"/>
              <a:gd name="connsiteX6" fmla="*/ 7279106 w 12073168"/>
              <a:gd name="connsiteY6" fmla="*/ 894370 h 3750732"/>
              <a:gd name="connsiteX7" fmla="*/ 10323095 w 12073168"/>
              <a:gd name="connsiteY7" fmla="*/ 28095 h 3750732"/>
              <a:gd name="connsiteX8" fmla="*/ 11694695 w 12073168"/>
              <a:gd name="connsiteY8" fmla="*/ 2169717 h 3750732"/>
              <a:gd name="connsiteX9" fmla="*/ 9023684 w 12073168"/>
              <a:gd name="connsiteY9" fmla="*/ 1375633 h 3750732"/>
              <a:gd name="connsiteX10" fmla="*/ 6918158 w 12073168"/>
              <a:gd name="connsiteY10" fmla="*/ 1652358 h 3750732"/>
              <a:gd name="connsiteX11" fmla="*/ 6304548 w 12073168"/>
              <a:gd name="connsiteY11" fmla="*/ 1868928 h 3750732"/>
              <a:gd name="connsiteX12" fmla="*/ 6641433 w 12073168"/>
              <a:gd name="connsiteY12" fmla="*/ 3264592 h 3750732"/>
              <a:gd name="connsiteX13" fmla="*/ 9059779 w 12073168"/>
              <a:gd name="connsiteY13" fmla="*/ 2891612 h 3750732"/>
              <a:gd name="connsiteX14" fmla="*/ 10756232 w 12073168"/>
              <a:gd name="connsiteY14" fmla="*/ 3745854 h 3750732"/>
              <a:gd name="connsiteX15" fmla="*/ 11670632 w 12073168"/>
              <a:gd name="connsiteY15" fmla="*/ 3240528 h 3750732"/>
              <a:gd name="connsiteX16" fmla="*/ 12055642 w 12073168"/>
              <a:gd name="connsiteY16" fmla="*/ 3240528 h 3750732"/>
              <a:gd name="connsiteX0" fmla="*/ 0 w 12073168"/>
              <a:gd name="connsiteY0" fmla="*/ 1086875 h 3750732"/>
              <a:gd name="connsiteX1" fmla="*/ 1479885 w 12073168"/>
              <a:gd name="connsiteY1" fmla="*/ 148412 h 3750732"/>
              <a:gd name="connsiteX2" fmla="*/ 2538664 w 12073168"/>
              <a:gd name="connsiteY2" fmla="*/ 1351570 h 3750732"/>
              <a:gd name="connsiteX3" fmla="*/ 589548 w 12073168"/>
              <a:gd name="connsiteY3" fmla="*/ 2975833 h 3750732"/>
              <a:gd name="connsiteX4" fmla="*/ 3164306 w 12073168"/>
              <a:gd name="connsiteY4" fmla="*/ 3396938 h 3750732"/>
              <a:gd name="connsiteX5" fmla="*/ 4547937 w 12073168"/>
              <a:gd name="connsiteY5" fmla="*/ 124348 h 3750732"/>
              <a:gd name="connsiteX6" fmla="*/ 7279106 w 12073168"/>
              <a:gd name="connsiteY6" fmla="*/ 894370 h 3750732"/>
              <a:gd name="connsiteX7" fmla="*/ 10323095 w 12073168"/>
              <a:gd name="connsiteY7" fmla="*/ 28095 h 3750732"/>
              <a:gd name="connsiteX8" fmla="*/ 11694695 w 12073168"/>
              <a:gd name="connsiteY8" fmla="*/ 2169717 h 3750732"/>
              <a:gd name="connsiteX9" fmla="*/ 9023684 w 12073168"/>
              <a:gd name="connsiteY9" fmla="*/ 1375633 h 3750732"/>
              <a:gd name="connsiteX10" fmla="*/ 6304548 w 12073168"/>
              <a:gd name="connsiteY10" fmla="*/ 1868928 h 3750732"/>
              <a:gd name="connsiteX11" fmla="*/ 6641433 w 12073168"/>
              <a:gd name="connsiteY11" fmla="*/ 3264592 h 3750732"/>
              <a:gd name="connsiteX12" fmla="*/ 9059779 w 12073168"/>
              <a:gd name="connsiteY12" fmla="*/ 2891612 h 3750732"/>
              <a:gd name="connsiteX13" fmla="*/ 10756232 w 12073168"/>
              <a:gd name="connsiteY13" fmla="*/ 3745854 h 3750732"/>
              <a:gd name="connsiteX14" fmla="*/ 11670632 w 12073168"/>
              <a:gd name="connsiteY14" fmla="*/ 3240528 h 3750732"/>
              <a:gd name="connsiteX15" fmla="*/ 12055642 w 12073168"/>
              <a:gd name="connsiteY15" fmla="*/ 3240528 h 3750732"/>
              <a:gd name="connsiteX0" fmla="*/ 0 w 12073168"/>
              <a:gd name="connsiteY0" fmla="*/ 1086875 h 3750732"/>
              <a:gd name="connsiteX1" fmla="*/ 1479885 w 12073168"/>
              <a:gd name="connsiteY1" fmla="*/ 148412 h 3750732"/>
              <a:gd name="connsiteX2" fmla="*/ 2538664 w 12073168"/>
              <a:gd name="connsiteY2" fmla="*/ 1351570 h 3750732"/>
              <a:gd name="connsiteX3" fmla="*/ 589548 w 12073168"/>
              <a:gd name="connsiteY3" fmla="*/ 2975833 h 3750732"/>
              <a:gd name="connsiteX4" fmla="*/ 3164306 w 12073168"/>
              <a:gd name="connsiteY4" fmla="*/ 3396938 h 3750732"/>
              <a:gd name="connsiteX5" fmla="*/ 4547937 w 12073168"/>
              <a:gd name="connsiteY5" fmla="*/ 124348 h 3750732"/>
              <a:gd name="connsiteX6" fmla="*/ 7279106 w 12073168"/>
              <a:gd name="connsiteY6" fmla="*/ 894370 h 3750732"/>
              <a:gd name="connsiteX7" fmla="*/ 10323095 w 12073168"/>
              <a:gd name="connsiteY7" fmla="*/ 28095 h 3750732"/>
              <a:gd name="connsiteX8" fmla="*/ 11694695 w 12073168"/>
              <a:gd name="connsiteY8" fmla="*/ 2169717 h 3750732"/>
              <a:gd name="connsiteX9" fmla="*/ 9023684 w 12073168"/>
              <a:gd name="connsiteY9" fmla="*/ 1375633 h 3750732"/>
              <a:gd name="connsiteX10" fmla="*/ 6340643 w 12073168"/>
              <a:gd name="connsiteY10" fmla="*/ 2133622 h 3750732"/>
              <a:gd name="connsiteX11" fmla="*/ 6641433 w 12073168"/>
              <a:gd name="connsiteY11" fmla="*/ 3264592 h 3750732"/>
              <a:gd name="connsiteX12" fmla="*/ 9059779 w 12073168"/>
              <a:gd name="connsiteY12" fmla="*/ 2891612 h 3750732"/>
              <a:gd name="connsiteX13" fmla="*/ 10756232 w 12073168"/>
              <a:gd name="connsiteY13" fmla="*/ 3745854 h 3750732"/>
              <a:gd name="connsiteX14" fmla="*/ 11670632 w 12073168"/>
              <a:gd name="connsiteY14" fmla="*/ 3240528 h 3750732"/>
              <a:gd name="connsiteX15" fmla="*/ 12055642 w 12073168"/>
              <a:gd name="connsiteY15" fmla="*/ 3240528 h 3750732"/>
              <a:gd name="connsiteX0" fmla="*/ 0 w 12482242"/>
              <a:gd name="connsiteY0" fmla="*/ 1447823 h 3750732"/>
              <a:gd name="connsiteX1" fmla="*/ 1888959 w 12482242"/>
              <a:gd name="connsiteY1" fmla="*/ 148412 h 3750732"/>
              <a:gd name="connsiteX2" fmla="*/ 2947738 w 12482242"/>
              <a:gd name="connsiteY2" fmla="*/ 1351570 h 3750732"/>
              <a:gd name="connsiteX3" fmla="*/ 998622 w 12482242"/>
              <a:gd name="connsiteY3" fmla="*/ 2975833 h 3750732"/>
              <a:gd name="connsiteX4" fmla="*/ 3573380 w 12482242"/>
              <a:gd name="connsiteY4" fmla="*/ 3396938 h 3750732"/>
              <a:gd name="connsiteX5" fmla="*/ 4957011 w 12482242"/>
              <a:gd name="connsiteY5" fmla="*/ 124348 h 3750732"/>
              <a:gd name="connsiteX6" fmla="*/ 7688180 w 12482242"/>
              <a:gd name="connsiteY6" fmla="*/ 894370 h 3750732"/>
              <a:gd name="connsiteX7" fmla="*/ 10732169 w 12482242"/>
              <a:gd name="connsiteY7" fmla="*/ 28095 h 3750732"/>
              <a:gd name="connsiteX8" fmla="*/ 12103769 w 12482242"/>
              <a:gd name="connsiteY8" fmla="*/ 2169717 h 3750732"/>
              <a:gd name="connsiteX9" fmla="*/ 9432758 w 12482242"/>
              <a:gd name="connsiteY9" fmla="*/ 1375633 h 3750732"/>
              <a:gd name="connsiteX10" fmla="*/ 6749717 w 12482242"/>
              <a:gd name="connsiteY10" fmla="*/ 2133622 h 3750732"/>
              <a:gd name="connsiteX11" fmla="*/ 7050507 w 12482242"/>
              <a:gd name="connsiteY11" fmla="*/ 3264592 h 3750732"/>
              <a:gd name="connsiteX12" fmla="*/ 9468853 w 12482242"/>
              <a:gd name="connsiteY12" fmla="*/ 2891612 h 3750732"/>
              <a:gd name="connsiteX13" fmla="*/ 11165306 w 12482242"/>
              <a:gd name="connsiteY13" fmla="*/ 3745854 h 3750732"/>
              <a:gd name="connsiteX14" fmla="*/ 12079706 w 12482242"/>
              <a:gd name="connsiteY14" fmla="*/ 3240528 h 3750732"/>
              <a:gd name="connsiteX15" fmla="*/ 12464716 w 12482242"/>
              <a:gd name="connsiteY15" fmla="*/ 3240528 h 3750732"/>
              <a:gd name="connsiteX0" fmla="*/ 0 w 12482242"/>
              <a:gd name="connsiteY0" fmla="*/ 1426339 h 3729248"/>
              <a:gd name="connsiteX1" fmla="*/ 1888959 w 12482242"/>
              <a:gd name="connsiteY1" fmla="*/ 126928 h 3729248"/>
              <a:gd name="connsiteX2" fmla="*/ 2947738 w 12482242"/>
              <a:gd name="connsiteY2" fmla="*/ 1330086 h 3729248"/>
              <a:gd name="connsiteX3" fmla="*/ 998622 w 12482242"/>
              <a:gd name="connsiteY3" fmla="*/ 2954349 h 3729248"/>
              <a:gd name="connsiteX4" fmla="*/ 3573380 w 12482242"/>
              <a:gd name="connsiteY4" fmla="*/ 3375454 h 3729248"/>
              <a:gd name="connsiteX5" fmla="*/ 4957011 w 12482242"/>
              <a:gd name="connsiteY5" fmla="*/ 102864 h 3729248"/>
              <a:gd name="connsiteX6" fmla="*/ 7688180 w 12482242"/>
              <a:gd name="connsiteY6" fmla="*/ 872886 h 3729248"/>
              <a:gd name="connsiteX7" fmla="*/ 10732169 w 12482242"/>
              <a:gd name="connsiteY7" fmla="*/ 6611 h 3729248"/>
              <a:gd name="connsiteX8" fmla="*/ 11542181 w 12482242"/>
              <a:gd name="connsiteY8" fmla="*/ 1438370 h 3729248"/>
              <a:gd name="connsiteX9" fmla="*/ 9432758 w 12482242"/>
              <a:gd name="connsiteY9" fmla="*/ 1354149 h 3729248"/>
              <a:gd name="connsiteX10" fmla="*/ 6749717 w 12482242"/>
              <a:gd name="connsiteY10" fmla="*/ 2112138 h 3729248"/>
              <a:gd name="connsiteX11" fmla="*/ 7050507 w 12482242"/>
              <a:gd name="connsiteY11" fmla="*/ 3243108 h 3729248"/>
              <a:gd name="connsiteX12" fmla="*/ 9468853 w 12482242"/>
              <a:gd name="connsiteY12" fmla="*/ 2870128 h 3729248"/>
              <a:gd name="connsiteX13" fmla="*/ 11165306 w 12482242"/>
              <a:gd name="connsiteY13" fmla="*/ 3724370 h 3729248"/>
              <a:gd name="connsiteX14" fmla="*/ 12079706 w 12482242"/>
              <a:gd name="connsiteY14" fmla="*/ 3219044 h 3729248"/>
              <a:gd name="connsiteX15" fmla="*/ 12464716 w 12482242"/>
              <a:gd name="connsiteY15" fmla="*/ 3219044 h 3729248"/>
              <a:gd name="connsiteX0" fmla="*/ 0 w 13485251"/>
              <a:gd name="connsiteY0" fmla="*/ 1426339 h 3729400"/>
              <a:gd name="connsiteX1" fmla="*/ 1888959 w 13485251"/>
              <a:gd name="connsiteY1" fmla="*/ 126928 h 3729400"/>
              <a:gd name="connsiteX2" fmla="*/ 2947738 w 13485251"/>
              <a:gd name="connsiteY2" fmla="*/ 1330086 h 3729400"/>
              <a:gd name="connsiteX3" fmla="*/ 998622 w 13485251"/>
              <a:gd name="connsiteY3" fmla="*/ 2954349 h 3729400"/>
              <a:gd name="connsiteX4" fmla="*/ 3573380 w 13485251"/>
              <a:gd name="connsiteY4" fmla="*/ 3375454 h 3729400"/>
              <a:gd name="connsiteX5" fmla="*/ 4957011 w 13485251"/>
              <a:gd name="connsiteY5" fmla="*/ 102864 h 3729400"/>
              <a:gd name="connsiteX6" fmla="*/ 7688180 w 13485251"/>
              <a:gd name="connsiteY6" fmla="*/ 872886 h 3729400"/>
              <a:gd name="connsiteX7" fmla="*/ 10732169 w 13485251"/>
              <a:gd name="connsiteY7" fmla="*/ 6611 h 3729400"/>
              <a:gd name="connsiteX8" fmla="*/ 11542181 w 13485251"/>
              <a:gd name="connsiteY8" fmla="*/ 1438370 h 3729400"/>
              <a:gd name="connsiteX9" fmla="*/ 9432758 w 13485251"/>
              <a:gd name="connsiteY9" fmla="*/ 1354149 h 3729400"/>
              <a:gd name="connsiteX10" fmla="*/ 6749717 w 13485251"/>
              <a:gd name="connsiteY10" fmla="*/ 2112138 h 3729400"/>
              <a:gd name="connsiteX11" fmla="*/ 7050507 w 13485251"/>
              <a:gd name="connsiteY11" fmla="*/ 3243108 h 3729400"/>
              <a:gd name="connsiteX12" fmla="*/ 9468853 w 13485251"/>
              <a:gd name="connsiteY12" fmla="*/ 2870128 h 3729400"/>
              <a:gd name="connsiteX13" fmla="*/ 11165306 w 13485251"/>
              <a:gd name="connsiteY13" fmla="*/ 3724370 h 3729400"/>
              <a:gd name="connsiteX14" fmla="*/ 12079706 w 13485251"/>
              <a:gd name="connsiteY14" fmla="*/ 3219044 h 3729400"/>
              <a:gd name="connsiteX15" fmla="*/ 13480355 w 13485251"/>
              <a:gd name="connsiteY15" fmla="*/ 3122791 h 3729400"/>
              <a:gd name="connsiteX0" fmla="*/ 0 w 13486837"/>
              <a:gd name="connsiteY0" fmla="*/ 1426339 h 3724673"/>
              <a:gd name="connsiteX1" fmla="*/ 1888959 w 13486837"/>
              <a:gd name="connsiteY1" fmla="*/ 126928 h 3724673"/>
              <a:gd name="connsiteX2" fmla="*/ 2947738 w 13486837"/>
              <a:gd name="connsiteY2" fmla="*/ 1330086 h 3724673"/>
              <a:gd name="connsiteX3" fmla="*/ 998622 w 13486837"/>
              <a:gd name="connsiteY3" fmla="*/ 2954349 h 3724673"/>
              <a:gd name="connsiteX4" fmla="*/ 3573380 w 13486837"/>
              <a:gd name="connsiteY4" fmla="*/ 3375454 h 3724673"/>
              <a:gd name="connsiteX5" fmla="*/ 4957011 w 13486837"/>
              <a:gd name="connsiteY5" fmla="*/ 102864 h 3724673"/>
              <a:gd name="connsiteX6" fmla="*/ 7688180 w 13486837"/>
              <a:gd name="connsiteY6" fmla="*/ 872886 h 3724673"/>
              <a:gd name="connsiteX7" fmla="*/ 10732169 w 13486837"/>
              <a:gd name="connsiteY7" fmla="*/ 6611 h 3724673"/>
              <a:gd name="connsiteX8" fmla="*/ 11542181 w 13486837"/>
              <a:gd name="connsiteY8" fmla="*/ 1438370 h 3724673"/>
              <a:gd name="connsiteX9" fmla="*/ 9432758 w 13486837"/>
              <a:gd name="connsiteY9" fmla="*/ 1354149 h 3724673"/>
              <a:gd name="connsiteX10" fmla="*/ 6749717 w 13486837"/>
              <a:gd name="connsiteY10" fmla="*/ 2112138 h 3724673"/>
              <a:gd name="connsiteX11" fmla="*/ 7050507 w 13486837"/>
              <a:gd name="connsiteY11" fmla="*/ 3243108 h 3724673"/>
              <a:gd name="connsiteX12" fmla="*/ 9468853 w 13486837"/>
              <a:gd name="connsiteY12" fmla="*/ 2870128 h 3724673"/>
              <a:gd name="connsiteX13" fmla="*/ 11165306 w 13486837"/>
              <a:gd name="connsiteY13" fmla="*/ 3724370 h 3724673"/>
              <a:gd name="connsiteX14" fmla="*/ 12366474 w 13486837"/>
              <a:gd name="connsiteY14" fmla="*/ 2761844 h 3724673"/>
              <a:gd name="connsiteX15" fmla="*/ 13480355 w 13486837"/>
              <a:gd name="connsiteY15" fmla="*/ 3122791 h 3724673"/>
              <a:gd name="connsiteX0" fmla="*/ 0 w 13485059"/>
              <a:gd name="connsiteY0" fmla="*/ 1426339 h 3724555"/>
              <a:gd name="connsiteX1" fmla="*/ 1888959 w 13485059"/>
              <a:gd name="connsiteY1" fmla="*/ 126928 h 3724555"/>
              <a:gd name="connsiteX2" fmla="*/ 2947738 w 13485059"/>
              <a:gd name="connsiteY2" fmla="*/ 1330086 h 3724555"/>
              <a:gd name="connsiteX3" fmla="*/ 998622 w 13485059"/>
              <a:gd name="connsiteY3" fmla="*/ 2954349 h 3724555"/>
              <a:gd name="connsiteX4" fmla="*/ 3573380 w 13485059"/>
              <a:gd name="connsiteY4" fmla="*/ 3375454 h 3724555"/>
              <a:gd name="connsiteX5" fmla="*/ 4957011 w 13485059"/>
              <a:gd name="connsiteY5" fmla="*/ 102864 h 3724555"/>
              <a:gd name="connsiteX6" fmla="*/ 7688180 w 13485059"/>
              <a:gd name="connsiteY6" fmla="*/ 872886 h 3724555"/>
              <a:gd name="connsiteX7" fmla="*/ 10732169 w 13485059"/>
              <a:gd name="connsiteY7" fmla="*/ 6611 h 3724555"/>
              <a:gd name="connsiteX8" fmla="*/ 11542181 w 13485059"/>
              <a:gd name="connsiteY8" fmla="*/ 1438370 h 3724555"/>
              <a:gd name="connsiteX9" fmla="*/ 9432758 w 13485059"/>
              <a:gd name="connsiteY9" fmla="*/ 1354149 h 3724555"/>
              <a:gd name="connsiteX10" fmla="*/ 6749717 w 13485059"/>
              <a:gd name="connsiteY10" fmla="*/ 2112138 h 3724555"/>
              <a:gd name="connsiteX11" fmla="*/ 7050507 w 13485059"/>
              <a:gd name="connsiteY11" fmla="*/ 3243108 h 3724555"/>
              <a:gd name="connsiteX12" fmla="*/ 9468853 w 13485059"/>
              <a:gd name="connsiteY12" fmla="*/ 2870128 h 3724555"/>
              <a:gd name="connsiteX13" fmla="*/ 11165306 w 13485059"/>
              <a:gd name="connsiteY13" fmla="*/ 3724370 h 3724555"/>
              <a:gd name="connsiteX14" fmla="*/ 12031911 w 13485059"/>
              <a:gd name="connsiteY14" fmla="*/ 2785907 h 3724555"/>
              <a:gd name="connsiteX15" fmla="*/ 13480355 w 13485059"/>
              <a:gd name="connsiteY15" fmla="*/ 3122791 h 3724555"/>
              <a:gd name="connsiteX0" fmla="*/ 0 w 13485059"/>
              <a:gd name="connsiteY0" fmla="*/ 1426339 h 3724555"/>
              <a:gd name="connsiteX1" fmla="*/ 1888959 w 13485059"/>
              <a:gd name="connsiteY1" fmla="*/ 126928 h 3724555"/>
              <a:gd name="connsiteX2" fmla="*/ 2947738 w 13485059"/>
              <a:gd name="connsiteY2" fmla="*/ 1330086 h 3724555"/>
              <a:gd name="connsiteX3" fmla="*/ 998622 w 13485059"/>
              <a:gd name="connsiteY3" fmla="*/ 2954349 h 3724555"/>
              <a:gd name="connsiteX4" fmla="*/ 3573380 w 13485059"/>
              <a:gd name="connsiteY4" fmla="*/ 3375454 h 3724555"/>
              <a:gd name="connsiteX5" fmla="*/ 4957011 w 13485059"/>
              <a:gd name="connsiteY5" fmla="*/ 102864 h 3724555"/>
              <a:gd name="connsiteX6" fmla="*/ 7688180 w 13485059"/>
              <a:gd name="connsiteY6" fmla="*/ 872886 h 3724555"/>
              <a:gd name="connsiteX7" fmla="*/ 10732169 w 13485059"/>
              <a:gd name="connsiteY7" fmla="*/ 6611 h 3724555"/>
              <a:gd name="connsiteX8" fmla="*/ 11542181 w 13485059"/>
              <a:gd name="connsiteY8" fmla="*/ 1438370 h 3724555"/>
              <a:gd name="connsiteX9" fmla="*/ 9432758 w 13485059"/>
              <a:gd name="connsiteY9" fmla="*/ 1354149 h 3724555"/>
              <a:gd name="connsiteX10" fmla="*/ 8506177 w 13485059"/>
              <a:gd name="connsiteY10" fmla="*/ 2256517 h 3724555"/>
              <a:gd name="connsiteX11" fmla="*/ 7050507 w 13485059"/>
              <a:gd name="connsiteY11" fmla="*/ 3243108 h 3724555"/>
              <a:gd name="connsiteX12" fmla="*/ 9468853 w 13485059"/>
              <a:gd name="connsiteY12" fmla="*/ 2870128 h 3724555"/>
              <a:gd name="connsiteX13" fmla="*/ 11165306 w 13485059"/>
              <a:gd name="connsiteY13" fmla="*/ 3724370 h 3724555"/>
              <a:gd name="connsiteX14" fmla="*/ 12031911 w 13485059"/>
              <a:gd name="connsiteY14" fmla="*/ 2785907 h 3724555"/>
              <a:gd name="connsiteX15" fmla="*/ 13480355 w 13485059"/>
              <a:gd name="connsiteY15" fmla="*/ 3122791 h 3724555"/>
              <a:gd name="connsiteX0" fmla="*/ 0 w 13485059"/>
              <a:gd name="connsiteY0" fmla="*/ 1426339 h 3724555"/>
              <a:gd name="connsiteX1" fmla="*/ 1888959 w 13485059"/>
              <a:gd name="connsiteY1" fmla="*/ 126928 h 3724555"/>
              <a:gd name="connsiteX2" fmla="*/ 2947738 w 13485059"/>
              <a:gd name="connsiteY2" fmla="*/ 1330086 h 3724555"/>
              <a:gd name="connsiteX3" fmla="*/ 998622 w 13485059"/>
              <a:gd name="connsiteY3" fmla="*/ 2954349 h 3724555"/>
              <a:gd name="connsiteX4" fmla="*/ 3573380 w 13485059"/>
              <a:gd name="connsiteY4" fmla="*/ 3375454 h 3724555"/>
              <a:gd name="connsiteX5" fmla="*/ 4957011 w 13485059"/>
              <a:gd name="connsiteY5" fmla="*/ 102864 h 3724555"/>
              <a:gd name="connsiteX6" fmla="*/ 7688180 w 13485059"/>
              <a:gd name="connsiteY6" fmla="*/ 872886 h 3724555"/>
              <a:gd name="connsiteX7" fmla="*/ 10732169 w 13485059"/>
              <a:gd name="connsiteY7" fmla="*/ 6611 h 3724555"/>
              <a:gd name="connsiteX8" fmla="*/ 11542181 w 13485059"/>
              <a:gd name="connsiteY8" fmla="*/ 1438370 h 3724555"/>
              <a:gd name="connsiteX9" fmla="*/ 9432758 w 13485059"/>
              <a:gd name="connsiteY9" fmla="*/ 1354149 h 3724555"/>
              <a:gd name="connsiteX10" fmla="*/ 7050507 w 13485059"/>
              <a:gd name="connsiteY10" fmla="*/ 3243108 h 3724555"/>
              <a:gd name="connsiteX11" fmla="*/ 9468853 w 13485059"/>
              <a:gd name="connsiteY11" fmla="*/ 2870128 h 3724555"/>
              <a:gd name="connsiteX12" fmla="*/ 11165306 w 13485059"/>
              <a:gd name="connsiteY12" fmla="*/ 3724370 h 3724555"/>
              <a:gd name="connsiteX13" fmla="*/ 12031911 w 13485059"/>
              <a:gd name="connsiteY13" fmla="*/ 2785907 h 3724555"/>
              <a:gd name="connsiteX14" fmla="*/ 13480355 w 13485059"/>
              <a:gd name="connsiteY14" fmla="*/ 3122791 h 3724555"/>
              <a:gd name="connsiteX0" fmla="*/ 0 w 13485059"/>
              <a:gd name="connsiteY0" fmla="*/ 1426339 h 3724587"/>
              <a:gd name="connsiteX1" fmla="*/ 1888959 w 13485059"/>
              <a:gd name="connsiteY1" fmla="*/ 126928 h 3724587"/>
              <a:gd name="connsiteX2" fmla="*/ 2947738 w 13485059"/>
              <a:gd name="connsiteY2" fmla="*/ 1330086 h 3724587"/>
              <a:gd name="connsiteX3" fmla="*/ 998622 w 13485059"/>
              <a:gd name="connsiteY3" fmla="*/ 2954349 h 3724587"/>
              <a:gd name="connsiteX4" fmla="*/ 3573380 w 13485059"/>
              <a:gd name="connsiteY4" fmla="*/ 3375454 h 3724587"/>
              <a:gd name="connsiteX5" fmla="*/ 4957011 w 13485059"/>
              <a:gd name="connsiteY5" fmla="*/ 102864 h 3724587"/>
              <a:gd name="connsiteX6" fmla="*/ 7688180 w 13485059"/>
              <a:gd name="connsiteY6" fmla="*/ 872886 h 3724587"/>
              <a:gd name="connsiteX7" fmla="*/ 10732169 w 13485059"/>
              <a:gd name="connsiteY7" fmla="*/ 6611 h 3724587"/>
              <a:gd name="connsiteX8" fmla="*/ 11542181 w 13485059"/>
              <a:gd name="connsiteY8" fmla="*/ 1438370 h 3724587"/>
              <a:gd name="connsiteX9" fmla="*/ 9432758 w 13485059"/>
              <a:gd name="connsiteY9" fmla="*/ 1354149 h 3724587"/>
              <a:gd name="connsiteX10" fmla="*/ 8579941 w 13485059"/>
              <a:gd name="connsiteY10" fmla="*/ 2533245 h 3724587"/>
              <a:gd name="connsiteX11" fmla="*/ 9468853 w 13485059"/>
              <a:gd name="connsiteY11" fmla="*/ 2870128 h 3724587"/>
              <a:gd name="connsiteX12" fmla="*/ 11165306 w 13485059"/>
              <a:gd name="connsiteY12" fmla="*/ 3724370 h 3724587"/>
              <a:gd name="connsiteX13" fmla="*/ 12031911 w 13485059"/>
              <a:gd name="connsiteY13" fmla="*/ 2785907 h 3724587"/>
              <a:gd name="connsiteX14" fmla="*/ 13480355 w 13485059"/>
              <a:gd name="connsiteY14" fmla="*/ 3122791 h 3724587"/>
              <a:gd name="connsiteX0" fmla="*/ 0 w 13485059"/>
              <a:gd name="connsiteY0" fmla="*/ 1426339 h 3735599"/>
              <a:gd name="connsiteX1" fmla="*/ 1888959 w 13485059"/>
              <a:gd name="connsiteY1" fmla="*/ 126928 h 3735599"/>
              <a:gd name="connsiteX2" fmla="*/ 2947738 w 13485059"/>
              <a:gd name="connsiteY2" fmla="*/ 1330086 h 3735599"/>
              <a:gd name="connsiteX3" fmla="*/ 998622 w 13485059"/>
              <a:gd name="connsiteY3" fmla="*/ 2954349 h 3735599"/>
              <a:gd name="connsiteX4" fmla="*/ 3573380 w 13485059"/>
              <a:gd name="connsiteY4" fmla="*/ 3375454 h 3735599"/>
              <a:gd name="connsiteX5" fmla="*/ 4957011 w 13485059"/>
              <a:gd name="connsiteY5" fmla="*/ 102864 h 3735599"/>
              <a:gd name="connsiteX6" fmla="*/ 7688180 w 13485059"/>
              <a:gd name="connsiteY6" fmla="*/ 872886 h 3735599"/>
              <a:gd name="connsiteX7" fmla="*/ 10732169 w 13485059"/>
              <a:gd name="connsiteY7" fmla="*/ 6611 h 3735599"/>
              <a:gd name="connsiteX8" fmla="*/ 11542181 w 13485059"/>
              <a:gd name="connsiteY8" fmla="*/ 1438370 h 3735599"/>
              <a:gd name="connsiteX9" fmla="*/ 9432758 w 13485059"/>
              <a:gd name="connsiteY9" fmla="*/ 1354149 h 3735599"/>
              <a:gd name="connsiteX10" fmla="*/ 8579941 w 13485059"/>
              <a:gd name="connsiteY10" fmla="*/ 2533245 h 3735599"/>
              <a:gd name="connsiteX11" fmla="*/ 9755622 w 13485059"/>
              <a:gd name="connsiteY11" fmla="*/ 3255138 h 3735599"/>
              <a:gd name="connsiteX12" fmla="*/ 11165306 w 13485059"/>
              <a:gd name="connsiteY12" fmla="*/ 3724370 h 3735599"/>
              <a:gd name="connsiteX13" fmla="*/ 12031911 w 13485059"/>
              <a:gd name="connsiteY13" fmla="*/ 2785907 h 3735599"/>
              <a:gd name="connsiteX14" fmla="*/ 13480355 w 13485059"/>
              <a:gd name="connsiteY14" fmla="*/ 3122791 h 3735599"/>
              <a:gd name="connsiteX0" fmla="*/ 0 w 13485059"/>
              <a:gd name="connsiteY0" fmla="*/ 1426339 h 3724370"/>
              <a:gd name="connsiteX1" fmla="*/ 1888959 w 13485059"/>
              <a:gd name="connsiteY1" fmla="*/ 126928 h 3724370"/>
              <a:gd name="connsiteX2" fmla="*/ 2947738 w 13485059"/>
              <a:gd name="connsiteY2" fmla="*/ 1330086 h 3724370"/>
              <a:gd name="connsiteX3" fmla="*/ 998622 w 13485059"/>
              <a:gd name="connsiteY3" fmla="*/ 2954349 h 3724370"/>
              <a:gd name="connsiteX4" fmla="*/ 3573380 w 13485059"/>
              <a:gd name="connsiteY4" fmla="*/ 3375454 h 3724370"/>
              <a:gd name="connsiteX5" fmla="*/ 4957011 w 13485059"/>
              <a:gd name="connsiteY5" fmla="*/ 102864 h 3724370"/>
              <a:gd name="connsiteX6" fmla="*/ 7688180 w 13485059"/>
              <a:gd name="connsiteY6" fmla="*/ 872886 h 3724370"/>
              <a:gd name="connsiteX7" fmla="*/ 10732169 w 13485059"/>
              <a:gd name="connsiteY7" fmla="*/ 6611 h 3724370"/>
              <a:gd name="connsiteX8" fmla="*/ 11542181 w 13485059"/>
              <a:gd name="connsiteY8" fmla="*/ 1438370 h 3724370"/>
              <a:gd name="connsiteX9" fmla="*/ 9432758 w 13485059"/>
              <a:gd name="connsiteY9" fmla="*/ 1354149 h 3724370"/>
              <a:gd name="connsiteX10" fmla="*/ 8579941 w 13485059"/>
              <a:gd name="connsiteY10" fmla="*/ 2533245 h 3724370"/>
              <a:gd name="connsiteX11" fmla="*/ 11165306 w 13485059"/>
              <a:gd name="connsiteY11" fmla="*/ 3724370 h 3724370"/>
              <a:gd name="connsiteX12" fmla="*/ 12031911 w 13485059"/>
              <a:gd name="connsiteY12" fmla="*/ 2785907 h 3724370"/>
              <a:gd name="connsiteX13" fmla="*/ 13480355 w 13485059"/>
              <a:gd name="connsiteY13" fmla="*/ 3122791 h 3724370"/>
              <a:gd name="connsiteX0" fmla="*/ 0 w 13485152"/>
              <a:gd name="connsiteY0" fmla="*/ 1426339 h 3698420"/>
              <a:gd name="connsiteX1" fmla="*/ 1888959 w 13485152"/>
              <a:gd name="connsiteY1" fmla="*/ 126928 h 3698420"/>
              <a:gd name="connsiteX2" fmla="*/ 2947738 w 13485152"/>
              <a:gd name="connsiteY2" fmla="*/ 1330086 h 3698420"/>
              <a:gd name="connsiteX3" fmla="*/ 998622 w 13485152"/>
              <a:gd name="connsiteY3" fmla="*/ 2954349 h 3698420"/>
              <a:gd name="connsiteX4" fmla="*/ 3573380 w 13485152"/>
              <a:gd name="connsiteY4" fmla="*/ 3375454 h 3698420"/>
              <a:gd name="connsiteX5" fmla="*/ 4957011 w 13485152"/>
              <a:gd name="connsiteY5" fmla="*/ 102864 h 3698420"/>
              <a:gd name="connsiteX6" fmla="*/ 7688180 w 13485152"/>
              <a:gd name="connsiteY6" fmla="*/ 872886 h 3698420"/>
              <a:gd name="connsiteX7" fmla="*/ 10732169 w 13485152"/>
              <a:gd name="connsiteY7" fmla="*/ 6611 h 3698420"/>
              <a:gd name="connsiteX8" fmla="*/ 11542181 w 13485152"/>
              <a:gd name="connsiteY8" fmla="*/ 1438370 h 3698420"/>
              <a:gd name="connsiteX9" fmla="*/ 9432758 w 13485152"/>
              <a:gd name="connsiteY9" fmla="*/ 1354149 h 3698420"/>
              <a:gd name="connsiteX10" fmla="*/ 8579941 w 13485152"/>
              <a:gd name="connsiteY10" fmla="*/ 2533245 h 3698420"/>
              <a:gd name="connsiteX11" fmla="*/ 11021921 w 13485152"/>
              <a:gd name="connsiteY11" fmla="*/ 2858097 h 3698420"/>
              <a:gd name="connsiteX12" fmla="*/ 12031911 w 13485152"/>
              <a:gd name="connsiteY12" fmla="*/ 2785907 h 3698420"/>
              <a:gd name="connsiteX13" fmla="*/ 13480355 w 13485152"/>
              <a:gd name="connsiteY13" fmla="*/ 3122791 h 3698420"/>
              <a:gd name="connsiteX0" fmla="*/ 0 w 13485152"/>
              <a:gd name="connsiteY0" fmla="*/ 1426339 h 3698420"/>
              <a:gd name="connsiteX1" fmla="*/ 1888959 w 13485152"/>
              <a:gd name="connsiteY1" fmla="*/ 126928 h 3698420"/>
              <a:gd name="connsiteX2" fmla="*/ 2947738 w 13485152"/>
              <a:gd name="connsiteY2" fmla="*/ 1330086 h 3698420"/>
              <a:gd name="connsiteX3" fmla="*/ 998622 w 13485152"/>
              <a:gd name="connsiteY3" fmla="*/ 2954349 h 3698420"/>
              <a:gd name="connsiteX4" fmla="*/ 3573380 w 13485152"/>
              <a:gd name="connsiteY4" fmla="*/ 3375454 h 3698420"/>
              <a:gd name="connsiteX5" fmla="*/ 4957011 w 13485152"/>
              <a:gd name="connsiteY5" fmla="*/ 102864 h 3698420"/>
              <a:gd name="connsiteX6" fmla="*/ 7688180 w 13485152"/>
              <a:gd name="connsiteY6" fmla="*/ 872886 h 3698420"/>
              <a:gd name="connsiteX7" fmla="*/ 10732169 w 13485152"/>
              <a:gd name="connsiteY7" fmla="*/ 6611 h 3698420"/>
              <a:gd name="connsiteX8" fmla="*/ 11542181 w 13485152"/>
              <a:gd name="connsiteY8" fmla="*/ 1438370 h 3698420"/>
              <a:gd name="connsiteX9" fmla="*/ 9432758 w 13485152"/>
              <a:gd name="connsiteY9" fmla="*/ 1354149 h 3698420"/>
              <a:gd name="connsiteX10" fmla="*/ 8305122 w 13485152"/>
              <a:gd name="connsiteY10" fmla="*/ 2834034 h 3698420"/>
              <a:gd name="connsiteX11" fmla="*/ 11021921 w 13485152"/>
              <a:gd name="connsiteY11" fmla="*/ 2858097 h 3698420"/>
              <a:gd name="connsiteX12" fmla="*/ 12031911 w 13485152"/>
              <a:gd name="connsiteY12" fmla="*/ 2785907 h 3698420"/>
              <a:gd name="connsiteX13" fmla="*/ 13480355 w 13485152"/>
              <a:gd name="connsiteY13" fmla="*/ 3122791 h 3698420"/>
              <a:gd name="connsiteX0" fmla="*/ 0 w 13485152"/>
              <a:gd name="connsiteY0" fmla="*/ 1419976 h 3692057"/>
              <a:gd name="connsiteX1" fmla="*/ 1888959 w 13485152"/>
              <a:gd name="connsiteY1" fmla="*/ 120565 h 3692057"/>
              <a:gd name="connsiteX2" fmla="*/ 2947738 w 13485152"/>
              <a:gd name="connsiteY2" fmla="*/ 1323723 h 3692057"/>
              <a:gd name="connsiteX3" fmla="*/ 998622 w 13485152"/>
              <a:gd name="connsiteY3" fmla="*/ 2947986 h 3692057"/>
              <a:gd name="connsiteX4" fmla="*/ 3573380 w 13485152"/>
              <a:gd name="connsiteY4" fmla="*/ 3369091 h 3692057"/>
              <a:gd name="connsiteX5" fmla="*/ 4957011 w 13485152"/>
              <a:gd name="connsiteY5" fmla="*/ 96501 h 3692057"/>
              <a:gd name="connsiteX6" fmla="*/ 7544797 w 13485152"/>
              <a:gd name="connsiteY6" fmla="*/ 1540292 h 3692057"/>
              <a:gd name="connsiteX7" fmla="*/ 10732169 w 13485152"/>
              <a:gd name="connsiteY7" fmla="*/ 248 h 3692057"/>
              <a:gd name="connsiteX8" fmla="*/ 11542181 w 13485152"/>
              <a:gd name="connsiteY8" fmla="*/ 1432007 h 3692057"/>
              <a:gd name="connsiteX9" fmla="*/ 9432758 w 13485152"/>
              <a:gd name="connsiteY9" fmla="*/ 1347786 h 3692057"/>
              <a:gd name="connsiteX10" fmla="*/ 8305122 w 13485152"/>
              <a:gd name="connsiteY10" fmla="*/ 2827671 h 3692057"/>
              <a:gd name="connsiteX11" fmla="*/ 11021921 w 13485152"/>
              <a:gd name="connsiteY11" fmla="*/ 2851734 h 3692057"/>
              <a:gd name="connsiteX12" fmla="*/ 12031911 w 13485152"/>
              <a:gd name="connsiteY12" fmla="*/ 2779544 h 3692057"/>
              <a:gd name="connsiteX13" fmla="*/ 13480355 w 13485152"/>
              <a:gd name="connsiteY13" fmla="*/ 3116428 h 3692057"/>
              <a:gd name="connsiteX0" fmla="*/ 0 w 13485152"/>
              <a:gd name="connsiteY0" fmla="*/ 1419976 h 3604285"/>
              <a:gd name="connsiteX1" fmla="*/ 1888959 w 13485152"/>
              <a:gd name="connsiteY1" fmla="*/ 120565 h 3604285"/>
              <a:gd name="connsiteX2" fmla="*/ 2947738 w 13485152"/>
              <a:gd name="connsiteY2" fmla="*/ 1323723 h 3604285"/>
              <a:gd name="connsiteX3" fmla="*/ 998622 w 13485152"/>
              <a:gd name="connsiteY3" fmla="*/ 2947986 h 3604285"/>
              <a:gd name="connsiteX4" fmla="*/ 3573380 w 13485152"/>
              <a:gd name="connsiteY4" fmla="*/ 3369091 h 3604285"/>
              <a:gd name="connsiteX5" fmla="*/ 5255729 w 13485152"/>
              <a:gd name="connsiteY5" fmla="*/ 1371849 h 3604285"/>
              <a:gd name="connsiteX6" fmla="*/ 7544797 w 13485152"/>
              <a:gd name="connsiteY6" fmla="*/ 1540292 h 3604285"/>
              <a:gd name="connsiteX7" fmla="*/ 10732169 w 13485152"/>
              <a:gd name="connsiteY7" fmla="*/ 248 h 3604285"/>
              <a:gd name="connsiteX8" fmla="*/ 11542181 w 13485152"/>
              <a:gd name="connsiteY8" fmla="*/ 1432007 h 3604285"/>
              <a:gd name="connsiteX9" fmla="*/ 9432758 w 13485152"/>
              <a:gd name="connsiteY9" fmla="*/ 1347786 h 3604285"/>
              <a:gd name="connsiteX10" fmla="*/ 8305122 w 13485152"/>
              <a:gd name="connsiteY10" fmla="*/ 2827671 h 3604285"/>
              <a:gd name="connsiteX11" fmla="*/ 11021921 w 13485152"/>
              <a:gd name="connsiteY11" fmla="*/ 2851734 h 3604285"/>
              <a:gd name="connsiteX12" fmla="*/ 12031911 w 13485152"/>
              <a:gd name="connsiteY12" fmla="*/ 2779544 h 3604285"/>
              <a:gd name="connsiteX13" fmla="*/ 13480355 w 13485152"/>
              <a:gd name="connsiteY13" fmla="*/ 3116428 h 3604285"/>
              <a:gd name="connsiteX0" fmla="*/ 0 w 13485152"/>
              <a:gd name="connsiteY0" fmla="*/ 1299799 h 3484108"/>
              <a:gd name="connsiteX1" fmla="*/ 1888959 w 13485152"/>
              <a:gd name="connsiteY1" fmla="*/ 388 h 3484108"/>
              <a:gd name="connsiteX2" fmla="*/ 2947738 w 13485152"/>
              <a:gd name="connsiteY2" fmla="*/ 1203546 h 3484108"/>
              <a:gd name="connsiteX3" fmla="*/ 998622 w 13485152"/>
              <a:gd name="connsiteY3" fmla="*/ 2827809 h 3484108"/>
              <a:gd name="connsiteX4" fmla="*/ 3573380 w 13485152"/>
              <a:gd name="connsiteY4" fmla="*/ 3248914 h 3484108"/>
              <a:gd name="connsiteX5" fmla="*/ 5255729 w 13485152"/>
              <a:gd name="connsiteY5" fmla="*/ 1251672 h 3484108"/>
              <a:gd name="connsiteX6" fmla="*/ 7544797 w 13485152"/>
              <a:gd name="connsiteY6" fmla="*/ 1420115 h 3484108"/>
              <a:gd name="connsiteX7" fmla="*/ 10325913 w 13485152"/>
              <a:gd name="connsiteY7" fmla="*/ 806503 h 3484108"/>
              <a:gd name="connsiteX8" fmla="*/ 11542181 w 13485152"/>
              <a:gd name="connsiteY8" fmla="*/ 1311830 h 3484108"/>
              <a:gd name="connsiteX9" fmla="*/ 9432758 w 13485152"/>
              <a:gd name="connsiteY9" fmla="*/ 1227609 h 3484108"/>
              <a:gd name="connsiteX10" fmla="*/ 8305122 w 13485152"/>
              <a:gd name="connsiteY10" fmla="*/ 2707494 h 3484108"/>
              <a:gd name="connsiteX11" fmla="*/ 11021921 w 13485152"/>
              <a:gd name="connsiteY11" fmla="*/ 2731557 h 3484108"/>
              <a:gd name="connsiteX12" fmla="*/ 12031911 w 13485152"/>
              <a:gd name="connsiteY12" fmla="*/ 2659367 h 3484108"/>
              <a:gd name="connsiteX13" fmla="*/ 13480355 w 13485152"/>
              <a:gd name="connsiteY13" fmla="*/ 2996251 h 3484108"/>
              <a:gd name="connsiteX0" fmla="*/ 0 w 13485152"/>
              <a:gd name="connsiteY0" fmla="*/ 1299799 h 3484108"/>
              <a:gd name="connsiteX1" fmla="*/ 1888959 w 13485152"/>
              <a:gd name="connsiteY1" fmla="*/ 388 h 3484108"/>
              <a:gd name="connsiteX2" fmla="*/ 2947738 w 13485152"/>
              <a:gd name="connsiteY2" fmla="*/ 1203546 h 3484108"/>
              <a:gd name="connsiteX3" fmla="*/ 998622 w 13485152"/>
              <a:gd name="connsiteY3" fmla="*/ 2827809 h 3484108"/>
              <a:gd name="connsiteX4" fmla="*/ 3573380 w 13485152"/>
              <a:gd name="connsiteY4" fmla="*/ 3248914 h 3484108"/>
              <a:gd name="connsiteX5" fmla="*/ 5255729 w 13485152"/>
              <a:gd name="connsiteY5" fmla="*/ 1251672 h 3484108"/>
              <a:gd name="connsiteX6" fmla="*/ 7544797 w 13485152"/>
              <a:gd name="connsiteY6" fmla="*/ 1420115 h 3484108"/>
              <a:gd name="connsiteX7" fmla="*/ 10325913 w 13485152"/>
              <a:gd name="connsiteY7" fmla="*/ 806503 h 3484108"/>
              <a:gd name="connsiteX8" fmla="*/ 11542181 w 13485152"/>
              <a:gd name="connsiteY8" fmla="*/ 1311830 h 3484108"/>
              <a:gd name="connsiteX9" fmla="*/ 8918964 w 13485152"/>
              <a:gd name="connsiteY9" fmla="*/ 2009662 h 3484108"/>
              <a:gd name="connsiteX10" fmla="*/ 8305122 w 13485152"/>
              <a:gd name="connsiteY10" fmla="*/ 2707494 h 3484108"/>
              <a:gd name="connsiteX11" fmla="*/ 11021921 w 13485152"/>
              <a:gd name="connsiteY11" fmla="*/ 2731557 h 3484108"/>
              <a:gd name="connsiteX12" fmla="*/ 12031911 w 13485152"/>
              <a:gd name="connsiteY12" fmla="*/ 2659367 h 3484108"/>
              <a:gd name="connsiteX13" fmla="*/ 13480355 w 13485152"/>
              <a:gd name="connsiteY13" fmla="*/ 2996251 h 3484108"/>
              <a:gd name="connsiteX0" fmla="*/ 0 w 13485152"/>
              <a:gd name="connsiteY0" fmla="*/ 1299799 h 3484108"/>
              <a:gd name="connsiteX1" fmla="*/ 1888959 w 13485152"/>
              <a:gd name="connsiteY1" fmla="*/ 388 h 3484108"/>
              <a:gd name="connsiteX2" fmla="*/ 2947738 w 13485152"/>
              <a:gd name="connsiteY2" fmla="*/ 1203546 h 3484108"/>
              <a:gd name="connsiteX3" fmla="*/ 998622 w 13485152"/>
              <a:gd name="connsiteY3" fmla="*/ 2827809 h 3484108"/>
              <a:gd name="connsiteX4" fmla="*/ 3573380 w 13485152"/>
              <a:gd name="connsiteY4" fmla="*/ 3248914 h 3484108"/>
              <a:gd name="connsiteX5" fmla="*/ 5255729 w 13485152"/>
              <a:gd name="connsiteY5" fmla="*/ 1251672 h 3484108"/>
              <a:gd name="connsiteX6" fmla="*/ 7544797 w 13485152"/>
              <a:gd name="connsiteY6" fmla="*/ 1420115 h 3484108"/>
              <a:gd name="connsiteX7" fmla="*/ 10325913 w 13485152"/>
              <a:gd name="connsiteY7" fmla="*/ 806503 h 3484108"/>
              <a:gd name="connsiteX8" fmla="*/ 11542181 w 13485152"/>
              <a:gd name="connsiteY8" fmla="*/ 1311830 h 3484108"/>
              <a:gd name="connsiteX9" fmla="*/ 8918964 w 13485152"/>
              <a:gd name="connsiteY9" fmla="*/ 2009662 h 3484108"/>
              <a:gd name="connsiteX10" fmla="*/ 9153481 w 13485152"/>
              <a:gd name="connsiteY10" fmla="*/ 3309073 h 3484108"/>
              <a:gd name="connsiteX11" fmla="*/ 11021921 w 13485152"/>
              <a:gd name="connsiteY11" fmla="*/ 2731557 h 3484108"/>
              <a:gd name="connsiteX12" fmla="*/ 12031911 w 13485152"/>
              <a:gd name="connsiteY12" fmla="*/ 2659367 h 3484108"/>
              <a:gd name="connsiteX13" fmla="*/ 13480355 w 13485152"/>
              <a:gd name="connsiteY13" fmla="*/ 2996251 h 3484108"/>
              <a:gd name="connsiteX0" fmla="*/ 0 w 13485152"/>
              <a:gd name="connsiteY0" fmla="*/ 1299799 h 3484108"/>
              <a:gd name="connsiteX1" fmla="*/ 1888959 w 13485152"/>
              <a:gd name="connsiteY1" fmla="*/ 388 h 3484108"/>
              <a:gd name="connsiteX2" fmla="*/ 2947738 w 13485152"/>
              <a:gd name="connsiteY2" fmla="*/ 1203546 h 3484108"/>
              <a:gd name="connsiteX3" fmla="*/ 998622 w 13485152"/>
              <a:gd name="connsiteY3" fmla="*/ 2827809 h 3484108"/>
              <a:gd name="connsiteX4" fmla="*/ 3573380 w 13485152"/>
              <a:gd name="connsiteY4" fmla="*/ 3248914 h 3484108"/>
              <a:gd name="connsiteX5" fmla="*/ 5255729 w 13485152"/>
              <a:gd name="connsiteY5" fmla="*/ 1251672 h 3484108"/>
              <a:gd name="connsiteX6" fmla="*/ 7544797 w 13485152"/>
              <a:gd name="connsiteY6" fmla="*/ 1420115 h 3484108"/>
              <a:gd name="connsiteX7" fmla="*/ 10325913 w 13485152"/>
              <a:gd name="connsiteY7" fmla="*/ 806503 h 3484108"/>
              <a:gd name="connsiteX8" fmla="*/ 11542181 w 13485152"/>
              <a:gd name="connsiteY8" fmla="*/ 1311830 h 3484108"/>
              <a:gd name="connsiteX9" fmla="*/ 8918964 w 13485152"/>
              <a:gd name="connsiteY9" fmla="*/ 2009662 h 3484108"/>
              <a:gd name="connsiteX10" fmla="*/ 8567994 w 13485152"/>
              <a:gd name="connsiteY10" fmla="*/ 3164694 h 3484108"/>
              <a:gd name="connsiteX11" fmla="*/ 11021921 w 13485152"/>
              <a:gd name="connsiteY11" fmla="*/ 2731557 h 3484108"/>
              <a:gd name="connsiteX12" fmla="*/ 12031911 w 13485152"/>
              <a:gd name="connsiteY12" fmla="*/ 2659367 h 3484108"/>
              <a:gd name="connsiteX13" fmla="*/ 13480355 w 13485152"/>
              <a:gd name="connsiteY13" fmla="*/ 2996251 h 3484108"/>
              <a:gd name="connsiteX0" fmla="*/ 0 w 13485168"/>
              <a:gd name="connsiteY0" fmla="*/ 1299799 h 3484108"/>
              <a:gd name="connsiteX1" fmla="*/ 1888959 w 13485168"/>
              <a:gd name="connsiteY1" fmla="*/ 388 h 3484108"/>
              <a:gd name="connsiteX2" fmla="*/ 2947738 w 13485168"/>
              <a:gd name="connsiteY2" fmla="*/ 1203546 h 3484108"/>
              <a:gd name="connsiteX3" fmla="*/ 998622 w 13485168"/>
              <a:gd name="connsiteY3" fmla="*/ 2827809 h 3484108"/>
              <a:gd name="connsiteX4" fmla="*/ 3573380 w 13485168"/>
              <a:gd name="connsiteY4" fmla="*/ 3248914 h 3484108"/>
              <a:gd name="connsiteX5" fmla="*/ 5255729 w 13485168"/>
              <a:gd name="connsiteY5" fmla="*/ 1251672 h 3484108"/>
              <a:gd name="connsiteX6" fmla="*/ 7544797 w 13485168"/>
              <a:gd name="connsiteY6" fmla="*/ 1420115 h 3484108"/>
              <a:gd name="connsiteX7" fmla="*/ 10325913 w 13485168"/>
              <a:gd name="connsiteY7" fmla="*/ 806503 h 3484108"/>
              <a:gd name="connsiteX8" fmla="*/ 11542181 w 13485168"/>
              <a:gd name="connsiteY8" fmla="*/ 1311830 h 3484108"/>
              <a:gd name="connsiteX9" fmla="*/ 8918964 w 13485168"/>
              <a:gd name="connsiteY9" fmla="*/ 2009662 h 3484108"/>
              <a:gd name="connsiteX10" fmla="*/ 8567994 w 13485168"/>
              <a:gd name="connsiteY10" fmla="*/ 3164694 h 3484108"/>
              <a:gd name="connsiteX11" fmla="*/ 10998024 w 13485168"/>
              <a:gd name="connsiteY11" fmla="*/ 2960157 h 3484108"/>
              <a:gd name="connsiteX12" fmla="*/ 12031911 w 13485168"/>
              <a:gd name="connsiteY12" fmla="*/ 2659367 h 3484108"/>
              <a:gd name="connsiteX13" fmla="*/ 13480355 w 13485168"/>
              <a:gd name="connsiteY13" fmla="*/ 2996251 h 3484108"/>
              <a:gd name="connsiteX0" fmla="*/ 0 w 13480355"/>
              <a:gd name="connsiteY0" fmla="*/ 1299799 h 3484108"/>
              <a:gd name="connsiteX1" fmla="*/ 1888959 w 13480355"/>
              <a:gd name="connsiteY1" fmla="*/ 388 h 3484108"/>
              <a:gd name="connsiteX2" fmla="*/ 2947738 w 13480355"/>
              <a:gd name="connsiteY2" fmla="*/ 1203546 h 3484108"/>
              <a:gd name="connsiteX3" fmla="*/ 998622 w 13480355"/>
              <a:gd name="connsiteY3" fmla="*/ 2827809 h 3484108"/>
              <a:gd name="connsiteX4" fmla="*/ 3573380 w 13480355"/>
              <a:gd name="connsiteY4" fmla="*/ 3248914 h 3484108"/>
              <a:gd name="connsiteX5" fmla="*/ 5255729 w 13480355"/>
              <a:gd name="connsiteY5" fmla="*/ 1251672 h 3484108"/>
              <a:gd name="connsiteX6" fmla="*/ 7544797 w 13480355"/>
              <a:gd name="connsiteY6" fmla="*/ 1420115 h 3484108"/>
              <a:gd name="connsiteX7" fmla="*/ 10325913 w 13480355"/>
              <a:gd name="connsiteY7" fmla="*/ 806503 h 3484108"/>
              <a:gd name="connsiteX8" fmla="*/ 11542181 w 13480355"/>
              <a:gd name="connsiteY8" fmla="*/ 1311830 h 3484108"/>
              <a:gd name="connsiteX9" fmla="*/ 8918964 w 13480355"/>
              <a:gd name="connsiteY9" fmla="*/ 2009662 h 3484108"/>
              <a:gd name="connsiteX10" fmla="*/ 8567994 w 13480355"/>
              <a:gd name="connsiteY10" fmla="*/ 3164694 h 3484108"/>
              <a:gd name="connsiteX11" fmla="*/ 10998024 w 13480355"/>
              <a:gd name="connsiteY11" fmla="*/ 2960157 h 3484108"/>
              <a:gd name="connsiteX12" fmla="*/ 13480355 w 13480355"/>
              <a:gd name="connsiteY12" fmla="*/ 2996251 h 3484108"/>
              <a:gd name="connsiteX0" fmla="*/ 0 w 11584575"/>
              <a:gd name="connsiteY0" fmla="*/ 1299799 h 3484108"/>
              <a:gd name="connsiteX1" fmla="*/ 1888959 w 11584575"/>
              <a:gd name="connsiteY1" fmla="*/ 388 h 3484108"/>
              <a:gd name="connsiteX2" fmla="*/ 2947738 w 11584575"/>
              <a:gd name="connsiteY2" fmla="*/ 1203546 h 3484108"/>
              <a:gd name="connsiteX3" fmla="*/ 998622 w 11584575"/>
              <a:gd name="connsiteY3" fmla="*/ 2827809 h 3484108"/>
              <a:gd name="connsiteX4" fmla="*/ 3573380 w 11584575"/>
              <a:gd name="connsiteY4" fmla="*/ 3248914 h 3484108"/>
              <a:gd name="connsiteX5" fmla="*/ 5255729 w 11584575"/>
              <a:gd name="connsiteY5" fmla="*/ 1251672 h 3484108"/>
              <a:gd name="connsiteX6" fmla="*/ 7544797 w 11584575"/>
              <a:gd name="connsiteY6" fmla="*/ 1420115 h 3484108"/>
              <a:gd name="connsiteX7" fmla="*/ 10325913 w 11584575"/>
              <a:gd name="connsiteY7" fmla="*/ 806503 h 3484108"/>
              <a:gd name="connsiteX8" fmla="*/ 11542181 w 11584575"/>
              <a:gd name="connsiteY8" fmla="*/ 1311830 h 3484108"/>
              <a:gd name="connsiteX9" fmla="*/ 8918964 w 11584575"/>
              <a:gd name="connsiteY9" fmla="*/ 2009662 h 3484108"/>
              <a:gd name="connsiteX10" fmla="*/ 8567994 w 11584575"/>
              <a:gd name="connsiteY10" fmla="*/ 3164694 h 3484108"/>
              <a:gd name="connsiteX11" fmla="*/ 10998024 w 11584575"/>
              <a:gd name="connsiteY11" fmla="*/ 2960157 h 3484108"/>
              <a:gd name="connsiteX0" fmla="*/ 0 w 13053199"/>
              <a:gd name="connsiteY0" fmla="*/ 1299799 h 3484108"/>
              <a:gd name="connsiteX1" fmla="*/ 1888959 w 13053199"/>
              <a:gd name="connsiteY1" fmla="*/ 388 h 3484108"/>
              <a:gd name="connsiteX2" fmla="*/ 2947738 w 13053199"/>
              <a:gd name="connsiteY2" fmla="*/ 1203546 h 3484108"/>
              <a:gd name="connsiteX3" fmla="*/ 998622 w 13053199"/>
              <a:gd name="connsiteY3" fmla="*/ 2827809 h 3484108"/>
              <a:gd name="connsiteX4" fmla="*/ 3573380 w 13053199"/>
              <a:gd name="connsiteY4" fmla="*/ 3248914 h 3484108"/>
              <a:gd name="connsiteX5" fmla="*/ 5255729 w 13053199"/>
              <a:gd name="connsiteY5" fmla="*/ 1251672 h 3484108"/>
              <a:gd name="connsiteX6" fmla="*/ 7544797 w 13053199"/>
              <a:gd name="connsiteY6" fmla="*/ 1420115 h 3484108"/>
              <a:gd name="connsiteX7" fmla="*/ 10325913 w 13053199"/>
              <a:gd name="connsiteY7" fmla="*/ 806503 h 3484108"/>
              <a:gd name="connsiteX8" fmla="*/ 11542181 w 13053199"/>
              <a:gd name="connsiteY8" fmla="*/ 1311830 h 3484108"/>
              <a:gd name="connsiteX9" fmla="*/ 8918964 w 13053199"/>
              <a:gd name="connsiteY9" fmla="*/ 2009662 h 3484108"/>
              <a:gd name="connsiteX10" fmla="*/ 8567994 w 13053199"/>
              <a:gd name="connsiteY10" fmla="*/ 3164694 h 3484108"/>
              <a:gd name="connsiteX11" fmla="*/ 13053199 w 13053199"/>
              <a:gd name="connsiteY11" fmla="*/ 2129978 h 3484108"/>
              <a:gd name="connsiteX0" fmla="*/ 0 w 13053199"/>
              <a:gd name="connsiteY0" fmla="*/ 1299799 h 3484108"/>
              <a:gd name="connsiteX1" fmla="*/ 1888959 w 13053199"/>
              <a:gd name="connsiteY1" fmla="*/ 388 h 3484108"/>
              <a:gd name="connsiteX2" fmla="*/ 2947738 w 13053199"/>
              <a:gd name="connsiteY2" fmla="*/ 1203546 h 3484108"/>
              <a:gd name="connsiteX3" fmla="*/ 998622 w 13053199"/>
              <a:gd name="connsiteY3" fmla="*/ 2827809 h 3484108"/>
              <a:gd name="connsiteX4" fmla="*/ 3573380 w 13053199"/>
              <a:gd name="connsiteY4" fmla="*/ 3248914 h 3484108"/>
              <a:gd name="connsiteX5" fmla="*/ 5255729 w 13053199"/>
              <a:gd name="connsiteY5" fmla="*/ 1251672 h 3484108"/>
              <a:gd name="connsiteX6" fmla="*/ 7544797 w 13053199"/>
              <a:gd name="connsiteY6" fmla="*/ 1420115 h 3484108"/>
              <a:gd name="connsiteX7" fmla="*/ 9298324 w 13053199"/>
              <a:gd name="connsiteY7" fmla="*/ 589935 h 3484108"/>
              <a:gd name="connsiteX8" fmla="*/ 11542181 w 13053199"/>
              <a:gd name="connsiteY8" fmla="*/ 1311830 h 3484108"/>
              <a:gd name="connsiteX9" fmla="*/ 8918964 w 13053199"/>
              <a:gd name="connsiteY9" fmla="*/ 2009662 h 3484108"/>
              <a:gd name="connsiteX10" fmla="*/ 8567994 w 13053199"/>
              <a:gd name="connsiteY10" fmla="*/ 3164694 h 3484108"/>
              <a:gd name="connsiteX11" fmla="*/ 13053199 w 13053199"/>
              <a:gd name="connsiteY11" fmla="*/ 2129978 h 3484108"/>
              <a:gd name="connsiteX0" fmla="*/ 0 w 13053199"/>
              <a:gd name="connsiteY0" fmla="*/ 1299799 h 3484108"/>
              <a:gd name="connsiteX1" fmla="*/ 1888959 w 13053199"/>
              <a:gd name="connsiteY1" fmla="*/ 388 h 3484108"/>
              <a:gd name="connsiteX2" fmla="*/ 2947738 w 13053199"/>
              <a:gd name="connsiteY2" fmla="*/ 1203546 h 3484108"/>
              <a:gd name="connsiteX3" fmla="*/ 998622 w 13053199"/>
              <a:gd name="connsiteY3" fmla="*/ 2827809 h 3484108"/>
              <a:gd name="connsiteX4" fmla="*/ 3573380 w 13053199"/>
              <a:gd name="connsiteY4" fmla="*/ 3248914 h 3484108"/>
              <a:gd name="connsiteX5" fmla="*/ 5255729 w 13053199"/>
              <a:gd name="connsiteY5" fmla="*/ 1251672 h 3484108"/>
              <a:gd name="connsiteX6" fmla="*/ 7544797 w 13053199"/>
              <a:gd name="connsiteY6" fmla="*/ 1420115 h 3484108"/>
              <a:gd name="connsiteX7" fmla="*/ 9298324 w 13053199"/>
              <a:gd name="connsiteY7" fmla="*/ 589935 h 3484108"/>
              <a:gd name="connsiteX8" fmla="*/ 9905210 w 13053199"/>
              <a:gd name="connsiteY8" fmla="*/ 1648714 h 3484108"/>
              <a:gd name="connsiteX9" fmla="*/ 8918964 w 13053199"/>
              <a:gd name="connsiteY9" fmla="*/ 2009662 h 3484108"/>
              <a:gd name="connsiteX10" fmla="*/ 8567994 w 13053199"/>
              <a:gd name="connsiteY10" fmla="*/ 3164694 h 3484108"/>
              <a:gd name="connsiteX11" fmla="*/ 13053199 w 13053199"/>
              <a:gd name="connsiteY11" fmla="*/ 2129978 h 3484108"/>
              <a:gd name="connsiteX0" fmla="*/ 0 w 13053199"/>
              <a:gd name="connsiteY0" fmla="*/ 1299799 h 3484108"/>
              <a:gd name="connsiteX1" fmla="*/ 1888959 w 13053199"/>
              <a:gd name="connsiteY1" fmla="*/ 388 h 3484108"/>
              <a:gd name="connsiteX2" fmla="*/ 2947738 w 13053199"/>
              <a:gd name="connsiteY2" fmla="*/ 1203546 h 3484108"/>
              <a:gd name="connsiteX3" fmla="*/ 998622 w 13053199"/>
              <a:gd name="connsiteY3" fmla="*/ 2827809 h 3484108"/>
              <a:gd name="connsiteX4" fmla="*/ 3573380 w 13053199"/>
              <a:gd name="connsiteY4" fmla="*/ 3248914 h 3484108"/>
              <a:gd name="connsiteX5" fmla="*/ 5255729 w 13053199"/>
              <a:gd name="connsiteY5" fmla="*/ 1251672 h 3484108"/>
              <a:gd name="connsiteX6" fmla="*/ 7544797 w 13053199"/>
              <a:gd name="connsiteY6" fmla="*/ 1420115 h 3484108"/>
              <a:gd name="connsiteX7" fmla="*/ 9298324 w 13053199"/>
              <a:gd name="connsiteY7" fmla="*/ 589935 h 3484108"/>
              <a:gd name="connsiteX8" fmla="*/ 9905210 w 13053199"/>
              <a:gd name="connsiteY8" fmla="*/ 1648714 h 3484108"/>
              <a:gd name="connsiteX9" fmla="*/ 7867478 w 13053199"/>
              <a:gd name="connsiteY9" fmla="*/ 2767651 h 3484108"/>
              <a:gd name="connsiteX10" fmla="*/ 8567994 w 13053199"/>
              <a:gd name="connsiteY10" fmla="*/ 3164694 h 3484108"/>
              <a:gd name="connsiteX11" fmla="*/ 13053199 w 13053199"/>
              <a:gd name="connsiteY11" fmla="*/ 2129978 h 3484108"/>
              <a:gd name="connsiteX0" fmla="*/ 0 w 13053199"/>
              <a:gd name="connsiteY0" fmla="*/ 1299799 h 3522829"/>
              <a:gd name="connsiteX1" fmla="*/ 1888959 w 13053199"/>
              <a:gd name="connsiteY1" fmla="*/ 388 h 3522829"/>
              <a:gd name="connsiteX2" fmla="*/ 2947738 w 13053199"/>
              <a:gd name="connsiteY2" fmla="*/ 1203546 h 3522829"/>
              <a:gd name="connsiteX3" fmla="*/ 998622 w 13053199"/>
              <a:gd name="connsiteY3" fmla="*/ 2827809 h 3522829"/>
              <a:gd name="connsiteX4" fmla="*/ 3573380 w 13053199"/>
              <a:gd name="connsiteY4" fmla="*/ 3248914 h 3522829"/>
              <a:gd name="connsiteX5" fmla="*/ 5255729 w 13053199"/>
              <a:gd name="connsiteY5" fmla="*/ 1251672 h 3522829"/>
              <a:gd name="connsiteX6" fmla="*/ 7544797 w 13053199"/>
              <a:gd name="connsiteY6" fmla="*/ 1420115 h 3522829"/>
              <a:gd name="connsiteX7" fmla="*/ 9298324 w 13053199"/>
              <a:gd name="connsiteY7" fmla="*/ 589935 h 3522829"/>
              <a:gd name="connsiteX8" fmla="*/ 9905210 w 13053199"/>
              <a:gd name="connsiteY8" fmla="*/ 1648714 h 3522829"/>
              <a:gd name="connsiteX9" fmla="*/ 7867478 w 13053199"/>
              <a:gd name="connsiteY9" fmla="*/ 2767651 h 3522829"/>
              <a:gd name="connsiteX10" fmla="*/ 8567994 w 13053199"/>
              <a:gd name="connsiteY10" fmla="*/ 3164694 h 3522829"/>
              <a:gd name="connsiteX11" fmla="*/ 9523113 w 13053199"/>
              <a:gd name="connsiteY11" fmla="*/ 3477513 h 3522829"/>
              <a:gd name="connsiteX12" fmla="*/ 13053199 w 13053199"/>
              <a:gd name="connsiteY12" fmla="*/ 2129978 h 3522829"/>
              <a:gd name="connsiteX0" fmla="*/ 0 w 13053199"/>
              <a:gd name="connsiteY0" fmla="*/ 1299799 h 3491805"/>
              <a:gd name="connsiteX1" fmla="*/ 1888959 w 13053199"/>
              <a:gd name="connsiteY1" fmla="*/ 388 h 3491805"/>
              <a:gd name="connsiteX2" fmla="*/ 2947738 w 13053199"/>
              <a:gd name="connsiteY2" fmla="*/ 1203546 h 3491805"/>
              <a:gd name="connsiteX3" fmla="*/ 998622 w 13053199"/>
              <a:gd name="connsiteY3" fmla="*/ 2827809 h 3491805"/>
              <a:gd name="connsiteX4" fmla="*/ 3573380 w 13053199"/>
              <a:gd name="connsiteY4" fmla="*/ 3248914 h 3491805"/>
              <a:gd name="connsiteX5" fmla="*/ 5255729 w 13053199"/>
              <a:gd name="connsiteY5" fmla="*/ 1251672 h 3491805"/>
              <a:gd name="connsiteX6" fmla="*/ 7544797 w 13053199"/>
              <a:gd name="connsiteY6" fmla="*/ 1420115 h 3491805"/>
              <a:gd name="connsiteX7" fmla="*/ 9298324 w 13053199"/>
              <a:gd name="connsiteY7" fmla="*/ 589935 h 3491805"/>
              <a:gd name="connsiteX8" fmla="*/ 9905210 w 13053199"/>
              <a:gd name="connsiteY8" fmla="*/ 1648714 h 3491805"/>
              <a:gd name="connsiteX9" fmla="*/ 7867478 w 13053199"/>
              <a:gd name="connsiteY9" fmla="*/ 2767651 h 3491805"/>
              <a:gd name="connsiteX10" fmla="*/ 9523113 w 13053199"/>
              <a:gd name="connsiteY10" fmla="*/ 3477513 h 3491805"/>
              <a:gd name="connsiteX11" fmla="*/ 13053199 w 13053199"/>
              <a:gd name="connsiteY11" fmla="*/ 2129978 h 3491805"/>
              <a:gd name="connsiteX0" fmla="*/ 0 w 13053199"/>
              <a:gd name="connsiteY0" fmla="*/ 1299799 h 3525481"/>
              <a:gd name="connsiteX1" fmla="*/ 1888959 w 13053199"/>
              <a:gd name="connsiteY1" fmla="*/ 388 h 3525481"/>
              <a:gd name="connsiteX2" fmla="*/ 2947738 w 13053199"/>
              <a:gd name="connsiteY2" fmla="*/ 1203546 h 3525481"/>
              <a:gd name="connsiteX3" fmla="*/ 998622 w 13053199"/>
              <a:gd name="connsiteY3" fmla="*/ 2827809 h 3525481"/>
              <a:gd name="connsiteX4" fmla="*/ 3573380 w 13053199"/>
              <a:gd name="connsiteY4" fmla="*/ 3248914 h 3525481"/>
              <a:gd name="connsiteX5" fmla="*/ 5255729 w 13053199"/>
              <a:gd name="connsiteY5" fmla="*/ 1251672 h 3525481"/>
              <a:gd name="connsiteX6" fmla="*/ 7544797 w 13053199"/>
              <a:gd name="connsiteY6" fmla="*/ 1420115 h 3525481"/>
              <a:gd name="connsiteX7" fmla="*/ 9298324 w 13053199"/>
              <a:gd name="connsiteY7" fmla="*/ 589935 h 3525481"/>
              <a:gd name="connsiteX8" fmla="*/ 9905210 w 13053199"/>
              <a:gd name="connsiteY8" fmla="*/ 1648714 h 3525481"/>
              <a:gd name="connsiteX9" fmla="*/ 7867478 w 13053199"/>
              <a:gd name="connsiteY9" fmla="*/ 2767651 h 3525481"/>
              <a:gd name="connsiteX10" fmla="*/ 9523113 w 13053199"/>
              <a:gd name="connsiteY10" fmla="*/ 3477513 h 3525481"/>
              <a:gd name="connsiteX11" fmla="*/ 13053199 w 13053199"/>
              <a:gd name="connsiteY11" fmla="*/ 2129978 h 3525481"/>
              <a:gd name="connsiteX0" fmla="*/ 0 w 13053199"/>
              <a:gd name="connsiteY0" fmla="*/ 1299799 h 3525481"/>
              <a:gd name="connsiteX1" fmla="*/ 1888959 w 13053199"/>
              <a:gd name="connsiteY1" fmla="*/ 388 h 3525481"/>
              <a:gd name="connsiteX2" fmla="*/ 2947738 w 13053199"/>
              <a:gd name="connsiteY2" fmla="*/ 1203546 h 3525481"/>
              <a:gd name="connsiteX3" fmla="*/ 998622 w 13053199"/>
              <a:gd name="connsiteY3" fmla="*/ 2827809 h 3525481"/>
              <a:gd name="connsiteX4" fmla="*/ 3573380 w 13053199"/>
              <a:gd name="connsiteY4" fmla="*/ 3248914 h 3525481"/>
              <a:gd name="connsiteX5" fmla="*/ 5255729 w 13053199"/>
              <a:gd name="connsiteY5" fmla="*/ 1251672 h 3525481"/>
              <a:gd name="connsiteX6" fmla="*/ 7544797 w 13053199"/>
              <a:gd name="connsiteY6" fmla="*/ 1420115 h 3525481"/>
              <a:gd name="connsiteX7" fmla="*/ 8975709 w 13053199"/>
              <a:gd name="connsiteY7" fmla="*/ 601966 h 3525481"/>
              <a:gd name="connsiteX8" fmla="*/ 9905210 w 13053199"/>
              <a:gd name="connsiteY8" fmla="*/ 1648714 h 3525481"/>
              <a:gd name="connsiteX9" fmla="*/ 7867478 w 13053199"/>
              <a:gd name="connsiteY9" fmla="*/ 2767651 h 3525481"/>
              <a:gd name="connsiteX10" fmla="*/ 9523113 w 13053199"/>
              <a:gd name="connsiteY10" fmla="*/ 3477513 h 3525481"/>
              <a:gd name="connsiteX11" fmla="*/ 13053199 w 13053199"/>
              <a:gd name="connsiteY11" fmla="*/ 2129978 h 3525481"/>
              <a:gd name="connsiteX0" fmla="*/ 0 w 13053199"/>
              <a:gd name="connsiteY0" fmla="*/ 1299799 h 3525481"/>
              <a:gd name="connsiteX1" fmla="*/ 1888959 w 13053199"/>
              <a:gd name="connsiteY1" fmla="*/ 388 h 3525481"/>
              <a:gd name="connsiteX2" fmla="*/ 2947738 w 13053199"/>
              <a:gd name="connsiteY2" fmla="*/ 1203546 h 3525481"/>
              <a:gd name="connsiteX3" fmla="*/ 998622 w 13053199"/>
              <a:gd name="connsiteY3" fmla="*/ 2827809 h 3525481"/>
              <a:gd name="connsiteX4" fmla="*/ 3573380 w 13053199"/>
              <a:gd name="connsiteY4" fmla="*/ 3248914 h 3525481"/>
              <a:gd name="connsiteX5" fmla="*/ 5255729 w 13053199"/>
              <a:gd name="connsiteY5" fmla="*/ 1251672 h 3525481"/>
              <a:gd name="connsiteX6" fmla="*/ 7544797 w 13053199"/>
              <a:gd name="connsiteY6" fmla="*/ 1420115 h 3525481"/>
              <a:gd name="connsiteX7" fmla="*/ 8975709 w 13053199"/>
              <a:gd name="connsiteY7" fmla="*/ 601966 h 3525481"/>
              <a:gd name="connsiteX8" fmla="*/ 9905210 w 13053199"/>
              <a:gd name="connsiteY8" fmla="*/ 1648714 h 3525481"/>
              <a:gd name="connsiteX9" fmla="*/ 7867478 w 13053199"/>
              <a:gd name="connsiteY9" fmla="*/ 2767651 h 3525481"/>
              <a:gd name="connsiteX10" fmla="*/ 9523113 w 13053199"/>
              <a:gd name="connsiteY10" fmla="*/ 3477513 h 3525481"/>
              <a:gd name="connsiteX11" fmla="*/ 13053199 w 13053199"/>
              <a:gd name="connsiteY11" fmla="*/ 2129978 h 3525481"/>
              <a:gd name="connsiteX0" fmla="*/ 0 w 13053199"/>
              <a:gd name="connsiteY0" fmla="*/ 1299799 h 3525481"/>
              <a:gd name="connsiteX1" fmla="*/ 1888959 w 13053199"/>
              <a:gd name="connsiteY1" fmla="*/ 388 h 3525481"/>
              <a:gd name="connsiteX2" fmla="*/ 2947738 w 13053199"/>
              <a:gd name="connsiteY2" fmla="*/ 1203546 h 3525481"/>
              <a:gd name="connsiteX3" fmla="*/ 998622 w 13053199"/>
              <a:gd name="connsiteY3" fmla="*/ 2827809 h 3525481"/>
              <a:gd name="connsiteX4" fmla="*/ 3573380 w 13053199"/>
              <a:gd name="connsiteY4" fmla="*/ 3248914 h 3525481"/>
              <a:gd name="connsiteX5" fmla="*/ 5255729 w 13053199"/>
              <a:gd name="connsiteY5" fmla="*/ 1251672 h 3525481"/>
              <a:gd name="connsiteX6" fmla="*/ 7544797 w 13053199"/>
              <a:gd name="connsiteY6" fmla="*/ 1420115 h 3525481"/>
              <a:gd name="connsiteX7" fmla="*/ 8975709 w 13053199"/>
              <a:gd name="connsiteY7" fmla="*/ 601966 h 3525481"/>
              <a:gd name="connsiteX8" fmla="*/ 9905210 w 13053199"/>
              <a:gd name="connsiteY8" fmla="*/ 1648714 h 3525481"/>
              <a:gd name="connsiteX9" fmla="*/ 7867478 w 13053199"/>
              <a:gd name="connsiteY9" fmla="*/ 2767651 h 3525481"/>
              <a:gd name="connsiteX10" fmla="*/ 9523113 w 13053199"/>
              <a:gd name="connsiteY10" fmla="*/ 3477513 h 3525481"/>
              <a:gd name="connsiteX11" fmla="*/ 13053199 w 13053199"/>
              <a:gd name="connsiteY11" fmla="*/ 2129978 h 3525481"/>
              <a:gd name="connsiteX0" fmla="*/ 0 w 13053199"/>
              <a:gd name="connsiteY0" fmla="*/ 1299799 h 3491446"/>
              <a:gd name="connsiteX1" fmla="*/ 1888959 w 13053199"/>
              <a:gd name="connsiteY1" fmla="*/ 388 h 3491446"/>
              <a:gd name="connsiteX2" fmla="*/ 2947738 w 13053199"/>
              <a:gd name="connsiteY2" fmla="*/ 1203546 h 3491446"/>
              <a:gd name="connsiteX3" fmla="*/ 998622 w 13053199"/>
              <a:gd name="connsiteY3" fmla="*/ 2827809 h 3491446"/>
              <a:gd name="connsiteX4" fmla="*/ 3573380 w 13053199"/>
              <a:gd name="connsiteY4" fmla="*/ 3248914 h 3491446"/>
              <a:gd name="connsiteX5" fmla="*/ 5255729 w 13053199"/>
              <a:gd name="connsiteY5" fmla="*/ 1251672 h 3491446"/>
              <a:gd name="connsiteX6" fmla="*/ 7544797 w 13053199"/>
              <a:gd name="connsiteY6" fmla="*/ 1420115 h 3491446"/>
              <a:gd name="connsiteX7" fmla="*/ 8975709 w 13053199"/>
              <a:gd name="connsiteY7" fmla="*/ 601966 h 3491446"/>
              <a:gd name="connsiteX8" fmla="*/ 9510902 w 13053199"/>
              <a:gd name="connsiteY8" fmla="*/ 1744966 h 3491446"/>
              <a:gd name="connsiteX9" fmla="*/ 7867478 w 13053199"/>
              <a:gd name="connsiteY9" fmla="*/ 2767651 h 3491446"/>
              <a:gd name="connsiteX10" fmla="*/ 9523113 w 13053199"/>
              <a:gd name="connsiteY10" fmla="*/ 3477513 h 3491446"/>
              <a:gd name="connsiteX11" fmla="*/ 13053199 w 13053199"/>
              <a:gd name="connsiteY11" fmla="*/ 2129978 h 3491446"/>
              <a:gd name="connsiteX0" fmla="*/ 0 w 13053199"/>
              <a:gd name="connsiteY0" fmla="*/ 1299799 h 3491446"/>
              <a:gd name="connsiteX1" fmla="*/ 1888959 w 13053199"/>
              <a:gd name="connsiteY1" fmla="*/ 388 h 3491446"/>
              <a:gd name="connsiteX2" fmla="*/ 2947738 w 13053199"/>
              <a:gd name="connsiteY2" fmla="*/ 1203546 h 3491446"/>
              <a:gd name="connsiteX3" fmla="*/ 998622 w 13053199"/>
              <a:gd name="connsiteY3" fmla="*/ 2827809 h 3491446"/>
              <a:gd name="connsiteX4" fmla="*/ 3573380 w 13053199"/>
              <a:gd name="connsiteY4" fmla="*/ 3248914 h 3491446"/>
              <a:gd name="connsiteX5" fmla="*/ 5255729 w 13053199"/>
              <a:gd name="connsiteY5" fmla="*/ 1251672 h 3491446"/>
              <a:gd name="connsiteX6" fmla="*/ 7544797 w 13053199"/>
              <a:gd name="connsiteY6" fmla="*/ 1420115 h 3491446"/>
              <a:gd name="connsiteX7" fmla="*/ 8772581 w 13053199"/>
              <a:gd name="connsiteY7" fmla="*/ 722282 h 3491446"/>
              <a:gd name="connsiteX8" fmla="*/ 9510902 w 13053199"/>
              <a:gd name="connsiteY8" fmla="*/ 1744966 h 3491446"/>
              <a:gd name="connsiteX9" fmla="*/ 7867478 w 13053199"/>
              <a:gd name="connsiteY9" fmla="*/ 2767651 h 3491446"/>
              <a:gd name="connsiteX10" fmla="*/ 9523113 w 13053199"/>
              <a:gd name="connsiteY10" fmla="*/ 3477513 h 3491446"/>
              <a:gd name="connsiteX11" fmla="*/ 13053199 w 13053199"/>
              <a:gd name="connsiteY11" fmla="*/ 2129978 h 3491446"/>
              <a:gd name="connsiteX0" fmla="*/ 0 w 13053199"/>
              <a:gd name="connsiteY0" fmla="*/ 1299799 h 3491446"/>
              <a:gd name="connsiteX1" fmla="*/ 1888959 w 13053199"/>
              <a:gd name="connsiteY1" fmla="*/ 388 h 3491446"/>
              <a:gd name="connsiteX2" fmla="*/ 2947738 w 13053199"/>
              <a:gd name="connsiteY2" fmla="*/ 1203546 h 3491446"/>
              <a:gd name="connsiteX3" fmla="*/ 998622 w 13053199"/>
              <a:gd name="connsiteY3" fmla="*/ 2827809 h 3491446"/>
              <a:gd name="connsiteX4" fmla="*/ 3573380 w 13053199"/>
              <a:gd name="connsiteY4" fmla="*/ 3248914 h 3491446"/>
              <a:gd name="connsiteX5" fmla="*/ 5255729 w 13053199"/>
              <a:gd name="connsiteY5" fmla="*/ 1251672 h 3491446"/>
              <a:gd name="connsiteX6" fmla="*/ 7544797 w 13053199"/>
              <a:gd name="connsiteY6" fmla="*/ 1420115 h 3491446"/>
              <a:gd name="connsiteX7" fmla="*/ 8772581 w 13053199"/>
              <a:gd name="connsiteY7" fmla="*/ 722282 h 3491446"/>
              <a:gd name="connsiteX8" fmla="*/ 9510902 w 13053199"/>
              <a:gd name="connsiteY8" fmla="*/ 1744966 h 3491446"/>
              <a:gd name="connsiteX9" fmla="*/ 7867478 w 13053199"/>
              <a:gd name="connsiteY9" fmla="*/ 2767651 h 3491446"/>
              <a:gd name="connsiteX10" fmla="*/ 9523113 w 13053199"/>
              <a:gd name="connsiteY10" fmla="*/ 3477513 h 3491446"/>
              <a:gd name="connsiteX11" fmla="*/ 13053199 w 13053199"/>
              <a:gd name="connsiteY11" fmla="*/ 2129978 h 3491446"/>
              <a:gd name="connsiteX0" fmla="*/ 0 w 13053199"/>
              <a:gd name="connsiteY0" fmla="*/ 1299799 h 3491446"/>
              <a:gd name="connsiteX1" fmla="*/ 1888959 w 13053199"/>
              <a:gd name="connsiteY1" fmla="*/ 388 h 3491446"/>
              <a:gd name="connsiteX2" fmla="*/ 2947738 w 13053199"/>
              <a:gd name="connsiteY2" fmla="*/ 1203546 h 3491446"/>
              <a:gd name="connsiteX3" fmla="*/ 998622 w 13053199"/>
              <a:gd name="connsiteY3" fmla="*/ 2827809 h 3491446"/>
              <a:gd name="connsiteX4" fmla="*/ 3573380 w 13053199"/>
              <a:gd name="connsiteY4" fmla="*/ 3248914 h 3491446"/>
              <a:gd name="connsiteX5" fmla="*/ 5255729 w 13053199"/>
              <a:gd name="connsiteY5" fmla="*/ 1251672 h 3491446"/>
              <a:gd name="connsiteX6" fmla="*/ 7269978 w 13053199"/>
              <a:gd name="connsiteY6" fmla="*/ 1456210 h 3491446"/>
              <a:gd name="connsiteX7" fmla="*/ 8772581 w 13053199"/>
              <a:gd name="connsiteY7" fmla="*/ 722282 h 3491446"/>
              <a:gd name="connsiteX8" fmla="*/ 9510902 w 13053199"/>
              <a:gd name="connsiteY8" fmla="*/ 1744966 h 3491446"/>
              <a:gd name="connsiteX9" fmla="*/ 7867478 w 13053199"/>
              <a:gd name="connsiteY9" fmla="*/ 2767651 h 3491446"/>
              <a:gd name="connsiteX10" fmla="*/ 9523113 w 13053199"/>
              <a:gd name="connsiteY10" fmla="*/ 3477513 h 3491446"/>
              <a:gd name="connsiteX11" fmla="*/ 13053199 w 13053199"/>
              <a:gd name="connsiteY11" fmla="*/ 2129978 h 3491446"/>
              <a:gd name="connsiteX0" fmla="*/ 0 w 13053199"/>
              <a:gd name="connsiteY0" fmla="*/ 1299799 h 3491446"/>
              <a:gd name="connsiteX1" fmla="*/ 1888959 w 13053199"/>
              <a:gd name="connsiteY1" fmla="*/ 388 h 3491446"/>
              <a:gd name="connsiteX2" fmla="*/ 2947738 w 13053199"/>
              <a:gd name="connsiteY2" fmla="*/ 1203546 h 3491446"/>
              <a:gd name="connsiteX3" fmla="*/ 998622 w 13053199"/>
              <a:gd name="connsiteY3" fmla="*/ 2827809 h 3491446"/>
              <a:gd name="connsiteX4" fmla="*/ 3573380 w 13053199"/>
              <a:gd name="connsiteY4" fmla="*/ 3248914 h 3491446"/>
              <a:gd name="connsiteX5" fmla="*/ 5255729 w 13053199"/>
              <a:gd name="connsiteY5" fmla="*/ 1251672 h 3491446"/>
              <a:gd name="connsiteX6" fmla="*/ 7269978 w 13053199"/>
              <a:gd name="connsiteY6" fmla="*/ 1456210 h 3491446"/>
              <a:gd name="connsiteX7" fmla="*/ 8772581 w 13053199"/>
              <a:gd name="connsiteY7" fmla="*/ 722282 h 3491446"/>
              <a:gd name="connsiteX8" fmla="*/ 9510902 w 13053199"/>
              <a:gd name="connsiteY8" fmla="*/ 1744966 h 3491446"/>
              <a:gd name="connsiteX9" fmla="*/ 7867478 w 13053199"/>
              <a:gd name="connsiteY9" fmla="*/ 2767651 h 3491446"/>
              <a:gd name="connsiteX10" fmla="*/ 9523113 w 13053199"/>
              <a:gd name="connsiteY10" fmla="*/ 3477513 h 3491446"/>
              <a:gd name="connsiteX11" fmla="*/ 13053199 w 13053199"/>
              <a:gd name="connsiteY11" fmla="*/ 2129978 h 3491446"/>
              <a:gd name="connsiteX0" fmla="*/ 0 w 13053199"/>
              <a:gd name="connsiteY0" fmla="*/ 1299799 h 3491446"/>
              <a:gd name="connsiteX1" fmla="*/ 1888959 w 13053199"/>
              <a:gd name="connsiteY1" fmla="*/ 388 h 3491446"/>
              <a:gd name="connsiteX2" fmla="*/ 2947738 w 13053199"/>
              <a:gd name="connsiteY2" fmla="*/ 1203546 h 3491446"/>
              <a:gd name="connsiteX3" fmla="*/ 998622 w 13053199"/>
              <a:gd name="connsiteY3" fmla="*/ 2827809 h 3491446"/>
              <a:gd name="connsiteX4" fmla="*/ 3573380 w 13053199"/>
              <a:gd name="connsiteY4" fmla="*/ 3248914 h 3491446"/>
              <a:gd name="connsiteX5" fmla="*/ 5255729 w 13053199"/>
              <a:gd name="connsiteY5" fmla="*/ 1251672 h 3491446"/>
              <a:gd name="connsiteX6" fmla="*/ 7269978 w 13053199"/>
              <a:gd name="connsiteY6" fmla="*/ 1456210 h 3491446"/>
              <a:gd name="connsiteX7" fmla="*/ 9095196 w 13053199"/>
              <a:gd name="connsiteY7" fmla="*/ 734314 h 3491446"/>
              <a:gd name="connsiteX8" fmla="*/ 9510902 w 13053199"/>
              <a:gd name="connsiteY8" fmla="*/ 1744966 h 3491446"/>
              <a:gd name="connsiteX9" fmla="*/ 7867478 w 13053199"/>
              <a:gd name="connsiteY9" fmla="*/ 2767651 h 3491446"/>
              <a:gd name="connsiteX10" fmla="*/ 9523113 w 13053199"/>
              <a:gd name="connsiteY10" fmla="*/ 3477513 h 3491446"/>
              <a:gd name="connsiteX11" fmla="*/ 13053199 w 13053199"/>
              <a:gd name="connsiteY11" fmla="*/ 2129978 h 3491446"/>
              <a:gd name="connsiteX0" fmla="*/ 0 w 13053199"/>
              <a:gd name="connsiteY0" fmla="*/ 1299799 h 3491446"/>
              <a:gd name="connsiteX1" fmla="*/ 1888959 w 13053199"/>
              <a:gd name="connsiteY1" fmla="*/ 388 h 3491446"/>
              <a:gd name="connsiteX2" fmla="*/ 2947738 w 13053199"/>
              <a:gd name="connsiteY2" fmla="*/ 1203546 h 3491446"/>
              <a:gd name="connsiteX3" fmla="*/ 998622 w 13053199"/>
              <a:gd name="connsiteY3" fmla="*/ 2827809 h 3491446"/>
              <a:gd name="connsiteX4" fmla="*/ 3573380 w 13053199"/>
              <a:gd name="connsiteY4" fmla="*/ 3248914 h 3491446"/>
              <a:gd name="connsiteX5" fmla="*/ 5255729 w 13053199"/>
              <a:gd name="connsiteY5" fmla="*/ 1251672 h 3491446"/>
              <a:gd name="connsiteX6" fmla="*/ 7269978 w 13053199"/>
              <a:gd name="connsiteY6" fmla="*/ 1456210 h 3491446"/>
              <a:gd name="connsiteX7" fmla="*/ 9095196 w 13053199"/>
              <a:gd name="connsiteY7" fmla="*/ 734314 h 3491446"/>
              <a:gd name="connsiteX8" fmla="*/ 9510902 w 13053199"/>
              <a:gd name="connsiteY8" fmla="*/ 1744966 h 3491446"/>
              <a:gd name="connsiteX9" fmla="*/ 7867478 w 13053199"/>
              <a:gd name="connsiteY9" fmla="*/ 2767651 h 3491446"/>
              <a:gd name="connsiteX10" fmla="*/ 9523113 w 13053199"/>
              <a:gd name="connsiteY10" fmla="*/ 3477513 h 3491446"/>
              <a:gd name="connsiteX11" fmla="*/ 13053199 w 13053199"/>
              <a:gd name="connsiteY11" fmla="*/ 2129978 h 3491446"/>
              <a:gd name="connsiteX0" fmla="*/ 0 w 13053199"/>
              <a:gd name="connsiteY0" fmla="*/ 1299799 h 3507171"/>
              <a:gd name="connsiteX1" fmla="*/ 1888959 w 13053199"/>
              <a:gd name="connsiteY1" fmla="*/ 388 h 3507171"/>
              <a:gd name="connsiteX2" fmla="*/ 2947738 w 13053199"/>
              <a:gd name="connsiteY2" fmla="*/ 1203546 h 3507171"/>
              <a:gd name="connsiteX3" fmla="*/ 998622 w 13053199"/>
              <a:gd name="connsiteY3" fmla="*/ 2827809 h 3507171"/>
              <a:gd name="connsiteX4" fmla="*/ 3573380 w 13053199"/>
              <a:gd name="connsiteY4" fmla="*/ 3248914 h 3507171"/>
              <a:gd name="connsiteX5" fmla="*/ 5255729 w 13053199"/>
              <a:gd name="connsiteY5" fmla="*/ 1251672 h 3507171"/>
              <a:gd name="connsiteX6" fmla="*/ 7269978 w 13053199"/>
              <a:gd name="connsiteY6" fmla="*/ 1456210 h 3507171"/>
              <a:gd name="connsiteX7" fmla="*/ 9095196 w 13053199"/>
              <a:gd name="connsiteY7" fmla="*/ 734314 h 3507171"/>
              <a:gd name="connsiteX8" fmla="*/ 9510902 w 13053199"/>
              <a:gd name="connsiteY8" fmla="*/ 1744966 h 3507171"/>
              <a:gd name="connsiteX9" fmla="*/ 7867478 w 13053199"/>
              <a:gd name="connsiteY9" fmla="*/ 2767651 h 3507171"/>
              <a:gd name="connsiteX10" fmla="*/ 9523113 w 13053199"/>
              <a:gd name="connsiteY10" fmla="*/ 3477513 h 3507171"/>
              <a:gd name="connsiteX11" fmla="*/ 13053199 w 13053199"/>
              <a:gd name="connsiteY11" fmla="*/ 2129978 h 3507171"/>
              <a:gd name="connsiteX0" fmla="*/ 0 w 13053199"/>
              <a:gd name="connsiteY0" fmla="*/ 1299799 h 3507171"/>
              <a:gd name="connsiteX1" fmla="*/ 1888959 w 13053199"/>
              <a:gd name="connsiteY1" fmla="*/ 388 h 3507171"/>
              <a:gd name="connsiteX2" fmla="*/ 2947738 w 13053199"/>
              <a:gd name="connsiteY2" fmla="*/ 1203546 h 3507171"/>
              <a:gd name="connsiteX3" fmla="*/ 998622 w 13053199"/>
              <a:gd name="connsiteY3" fmla="*/ 2827809 h 3507171"/>
              <a:gd name="connsiteX4" fmla="*/ 3573380 w 13053199"/>
              <a:gd name="connsiteY4" fmla="*/ 3248914 h 3507171"/>
              <a:gd name="connsiteX5" fmla="*/ 5255729 w 13053199"/>
              <a:gd name="connsiteY5" fmla="*/ 1251672 h 3507171"/>
              <a:gd name="connsiteX6" fmla="*/ 7269978 w 13053199"/>
              <a:gd name="connsiteY6" fmla="*/ 1456210 h 3507171"/>
              <a:gd name="connsiteX7" fmla="*/ 9095196 w 13053199"/>
              <a:gd name="connsiteY7" fmla="*/ 734314 h 3507171"/>
              <a:gd name="connsiteX8" fmla="*/ 9510902 w 13053199"/>
              <a:gd name="connsiteY8" fmla="*/ 1744966 h 3507171"/>
              <a:gd name="connsiteX9" fmla="*/ 7867478 w 13053199"/>
              <a:gd name="connsiteY9" fmla="*/ 2767651 h 3507171"/>
              <a:gd name="connsiteX10" fmla="*/ 9523113 w 13053199"/>
              <a:gd name="connsiteY10" fmla="*/ 3477513 h 3507171"/>
              <a:gd name="connsiteX11" fmla="*/ 13053199 w 13053199"/>
              <a:gd name="connsiteY11" fmla="*/ 2129978 h 3507171"/>
              <a:gd name="connsiteX0" fmla="*/ 0 w 13053199"/>
              <a:gd name="connsiteY0" fmla="*/ 1299799 h 3507171"/>
              <a:gd name="connsiteX1" fmla="*/ 1888959 w 13053199"/>
              <a:gd name="connsiteY1" fmla="*/ 388 h 3507171"/>
              <a:gd name="connsiteX2" fmla="*/ 2947738 w 13053199"/>
              <a:gd name="connsiteY2" fmla="*/ 1203546 h 3507171"/>
              <a:gd name="connsiteX3" fmla="*/ 998622 w 13053199"/>
              <a:gd name="connsiteY3" fmla="*/ 2827809 h 3507171"/>
              <a:gd name="connsiteX4" fmla="*/ 4063276 w 13053199"/>
              <a:gd name="connsiteY4" fmla="*/ 3188756 h 3507171"/>
              <a:gd name="connsiteX5" fmla="*/ 5255729 w 13053199"/>
              <a:gd name="connsiteY5" fmla="*/ 1251672 h 3507171"/>
              <a:gd name="connsiteX6" fmla="*/ 7269978 w 13053199"/>
              <a:gd name="connsiteY6" fmla="*/ 1456210 h 3507171"/>
              <a:gd name="connsiteX7" fmla="*/ 9095196 w 13053199"/>
              <a:gd name="connsiteY7" fmla="*/ 734314 h 3507171"/>
              <a:gd name="connsiteX8" fmla="*/ 9510902 w 13053199"/>
              <a:gd name="connsiteY8" fmla="*/ 1744966 h 3507171"/>
              <a:gd name="connsiteX9" fmla="*/ 7867478 w 13053199"/>
              <a:gd name="connsiteY9" fmla="*/ 2767651 h 3507171"/>
              <a:gd name="connsiteX10" fmla="*/ 9523113 w 13053199"/>
              <a:gd name="connsiteY10" fmla="*/ 3477513 h 3507171"/>
              <a:gd name="connsiteX11" fmla="*/ 13053199 w 13053199"/>
              <a:gd name="connsiteY11" fmla="*/ 2129978 h 3507171"/>
              <a:gd name="connsiteX0" fmla="*/ 0 w 13053199"/>
              <a:gd name="connsiteY0" fmla="*/ 1299676 h 3507048"/>
              <a:gd name="connsiteX1" fmla="*/ 1888959 w 13053199"/>
              <a:gd name="connsiteY1" fmla="*/ 265 h 3507048"/>
              <a:gd name="connsiteX2" fmla="*/ 2947738 w 13053199"/>
              <a:gd name="connsiteY2" fmla="*/ 1203423 h 3507048"/>
              <a:gd name="connsiteX3" fmla="*/ 1679698 w 13053199"/>
              <a:gd name="connsiteY3" fmla="*/ 3020191 h 3507048"/>
              <a:gd name="connsiteX4" fmla="*/ 4063276 w 13053199"/>
              <a:gd name="connsiteY4" fmla="*/ 3188633 h 3507048"/>
              <a:gd name="connsiteX5" fmla="*/ 5255729 w 13053199"/>
              <a:gd name="connsiteY5" fmla="*/ 1251549 h 3507048"/>
              <a:gd name="connsiteX6" fmla="*/ 7269978 w 13053199"/>
              <a:gd name="connsiteY6" fmla="*/ 1456087 h 3507048"/>
              <a:gd name="connsiteX7" fmla="*/ 9095196 w 13053199"/>
              <a:gd name="connsiteY7" fmla="*/ 734191 h 3507048"/>
              <a:gd name="connsiteX8" fmla="*/ 9510902 w 13053199"/>
              <a:gd name="connsiteY8" fmla="*/ 1744843 h 3507048"/>
              <a:gd name="connsiteX9" fmla="*/ 7867478 w 13053199"/>
              <a:gd name="connsiteY9" fmla="*/ 2767528 h 3507048"/>
              <a:gd name="connsiteX10" fmla="*/ 9523113 w 13053199"/>
              <a:gd name="connsiteY10" fmla="*/ 3477390 h 3507048"/>
              <a:gd name="connsiteX11" fmla="*/ 13053199 w 13053199"/>
              <a:gd name="connsiteY11" fmla="*/ 2129855 h 3507048"/>
              <a:gd name="connsiteX0" fmla="*/ 0 w 13053199"/>
              <a:gd name="connsiteY0" fmla="*/ 1299676 h 3556370"/>
              <a:gd name="connsiteX1" fmla="*/ 1888959 w 13053199"/>
              <a:gd name="connsiteY1" fmla="*/ 265 h 3556370"/>
              <a:gd name="connsiteX2" fmla="*/ 2947738 w 13053199"/>
              <a:gd name="connsiteY2" fmla="*/ 1203423 h 3556370"/>
              <a:gd name="connsiteX3" fmla="*/ 1679698 w 13053199"/>
              <a:gd name="connsiteY3" fmla="*/ 3020191 h 3556370"/>
              <a:gd name="connsiteX4" fmla="*/ 4063276 w 13053199"/>
              <a:gd name="connsiteY4" fmla="*/ 3188633 h 3556370"/>
              <a:gd name="connsiteX5" fmla="*/ 5255729 w 13053199"/>
              <a:gd name="connsiteY5" fmla="*/ 1251549 h 3556370"/>
              <a:gd name="connsiteX6" fmla="*/ 7269978 w 13053199"/>
              <a:gd name="connsiteY6" fmla="*/ 1456087 h 3556370"/>
              <a:gd name="connsiteX7" fmla="*/ 9095196 w 13053199"/>
              <a:gd name="connsiteY7" fmla="*/ 734191 h 3556370"/>
              <a:gd name="connsiteX8" fmla="*/ 9510902 w 13053199"/>
              <a:gd name="connsiteY8" fmla="*/ 1744843 h 3556370"/>
              <a:gd name="connsiteX9" fmla="*/ 7867478 w 13053199"/>
              <a:gd name="connsiteY9" fmla="*/ 2767528 h 3556370"/>
              <a:gd name="connsiteX10" fmla="*/ 9523113 w 13053199"/>
              <a:gd name="connsiteY10" fmla="*/ 3477390 h 3556370"/>
              <a:gd name="connsiteX11" fmla="*/ 13053199 w 13053199"/>
              <a:gd name="connsiteY11" fmla="*/ 2129855 h 3556370"/>
              <a:gd name="connsiteX0" fmla="*/ 0 w 13782069"/>
              <a:gd name="connsiteY0" fmla="*/ 1653292 h 3561070"/>
              <a:gd name="connsiteX1" fmla="*/ 2617829 w 13782069"/>
              <a:gd name="connsiteY1" fmla="*/ 4965 h 3561070"/>
              <a:gd name="connsiteX2" fmla="*/ 3676608 w 13782069"/>
              <a:gd name="connsiteY2" fmla="*/ 1208123 h 3561070"/>
              <a:gd name="connsiteX3" fmla="*/ 2408568 w 13782069"/>
              <a:gd name="connsiteY3" fmla="*/ 3024891 h 3561070"/>
              <a:gd name="connsiteX4" fmla="*/ 4792146 w 13782069"/>
              <a:gd name="connsiteY4" fmla="*/ 3193333 h 3561070"/>
              <a:gd name="connsiteX5" fmla="*/ 5984599 w 13782069"/>
              <a:gd name="connsiteY5" fmla="*/ 1256249 h 3561070"/>
              <a:gd name="connsiteX6" fmla="*/ 7998848 w 13782069"/>
              <a:gd name="connsiteY6" fmla="*/ 1460787 h 3561070"/>
              <a:gd name="connsiteX7" fmla="*/ 9824066 w 13782069"/>
              <a:gd name="connsiteY7" fmla="*/ 738891 h 3561070"/>
              <a:gd name="connsiteX8" fmla="*/ 10239772 w 13782069"/>
              <a:gd name="connsiteY8" fmla="*/ 1749543 h 3561070"/>
              <a:gd name="connsiteX9" fmla="*/ 8596348 w 13782069"/>
              <a:gd name="connsiteY9" fmla="*/ 2772228 h 3561070"/>
              <a:gd name="connsiteX10" fmla="*/ 10251983 w 13782069"/>
              <a:gd name="connsiteY10" fmla="*/ 3482090 h 3561070"/>
              <a:gd name="connsiteX11" fmla="*/ 13782069 w 13782069"/>
              <a:gd name="connsiteY11" fmla="*/ 2134555 h 3561070"/>
              <a:gd name="connsiteX0" fmla="*/ 0 w 13782069"/>
              <a:gd name="connsiteY0" fmla="*/ 1651904 h 3559682"/>
              <a:gd name="connsiteX1" fmla="*/ 2617829 w 13782069"/>
              <a:gd name="connsiteY1" fmla="*/ 3577 h 3559682"/>
              <a:gd name="connsiteX2" fmla="*/ 3676608 w 13782069"/>
              <a:gd name="connsiteY2" fmla="*/ 1206735 h 3559682"/>
              <a:gd name="connsiteX3" fmla="*/ 2408568 w 13782069"/>
              <a:gd name="connsiteY3" fmla="*/ 3023503 h 3559682"/>
              <a:gd name="connsiteX4" fmla="*/ 4792146 w 13782069"/>
              <a:gd name="connsiteY4" fmla="*/ 3191945 h 3559682"/>
              <a:gd name="connsiteX5" fmla="*/ 5984599 w 13782069"/>
              <a:gd name="connsiteY5" fmla="*/ 1254861 h 3559682"/>
              <a:gd name="connsiteX6" fmla="*/ 7998848 w 13782069"/>
              <a:gd name="connsiteY6" fmla="*/ 1459399 h 3559682"/>
              <a:gd name="connsiteX7" fmla="*/ 9824066 w 13782069"/>
              <a:gd name="connsiteY7" fmla="*/ 737503 h 3559682"/>
              <a:gd name="connsiteX8" fmla="*/ 10239772 w 13782069"/>
              <a:gd name="connsiteY8" fmla="*/ 1748155 h 3559682"/>
              <a:gd name="connsiteX9" fmla="*/ 8596348 w 13782069"/>
              <a:gd name="connsiteY9" fmla="*/ 2770840 h 3559682"/>
              <a:gd name="connsiteX10" fmla="*/ 10251983 w 13782069"/>
              <a:gd name="connsiteY10" fmla="*/ 3480702 h 3559682"/>
              <a:gd name="connsiteX11" fmla="*/ 13782069 w 13782069"/>
              <a:gd name="connsiteY11" fmla="*/ 2133167 h 3559682"/>
              <a:gd name="connsiteX0" fmla="*/ 0 w 13782069"/>
              <a:gd name="connsiteY0" fmla="*/ 1652509 h 3560287"/>
              <a:gd name="connsiteX1" fmla="*/ 2617829 w 13782069"/>
              <a:gd name="connsiteY1" fmla="*/ 4182 h 3560287"/>
              <a:gd name="connsiteX2" fmla="*/ 3676608 w 13782069"/>
              <a:gd name="connsiteY2" fmla="*/ 1207340 h 3560287"/>
              <a:gd name="connsiteX3" fmla="*/ 2408568 w 13782069"/>
              <a:gd name="connsiteY3" fmla="*/ 3024108 h 3560287"/>
              <a:gd name="connsiteX4" fmla="*/ 4792146 w 13782069"/>
              <a:gd name="connsiteY4" fmla="*/ 3192550 h 3560287"/>
              <a:gd name="connsiteX5" fmla="*/ 5984599 w 13782069"/>
              <a:gd name="connsiteY5" fmla="*/ 1255466 h 3560287"/>
              <a:gd name="connsiteX6" fmla="*/ 7998848 w 13782069"/>
              <a:gd name="connsiteY6" fmla="*/ 1460004 h 3560287"/>
              <a:gd name="connsiteX7" fmla="*/ 9824066 w 13782069"/>
              <a:gd name="connsiteY7" fmla="*/ 738108 h 3560287"/>
              <a:gd name="connsiteX8" fmla="*/ 10239772 w 13782069"/>
              <a:gd name="connsiteY8" fmla="*/ 1748760 h 3560287"/>
              <a:gd name="connsiteX9" fmla="*/ 8596348 w 13782069"/>
              <a:gd name="connsiteY9" fmla="*/ 2771445 h 3560287"/>
              <a:gd name="connsiteX10" fmla="*/ 10251983 w 13782069"/>
              <a:gd name="connsiteY10" fmla="*/ 3481307 h 3560287"/>
              <a:gd name="connsiteX11" fmla="*/ 13782069 w 13782069"/>
              <a:gd name="connsiteY11" fmla="*/ 2133772 h 3560287"/>
              <a:gd name="connsiteX0" fmla="*/ 0 w 13782069"/>
              <a:gd name="connsiteY0" fmla="*/ 1652509 h 3560287"/>
              <a:gd name="connsiteX1" fmla="*/ 2617829 w 13782069"/>
              <a:gd name="connsiteY1" fmla="*/ 4182 h 3560287"/>
              <a:gd name="connsiteX2" fmla="*/ 3676608 w 13782069"/>
              <a:gd name="connsiteY2" fmla="*/ 1207340 h 3560287"/>
              <a:gd name="connsiteX3" fmla="*/ 2408568 w 13782069"/>
              <a:gd name="connsiteY3" fmla="*/ 3024108 h 3560287"/>
              <a:gd name="connsiteX4" fmla="*/ 4792146 w 13782069"/>
              <a:gd name="connsiteY4" fmla="*/ 3192550 h 3560287"/>
              <a:gd name="connsiteX5" fmla="*/ 5984599 w 13782069"/>
              <a:gd name="connsiteY5" fmla="*/ 1255466 h 3560287"/>
              <a:gd name="connsiteX6" fmla="*/ 7998848 w 13782069"/>
              <a:gd name="connsiteY6" fmla="*/ 1460004 h 3560287"/>
              <a:gd name="connsiteX7" fmla="*/ 9824066 w 13782069"/>
              <a:gd name="connsiteY7" fmla="*/ 738108 h 3560287"/>
              <a:gd name="connsiteX8" fmla="*/ 10239772 w 13782069"/>
              <a:gd name="connsiteY8" fmla="*/ 1748760 h 3560287"/>
              <a:gd name="connsiteX9" fmla="*/ 8596348 w 13782069"/>
              <a:gd name="connsiteY9" fmla="*/ 2771445 h 3560287"/>
              <a:gd name="connsiteX10" fmla="*/ 10251983 w 13782069"/>
              <a:gd name="connsiteY10" fmla="*/ 3481307 h 3560287"/>
              <a:gd name="connsiteX11" fmla="*/ 13782069 w 13782069"/>
              <a:gd name="connsiteY11" fmla="*/ 2133772 h 3560287"/>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7998848 w 13782069"/>
              <a:gd name="connsiteY6" fmla="*/ 1460004 h 3636368"/>
              <a:gd name="connsiteX7" fmla="*/ 9824066 w 13782069"/>
              <a:gd name="connsiteY7" fmla="*/ 738108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7927156 w 13782069"/>
              <a:gd name="connsiteY6" fmla="*/ 978741 h 3636368"/>
              <a:gd name="connsiteX7" fmla="*/ 9824066 w 13782069"/>
              <a:gd name="connsiteY7" fmla="*/ 738108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344883 w 13782069"/>
              <a:gd name="connsiteY6" fmla="*/ 1179909 h 3636368"/>
              <a:gd name="connsiteX7" fmla="*/ 9824066 w 13782069"/>
              <a:gd name="connsiteY7" fmla="*/ 738108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344883 w 13782069"/>
              <a:gd name="connsiteY6" fmla="*/ 1179909 h 3636368"/>
              <a:gd name="connsiteX7" fmla="*/ 9824066 w 13782069"/>
              <a:gd name="connsiteY7" fmla="*/ 738108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344883 w 13782069"/>
              <a:gd name="connsiteY6" fmla="*/ 1179909 h 3636368"/>
              <a:gd name="connsiteX7" fmla="*/ 9451893 w 13782069"/>
              <a:gd name="connsiteY7" fmla="*/ 813059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344883 w 13782069"/>
              <a:gd name="connsiteY6" fmla="*/ 1179909 h 3636368"/>
              <a:gd name="connsiteX7" fmla="*/ 9451893 w 13782069"/>
              <a:gd name="connsiteY7" fmla="*/ 813059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151353 w 13782069"/>
              <a:gd name="connsiteY6" fmla="*/ 1089968 h 3636368"/>
              <a:gd name="connsiteX7" fmla="*/ 9451893 w 13782069"/>
              <a:gd name="connsiteY7" fmla="*/ 813059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151353 w 13782069"/>
              <a:gd name="connsiteY6" fmla="*/ 1089968 h 3636368"/>
              <a:gd name="connsiteX7" fmla="*/ 9719857 w 13782069"/>
              <a:gd name="connsiteY7" fmla="*/ 903000 h 3636368"/>
              <a:gd name="connsiteX8" fmla="*/ 10239772 w 13782069"/>
              <a:gd name="connsiteY8" fmla="*/ 1748760 h 3636368"/>
              <a:gd name="connsiteX9" fmla="*/ 8596348 w 13782069"/>
              <a:gd name="connsiteY9" fmla="*/ 2771445 h 3636368"/>
              <a:gd name="connsiteX10" fmla="*/ 10251983 w 13782069"/>
              <a:gd name="connsiteY10" fmla="*/ 3481307 h 3636368"/>
              <a:gd name="connsiteX11" fmla="*/ 13782069 w 13782069"/>
              <a:gd name="connsiteY11"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151353 w 13782069"/>
              <a:gd name="connsiteY6" fmla="*/ 1089968 h 3636368"/>
              <a:gd name="connsiteX7" fmla="*/ 10239772 w 13782069"/>
              <a:gd name="connsiteY7" fmla="*/ 1748760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151353 w 13782069"/>
              <a:gd name="connsiteY6" fmla="*/ 1089968 h 3636368"/>
              <a:gd name="connsiteX7" fmla="*/ 10165337 w 13782069"/>
              <a:gd name="connsiteY7" fmla="*/ 1359016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151353 w 13782069"/>
              <a:gd name="connsiteY6" fmla="*/ 1089968 h 3636368"/>
              <a:gd name="connsiteX7" fmla="*/ 10165337 w 13782069"/>
              <a:gd name="connsiteY7" fmla="*/ 1359016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151353 w 13782069"/>
              <a:gd name="connsiteY6" fmla="*/ 1089968 h 3636368"/>
              <a:gd name="connsiteX7" fmla="*/ 10165337 w 13782069"/>
              <a:gd name="connsiteY7" fmla="*/ 1359016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449091 w 13782069"/>
              <a:gd name="connsiteY6" fmla="*/ 670244 h 3636368"/>
              <a:gd name="connsiteX7" fmla="*/ 10165337 w 13782069"/>
              <a:gd name="connsiteY7" fmla="*/ 1359016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449091 w 13782069"/>
              <a:gd name="connsiteY6" fmla="*/ 670244 h 3636368"/>
              <a:gd name="connsiteX7" fmla="*/ 10165337 w 13782069"/>
              <a:gd name="connsiteY7" fmla="*/ 1359016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449091 w 13782069"/>
              <a:gd name="connsiteY6" fmla="*/ 670244 h 3636368"/>
              <a:gd name="connsiteX7" fmla="*/ 9822938 w 13782069"/>
              <a:gd name="connsiteY7" fmla="*/ 1508918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636368"/>
              <a:gd name="connsiteX1" fmla="*/ 2617829 w 13782069"/>
              <a:gd name="connsiteY1" fmla="*/ 4182 h 3636368"/>
              <a:gd name="connsiteX2" fmla="*/ 3676608 w 13782069"/>
              <a:gd name="connsiteY2" fmla="*/ 1207340 h 3636368"/>
              <a:gd name="connsiteX3" fmla="*/ 2408568 w 13782069"/>
              <a:gd name="connsiteY3" fmla="*/ 3024108 h 3636368"/>
              <a:gd name="connsiteX4" fmla="*/ 4792146 w 13782069"/>
              <a:gd name="connsiteY4" fmla="*/ 3192550 h 3636368"/>
              <a:gd name="connsiteX5" fmla="*/ 5984599 w 13782069"/>
              <a:gd name="connsiteY5" fmla="*/ 1255466 h 3636368"/>
              <a:gd name="connsiteX6" fmla="*/ 8449091 w 13782069"/>
              <a:gd name="connsiteY6" fmla="*/ 670244 h 3636368"/>
              <a:gd name="connsiteX7" fmla="*/ 9822938 w 13782069"/>
              <a:gd name="connsiteY7" fmla="*/ 1508918 h 3636368"/>
              <a:gd name="connsiteX8" fmla="*/ 8596348 w 13782069"/>
              <a:gd name="connsiteY8" fmla="*/ 2771445 h 3636368"/>
              <a:gd name="connsiteX9" fmla="*/ 10251983 w 13782069"/>
              <a:gd name="connsiteY9" fmla="*/ 3481307 h 3636368"/>
              <a:gd name="connsiteX10" fmla="*/ 13782069 w 13782069"/>
              <a:gd name="connsiteY10" fmla="*/ 2133772 h 3636368"/>
              <a:gd name="connsiteX0" fmla="*/ 0 w 13782069"/>
              <a:gd name="connsiteY0" fmla="*/ 1652509 h 3549600"/>
              <a:gd name="connsiteX1" fmla="*/ 2617829 w 13782069"/>
              <a:gd name="connsiteY1" fmla="*/ 4182 h 3549600"/>
              <a:gd name="connsiteX2" fmla="*/ 3676608 w 13782069"/>
              <a:gd name="connsiteY2" fmla="*/ 1207340 h 3549600"/>
              <a:gd name="connsiteX3" fmla="*/ 2408568 w 13782069"/>
              <a:gd name="connsiteY3" fmla="*/ 3024108 h 3549600"/>
              <a:gd name="connsiteX4" fmla="*/ 4792146 w 13782069"/>
              <a:gd name="connsiteY4" fmla="*/ 3192550 h 3549600"/>
              <a:gd name="connsiteX5" fmla="*/ 5865504 w 13782069"/>
              <a:gd name="connsiteY5" fmla="*/ 1450338 h 3549600"/>
              <a:gd name="connsiteX6" fmla="*/ 8449091 w 13782069"/>
              <a:gd name="connsiteY6" fmla="*/ 670244 h 3549600"/>
              <a:gd name="connsiteX7" fmla="*/ 9822938 w 13782069"/>
              <a:gd name="connsiteY7" fmla="*/ 1508918 h 3549600"/>
              <a:gd name="connsiteX8" fmla="*/ 8596348 w 13782069"/>
              <a:gd name="connsiteY8" fmla="*/ 2771445 h 3549600"/>
              <a:gd name="connsiteX9" fmla="*/ 10251983 w 13782069"/>
              <a:gd name="connsiteY9" fmla="*/ 3481307 h 3549600"/>
              <a:gd name="connsiteX10" fmla="*/ 13782069 w 13782069"/>
              <a:gd name="connsiteY10" fmla="*/ 2133772 h 3549600"/>
              <a:gd name="connsiteX0" fmla="*/ 0 w 13782069"/>
              <a:gd name="connsiteY0" fmla="*/ 1652509 h 3758856"/>
              <a:gd name="connsiteX1" fmla="*/ 2617829 w 13782069"/>
              <a:gd name="connsiteY1" fmla="*/ 4182 h 3758856"/>
              <a:gd name="connsiteX2" fmla="*/ 3676608 w 13782069"/>
              <a:gd name="connsiteY2" fmla="*/ 1207340 h 3758856"/>
              <a:gd name="connsiteX3" fmla="*/ 2408568 w 13782069"/>
              <a:gd name="connsiteY3" fmla="*/ 3024108 h 3758856"/>
              <a:gd name="connsiteX4" fmla="*/ 3898932 w 13782069"/>
              <a:gd name="connsiteY4" fmla="*/ 3687226 h 3758856"/>
              <a:gd name="connsiteX5" fmla="*/ 5865504 w 13782069"/>
              <a:gd name="connsiteY5" fmla="*/ 1450338 h 3758856"/>
              <a:gd name="connsiteX6" fmla="*/ 8449091 w 13782069"/>
              <a:gd name="connsiteY6" fmla="*/ 670244 h 3758856"/>
              <a:gd name="connsiteX7" fmla="*/ 9822938 w 13782069"/>
              <a:gd name="connsiteY7" fmla="*/ 1508918 h 3758856"/>
              <a:gd name="connsiteX8" fmla="*/ 8596348 w 13782069"/>
              <a:gd name="connsiteY8" fmla="*/ 2771445 h 3758856"/>
              <a:gd name="connsiteX9" fmla="*/ 10251983 w 13782069"/>
              <a:gd name="connsiteY9" fmla="*/ 3481307 h 3758856"/>
              <a:gd name="connsiteX10" fmla="*/ 13782069 w 13782069"/>
              <a:gd name="connsiteY10" fmla="*/ 2133772 h 3758856"/>
              <a:gd name="connsiteX0" fmla="*/ 0 w 13782069"/>
              <a:gd name="connsiteY0" fmla="*/ 1652509 h 3770183"/>
              <a:gd name="connsiteX1" fmla="*/ 2617829 w 13782069"/>
              <a:gd name="connsiteY1" fmla="*/ 4182 h 3770183"/>
              <a:gd name="connsiteX2" fmla="*/ 3676608 w 13782069"/>
              <a:gd name="connsiteY2" fmla="*/ 1207340 h 3770183"/>
              <a:gd name="connsiteX3" fmla="*/ 2408568 w 13782069"/>
              <a:gd name="connsiteY3" fmla="*/ 3024108 h 3770183"/>
              <a:gd name="connsiteX4" fmla="*/ 3898932 w 13782069"/>
              <a:gd name="connsiteY4" fmla="*/ 3687226 h 3770183"/>
              <a:gd name="connsiteX5" fmla="*/ 5865504 w 13782069"/>
              <a:gd name="connsiteY5" fmla="*/ 1450338 h 3770183"/>
              <a:gd name="connsiteX6" fmla="*/ 8449091 w 13782069"/>
              <a:gd name="connsiteY6" fmla="*/ 670244 h 3770183"/>
              <a:gd name="connsiteX7" fmla="*/ 9822938 w 13782069"/>
              <a:gd name="connsiteY7" fmla="*/ 1508918 h 3770183"/>
              <a:gd name="connsiteX8" fmla="*/ 8596348 w 13782069"/>
              <a:gd name="connsiteY8" fmla="*/ 2771445 h 3770183"/>
              <a:gd name="connsiteX9" fmla="*/ 10251983 w 13782069"/>
              <a:gd name="connsiteY9" fmla="*/ 3481307 h 3770183"/>
              <a:gd name="connsiteX10" fmla="*/ 13782069 w 13782069"/>
              <a:gd name="connsiteY10" fmla="*/ 2133772 h 3770183"/>
              <a:gd name="connsiteX0" fmla="*/ 0 w 13782069"/>
              <a:gd name="connsiteY0" fmla="*/ 1652509 h 3794117"/>
              <a:gd name="connsiteX1" fmla="*/ 2617829 w 13782069"/>
              <a:gd name="connsiteY1" fmla="*/ 4182 h 3794117"/>
              <a:gd name="connsiteX2" fmla="*/ 3676608 w 13782069"/>
              <a:gd name="connsiteY2" fmla="*/ 1207340 h 3794117"/>
              <a:gd name="connsiteX3" fmla="*/ 2408568 w 13782069"/>
              <a:gd name="connsiteY3" fmla="*/ 3024108 h 3794117"/>
              <a:gd name="connsiteX4" fmla="*/ 3898932 w 13782069"/>
              <a:gd name="connsiteY4" fmla="*/ 3687226 h 3794117"/>
              <a:gd name="connsiteX5" fmla="*/ 3770942 w 13782069"/>
              <a:gd name="connsiteY5" fmla="*/ 3554894 h 3794117"/>
              <a:gd name="connsiteX6" fmla="*/ 5865504 w 13782069"/>
              <a:gd name="connsiteY6" fmla="*/ 1450338 h 3794117"/>
              <a:gd name="connsiteX7" fmla="*/ 8449091 w 13782069"/>
              <a:gd name="connsiteY7" fmla="*/ 670244 h 3794117"/>
              <a:gd name="connsiteX8" fmla="*/ 9822938 w 13782069"/>
              <a:gd name="connsiteY8" fmla="*/ 1508918 h 3794117"/>
              <a:gd name="connsiteX9" fmla="*/ 8596348 w 13782069"/>
              <a:gd name="connsiteY9" fmla="*/ 2771445 h 3794117"/>
              <a:gd name="connsiteX10" fmla="*/ 10251983 w 13782069"/>
              <a:gd name="connsiteY10" fmla="*/ 3481307 h 3794117"/>
              <a:gd name="connsiteX11" fmla="*/ 13782069 w 13782069"/>
              <a:gd name="connsiteY11" fmla="*/ 2133772 h 3794117"/>
              <a:gd name="connsiteX0" fmla="*/ 0 w 13782069"/>
              <a:gd name="connsiteY0" fmla="*/ 1652509 h 3758856"/>
              <a:gd name="connsiteX1" fmla="*/ 2617829 w 13782069"/>
              <a:gd name="connsiteY1" fmla="*/ 4182 h 3758856"/>
              <a:gd name="connsiteX2" fmla="*/ 3676608 w 13782069"/>
              <a:gd name="connsiteY2" fmla="*/ 1207340 h 3758856"/>
              <a:gd name="connsiteX3" fmla="*/ 2408568 w 13782069"/>
              <a:gd name="connsiteY3" fmla="*/ 3024108 h 3758856"/>
              <a:gd name="connsiteX4" fmla="*/ 3898932 w 13782069"/>
              <a:gd name="connsiteY4" fmla="*/ 3687226 h 3758856"/>
              <a:gd name="connsiteX5" fmla="*/ 5865504 w 13782069"/>
              <a:gd name="connsiteY5" fmla="*/ 1450338 h 3758856"/>
              <a:gd name="connsiteX6" fmla="*/ 8449091 w 13782069"/>
              <a:gd name="connsiteY6" fmla="*/ 670244 h 3758856"/>
              <a:gd name="connsiteX7" fmla="*/ 9822938 w 13782069"/>
              <a:gd name="connsiteY7" fmla="*/ 1508918 h 3758856"/>
              <a:gd name="connsiteX8" fmla="*/ 8596348 w 13782069"/>
              <a:gd name="connsiteY8" fmla="*/ 2771445 h 3758856"/>
              <a:gd name="connsiteX9" fmla="*/ 10251983 w 13782069"/>
              <a:gd name="connsiteY9" fmla="*/ 3481307 h 3758856"/>
              <a:gd name="connsiteX10" fmla="*/ 13782069 w 13782069"/>
              <a:gd name="connsiteY10" fmla="*/ 2133772 h 3758856"/>
              <a:gd name="connsiteX0" fmla="*/ 0 w 13782069"/>
              <a:gd name="connsiteY0" fmla="*/ 1652509 h 3717648"/>
              <a:gd name="connsiteX1" fmla="*/ 2617829 w 13782069"/>
              <a:gd name="connsiteY1" fmla="*/ 4182 h 3717648"/>
              <a:gd name="connsiteX2" fmla="*/ 3676608 w 13782069"/>
              <a:gd name="connsiteY2" fmla="*/ 1207340 h 3717648"/>
              <a:gd name="connsiteX3" fmla="*/ 2408568 w 13782069"/>
              <a:gd name="connsiteY3" fmla="*/ 3024108 h 3717648"/>
              <a:gd name="connsiteX4" fmla="*/ 3794724 w 13782069"/>
              <a:gd name="connsiteY4" fmla="*/ 3642256 h 3717648"/>
              <a:gd name="connsiteX5" fmla="*/ 5865504 w 13782069"/>
              <a:gd name="connsiteY5" fmla="*/ 1450338 h 3717648"/>
              <a:gd name="connsiteX6" fmla="*/ 8449091 w 13782069"/>
              <a:gd name="connsiteY6" fmla="*/ 670244 h 3717648"/>
              <a:gd name="connsiteX7" fmla="*/ 9822938 w 13782069"/>
              <a:gd name="connsiteY7" fmla="*/ 1508918 h 3717648"/>
              <a:gd name="connsiteX8" fmla="*/ 8596348 w 13782069"/>
              <a:gd name="connsiteY8" fmla="*/ 2771445 h 3717648"/>
              <a:gd name="connsiteX9" fmla="*/ 10251983 w 13782069"/>
              <a:gd name="connsiteY9" fmla="*/ 3481307 h 3717648"/>
              <a:gd name="connsiteX10" fmla="*/ 13782069 w 13782069"/>
              <a:gd name="connsiteY10" fmla="*/ 2133772 h 3717648"/>
              <a:gd name="connsiteX0" fmla="*/ 0 w 13782069"/>
              <a:gd name="connsiteY0" fmla="*/ 1652509 h 3674295"/>
              <a:gd name="connsiteX1" fmla="*/ 2617829 w 13782069"/>
              <a:gd name="connsiteY1" fmla="*/ 4182 h 3674295"/>
              <a:gd name="connsiteX2" fmla="*/ 3676608 w 13782069"/>
              <a:gd name="connsiteY2" fmla="*/ 1207340 h 3674295"/>
              <a:gd name="connsiteX3" fmla="*/ 2408568 w 13782069"/>
              <a:gd name="connsiteY3" fmla="*/ 3024108 h 3674295"/>
              <a:gd name="connsiteX4" fmla="*/ 3794724 w 13782069"/>
              <a:gd name="connsiteY4" fmla="*/ 3642256 h 3674295"/>
              <a:gd name="connsiteX5" fmla="*/ 5865504 w 13782069"/>
              <a:gd name="connsiteY5" fmla="*/ 1450338 h 3674295"/>
              <a:gd name="connsiteX6" fmla="*/ 8449091 w 13782069"/>
              <a:gd name="connsiteY6" fmla="*/ 670244 h 3674295"/>
              <a:gd name="connsiteX7" fmla="*/ 9822938 w 13782069"/>
              <a:gd name="connsiteY7" fmla="*/ 1508918 h 3674295"/>
              <a:gd name="connsiteX8" fmla="*/ 8596348 w 13782069"/>
              <a:gd name="connsiteY8" fmla="*/ 2771445 h 3674295"/>
              <a:gd name="connsiteX9" fmla="*/ 10251983 w 13782069"/>
              <a:gd name="connsiteY9" fmla="*/ 3481307 h 3674295"/>
              <a:gd name="connsiteX10" fmla="*/ 13782069 w 13782069"/>
              <a:gd name="connsiteY10" fmla="*/ 2133772 h 3674295"/>
              <a:gd name="connsiteX0" fmla="*/ 0 w 13782069"/>
              <a:gd name="connsiteY0" fmla="*/ 1649325 h 3668858"/>
              <a:gd name="connsiteX1" fmla="*/ 2617829 w 13782069"/>
              <a:gd name="connsiteY1" fmla="*/ 998 h 3668858"/>
              <a:gd name="connsiteX2" fmla="*/ 3512852 w 13782069"/>
              <a:gd name="connsiteY2" fmla="*/ 1443998 h 3668858"/>
              <a:gd name="connsiteX3" fmla="*/ 2408568 w 13782069"/>
              <a:gd name="connsiteY3" fmla="*/ 3020924 h 3668858"/>
              <a:gd name="connsiteX4" fmla="*/ 3794724 w 13782069"/>
              <a:gd name="connsiteY4" fmla="*/ 3639072 h 3668858"/>
              <a:gd name="connsiteX5" fmla="*/ 5865504 w 13782069"/>
              <a:gd name="connsiteY5" fmla="*/ 1447154 h 3668858"/>
              <a:gd name="connsiteX6" fmla="*/ 8449091 w 13782069"/>
              <a:gd name="connsiteY6" fmla="*/ 667060 h 3668858"/>
              <a:gd name="connsiteX7" fmla="*/ 9822938 w 13782069"/>
              <a:gd name="connsiteY7" fmla="*/ 1505734 h 3668858"/>
              <a:gd name="connsiteX8" fmla="*/ 8596348 w 13782069"/>
              <a:gd name="connsiteY8" fmla="*/ 2768261 h 3668858"/>
              <a:gd name="connsiteX9" fmla="*/ 10251983 w 13782069"/>
              <a:gd name="connsiteY9" fmla="*/ 3478123 h 3668858"/>
              <a:gd name="connsiteX10" fmla="*/ 13782069 w 13782069"/>
              <a:gd name="connsiteY10" fmla="*/ 2130588 h 3668858"/>
              <a:gd name="connsiteX0" fmla="*/ 0 w 13782069"/>
              <a:gd name="connsiteY0" fmla="*/ 1649754 h 3669287"/>
              <a:gd name="connsiteX1" fmla="*/ 2617829 w 13782069"/>
              <a:gd name="connsiteY1" fmla="*/ 1427 h 3669287"/>
              <a:gd name="connsiteX2" fmla="*/ 3512852 w 13782069"/>
              <a:gd name="connsiteY2" fmla="*/ 1444427 h 3669287"/>
              <a:gd name="connsiteX3" fmla="*/ 2408568 w 13782069"/>
              <a:gd name="connsiteY3" fmla="*/ 3021353 h 3669287"/>
              <a:gd name="connsiteX4" fmla="*/ 3794724 w 13782069"/>
              <a:gd name="connsiteY4" fmla="*/ 3639501 h 3669287"/>
              <a:gd name="connsiteX5" fmla="*/ 5865504 w 13782069"/>
              <a:gd name="connsiteY5" fmla="*/ 1447583 h 3669287"/>
              <a:gd name="connsiteX6" fmla="*/ 8449091 w 13782069"/>
              <a:gd name="connsiteY6" fmla="*/ 667489 h 3669287"/>
              <a:gd name="connsiteX7" fmla="*/ 9822938 w 13782069"/>
              <a:gd name="connsiteY7" fmla="*/ 1506163 h 3669287"/>
              <a:gd name="connsiteX8" fmla="*/ 8596348 w 13782069"/>
              <a:gd name="connsiteY8" fmla="*/ 2768690 h 3669287"/>
              <a:gd name="connsiteX9" fmla="*/ 10251983 w 13782069"/>
              <a:gd name="connsiteY9" fmla="*/ 3478552 h 3669287"/>
              <a:gd name="connsiteX10" fmla="*/ 13782069 w 13782069"/>
              <a:gd name="connsiteY10" fmla="*/ 2131017 h 3669287"/>
              <a:gd name="connsiteX0" fmla="*/ 0 w 13782069"/>
              <a:gd name="connsiteY0" fmla="*/ 1652002 h 3672485"/>
              <a:gd name="connsiteX1" fmla="*/ 2617829 w 13782069"/>
              <a:gd name="connsiteY1" fmla="*/ 3675 h 3672485"/>
              <a:gd name="connsiteX2" fmla="*/ 3483079 w 13782069"/>
              <a:gd name="connsiteY2" fmla="*/ 1341744 h 3672485"/>
              <a:gd name="connsiteX3" fmla="*/ 2408568 w 13782069"/>
              <a:gd name="connsiteY3" fmla="*/ 3023601 h 3672485"/>
              <a:gd name="connsiteX4" fmla="*/ 3794724 w 13782069"/>
              <a:gd name="connsiteY4" fmla="*/ 3641749 h 3672485"/>
              <a:gd name="connsiteX5" fmla="*/ 5865504 w 13782069"/>
              <a:gd name="connsiteY5" fmla="*/ 1449831 h 3672485"/>
              <a:gd name="connsiteX6" fmla="*/ 8449091 w 13782069"/>
              <a:gd name="connsiteY6" fmla="*/ 669737 h 3672485"/>
              <a:gd name="connsiteX7" fmla="*/ 9822938 w 13782069"/>
              <a:gd name="connsiteY7" fmla="*/ 1508411 h 3672485"/>
              <a:gd name="connsiteX8" fmla="*/ 8596348 w 13782069"/>
              <a:gd name="connsiteY8" fmla="*/ 2770938 h 3672485"/>
              <a:gd name="connsiteX9" fmla="*/ 10251983 w 13782069"/>
              <a:gd name="connsiteY9" fmla="*/ 3480800 h 3672485"/>
              <a:gd name="connsiteX10" fmla="*/ 13782069 w 13782069"/>
              <a:gd name="connsiteY10" fmla="*/ 2133265 h 3672485"/>
              <a:gd name="connsiteX0" fmla="*/ 0 w 13782069"/>
              <a:gd name="connsiteY0" fmla="*/ 1654795 h 3675278"/>
              <a:gd name="connsiteX1" fmla="*/ 2617829 w 13782069"/>
              <a:gd name="connsiteY1" fmla="*/ 6468 h 3675278"/>
              <a:gd name="connsiteX2" fmla="*/ 3483079 w 13782069"/>
              <a:gd name="connsiteY2" fmla="*/ 1344537 h 3675278"/>
              <a:gd name="connsiteX3" fmla="*/ 2408568 w 13782069"/>
              <a:gd name="connsiteY3" fmla="*/ 3026394 h 3675278"/>
              <a:gd name="connsiteX4" fmla="*/ 3794724 w 13782069"/>
              <a:gd name="connsiteY4" fmla="*/ 3644542 h 3675278"/>
              <a:gd name="connsiteX5" fmla="*/ 5865504 w 13782069"/>
              <a:gd name="connsiteY5" fmla="*/ 1452624 h 3675278"/>
              <a:gd name="connsiteX6" fmla="*/ 8449091 w 13782069"/>
              <a:gd name="connsiteY6" fmla="*/ 672530 h 3675278"/>
              <a:gd name="connsiteX7" fmla="*/ 9822938 w 13782069"/>
              <a:gd name="connsiteY7" fmla="*/ 1511204 h 3675278"/>
              <a:gd name="connsiteX8" fmla="*/ 8596348 w 13782069"/>
              <a:gd name="connsiteY8" fmla="*/ 2773731 h 3675278"/>
              <a:gd name="connsiteX9" fmla="*/ 10251983 w 13782069"/>
              <a:gd name="connsiteY9" fmla="*/ 3483593 h 3675278"/>
              <a:gd name="connsiteX10" fmla="*/ 13782069 w 13782069"/>
              <a:gd name="connsiteY10" fmla="*/ 2136058 h 3675278"/>
              <a:gd name="connsiteX0" fmla="*/ 0 w 13782069"/>
              <a:gd name="connsiteY0" fmla="*/ 1650571 h 3752861"/>
              <a:gd name="connsiteX1" fmla="*/ 2617829 w 13782069"/>
              <a:gd name="connsiteY1" fmla="*/ 2244 h 3752861"/>
              <a:gd name="connsiteX2" fmla="*/ 3483079 w 13782069"/>
              <a:gd name="connsiteY2" fmla="*/ 1340313 h 3752861"/>
              <a:gd name="connsiteX3" fmla="*/ 2244812 w 13782069"/>
              <a:gd name="connsiteY3" fmla="*/ 3217043 h 3752861"/>
              <a:gd name="connsiteX4" fmla="*/ 3794724 w 13782069"/>
              <a:gd name="connsiteY4" fmla="*/ 3640318 h 3752861"/>
              <a:gd name="connsiteX5" fmla="*/ 5865504 w 13782069"/>
              <a:gd name="connsiteY5" fmla="*/ 1448400 h 3752861"/>
              <a:gd name="connsiteX6" fmla="*/ 8449091 w 13782069"/>
              <a:gd name="connsiteY6" fmla="*/ 668306 h 3752861"/>
              <a:gd name="connsiteX7" fmla="*/ 9822938 w 13782069"/>
              <a:gd name="connsiteY7" fmla="*/ 1506980 h 3752861"/>
              <a:gd name="connsiteX8" fmla="*/ 8596348 w 13782069"/>
              <a:gd name="connsiteY8" fmla="*/ 2769507 h 3752861"/>
              <a:gd name="connsiteX9" fmla="*/ 10251983 w 13782069"/>
              <a:gd name="connsiteY9" fmla="*/ 3479369 h 3752861"/>
              <a:gd name="connsiteX10" fmla="*/ 13782069 w 13782069"/>
              <a:gd name="connsiteY10" fmla="*/ 2131834 h 3752861"/>
              <a:gd name="connsiteX0" fmla="*/ 0 w 13782069"/>
              <a:gd name="connsiteY0" fmla="*/ 1650571 h 3855092"/>
              <a:gd name="connsiteX1" fmla="*/ 2617829 w 13782069"/>
              <a:gd name="connsiteY1" fmla="*/ 2244 h 3855092"/>
              <a:gd name="connsiteX2" fmla="*/ 3483079 w 13782069"/>
              <a:gd name="connsiteY2" fmla="*/ 1340313 h 3855092"/>
              <a:gd name="connsiteX3" fmla="*/ 2244812 w 13782069"/>
              <a:gd name="connsiteY3" fmla="*/ 3217043 h 3855092"/>
              <a:gd name="connsiteX4" fmla="*/ 3794724 w 13782069"/>
              <a:gd name="connsiteY4" fmla="*/ 3640318 h 3855092"/>
              <a:gd name="connsiteX5" fmla="*/ 5865504 w 13782069"/>
              <a:gd name="connsiteY5" fmla="*/ 1448400 h 3855092"/>
              <a:gd name="connsiteX6" fmla="*/ 8449091 w 13782069"/>
              <a:gd name="connsiteY6" fmla="*/ 668306 h 3855092"/>
              <a:gd name="connsiteX7" fmla="*/ 9822938 w 13782069"/>
              <a:gd name="connsiteY7" fmla="*/ 1506980 h 3855092"/>
              <a:gd name="connsiteX8" fmla="*/ 8596348 w 13782069"/>
              <a:gd name="connsiteY8" fmla="*/ 2769507 h 3855092"/>
              <a:gd name="connsiteX9" fmla="*/ 10251983 w 13782069"/>
              <a:gd name="connsiteY9" fmla="*/ 3479369 h 3855092"/>
              <a:gd name="connsiteX10" fmla="*/ 13782069 w 13782069"/>
              <a:gd name="connsiteY10" fmla="*/ 2131834 h 3855092"/>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822938 w 13782069"/>
              <a:gd name="connsiteY7" fmla="*/ 1508424 h 3856536"/>
              <a:gd name="connsiteX8" fmla="*/ 8596348 w 13782069"/>
              <a:gd name="connsiteY8" fmla="*/ 2770951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822938 w 13782069"/>
              <a:gd name="connsiteY7" fmla="*/ 1508424 h 3856536"/>
              <a:gd name="connsiteX8" fmla="*/ 8596348 w 13782069"/>
              <a:gd name="connsiteY8" fmla="*/ 2770951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822938 w 13782069"/>
              <a:gd name="connsiteY7" fmla="*/ 1508424 h 3856536"/>
              <a:gd name="connsiteX8" fmla="*/ 8596348 w 13782069"/>
              <a:gd name="connsiteY8" fmla="*/ 2770951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822938 w 13782069"/>
              <a:gd name="connsiteY7" fmla="*/ 1508424 h 3856536"/>
              <a:gd name="connsiteX8" fmla="*/ 8596348 w 13782069"/>
              <a:gd name="connsiteY8" fmla="*/ 2770951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822938 w 13782069"/>
              <a:gd name="connsiteY7" fmla="*/ 1508424 h 3856536"/>
              <a:gd name="connsiteX8" fmla="*/ 8596348 w 13782069"/>
              <a:gd name="connsiteY8" fmla="*/ 2770951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822938 w 13782069"/>
              <a:gd name="connsiteY7" fmla="*/ 1508424 h 3856536"/>
              <a:gd name="connsiteX8" fmla="*/ 8075306 w 13782069"/>
              <a:gd name="connsiteY8" fmla="*/ 3010794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822938 w 13782069"/>
              <a:gd name="connsiteY7" fmla="*/ 1508424 h 3856536"/>
              <a:gd name="connsiteX8" fmla="*/ 8075306 w 13782069"/>
              <a:gd name="connsiteY8" fmla="*/ 3010794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748503 w 13782069"/>
              <a:gd name="connsiteY7" fmla="*/ 1508424 h 3856536"/>
              <a:gd name="connsiteX8" fmla="*/ 8075306 w 13782069"/>
              <a:gd name="connsiteY8" fmla="*/ 3010794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010794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010794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295607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295607 h 3856536"/>
              <a:gd name="connsiteX9" fmla="*/ 10251983 w 13782069"/>
              <a:gd name="connsiteY9" fmla="*/ 3480813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295607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295607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295607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927146 w 13782069"/>
              <a:gd name="connsiteY7" fmla="*/ 1463454 h 3856536"/>
              <a:gd name="connsiteX8" fmla="*/ 8075306 w 13782069"/>
              <a:gd name="connsiteY8" fmla="*/ 3295607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197688 w 13782069"/>
              <a:gd name="connsiteY7" fmla="*/ 1808227 h 3856536"/>
              <a:gd name="connsiteX8" fmla="*/ 8075306 w 13782069"/>
              <a:gd name="connsiteY8" fmla="*/ 3295607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9197688 w 13782069"/>
              <a:gd name="connsiteY7" fmla="*/ 1808227 h 3856536"/>
              <a:gd name="connsiteX8" fmla="*/ 8075306 w 13782069"/>
              <a:gd name="connsiteY8" fmla="*/ 3295607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8840402 w 13782069"/>
              <a:gd name="connsiteY7" fmla="*/ 2257932 h 3856536"/>
              <a:gd name="connsiteX8" fmla="*/ 8075306 w 13782069"/>
              <a:gd name="connsiteY8" fmla="*/ 3295607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8840402 w 13782069"/>
              <a:gd name="connsiteY7" fmla="*/ 2257932 h 3856536"/>
              <a:gd name="connsiteX8" fmla="*/ 7316075 w 13782069"/>
              <a:gd name="connsiteY8" fmla="*/ 3520460 h 3856536"/>
              <a:gd name="connsiteX9" fmla="*/ 11055876 w 13782069"/>
              <a:gd name="connsiteY9" fmla="*/ 3315922 h 3856536"/>
              <a:gd name="connsiteX10" fmla="*/ 13782069 w 13782069"/>
              <a:gd name="connsiteY10" fmla="*/ 2133278 h 3856536"/>
              <a:gd name="connsiteX0" fmla="*/ 0 w 13782069"/>
              <a:gd name="connsiteY0" fmla="*/ 1652015 h 3983361"/>
              <a:gd name="connsiteX1" fmla="*/ 2617829 w 13782069"/>
              <a:gd name="connsiteY1" fmla="*/ 3688 h 3983361"/>
              <a:gd name="connsiteX2" fmla="*/ 3483079 w 13782069"/>
              <a:gd name="connsiteY2" fmla="*/ 1341757 h 3983361"/>
              <a:gd name="connsiteX3" fmla="*/ 2244812 w 13782069"/>
              <a:gd name="connsiteY3" fmla="*/ 3218487 h 3983361"/>
              <a:gd name="connsiteX4" fmla="*/ 3794724 w 13782069"/>
              <a:gd name="connsiteY4" fmla="*/ 3641762 h 3983361"/>
              <a:gd name="connsiteX5" fmla="*/ 5865504 w 13782069"/>
              <a:gd name="connsiteY5" fmla="*/ 1449844 h 3983361"/>
              <a:gd name="connsiteX6" fmla="*/ 8449091 w 13782069"/>
              <a:gd name="connsiteY6" fmla="*/ 669750 h 3983361"/>
              <a:gd name="connsiteX7" fmla="*/ 8840402 w 13782069"/>
              <a:gd name="connsiteY7" fmla="*/ 2257932 h 3983361"/>
              <a:gd name="connsiteX8" fmla="*/ 7316075 w 13782069"/>
              <a:gd name="connsiteY8" fmla="*/ 3520460 h 3983361"/>
              <a:gd name="connsiteX9" fmla="*/ 11055876 w 13782069"/>
              <a:gd name="connsiteY9" fmla="*/ 3315922 h 3983361"/>
              <a:gd name="connsiteX10" fmla="*/ 13782069 w 13782069"/>
              <a:gd name="connsiteY10" fmla="*/ 2133278 h 3983361"/>
              <a:gd name="connsiteX0" fmla="*/ 0 w 13782069"/>
              <a:gd name="connsiteY0" fmla="*/ 1652015 h 3948460"/>
              <a:gd name="connsiteX1" fmla="*/ 2617829 w 13782069"/>
              <a:gd name="connsiteY1" fmla="*/ 3688 h 3948460"/>
              <a:gd name="connsiteX2" fmla="*/ 3483079 w 13782069"/>
              <a:gd name="connsiteY2" fmla="*/ 1341757 h 3948460"/>
              <a:gd name="connsiteX3" fmla="*/ 2244812 w 13782069"/>
              <a:gd name="connsiteY3" fmla="*/ 3218487 h 3948460"/>
              <a:gd name="connsiteX4" fmla="*/ 3794724 w 13782069"/>
              <a:gd name="connsiteY4" fmla="*/ 3641762 h 3948460"/>
              <a:gd name="connsiteX5" fmla="*/ 5865504 w 13782069"/>
              <a:gd name="connsiteY5" fmla="*/ 1449844 h 3948460"/>
              <a:gd name="connsiteX6" fmla="*/ 8449091 w 13782069"/>
              <a:gd name="connsiteY6" fmla="*/ 669750 h 3948460"/>
              <a:gd name="connsiteX7" fmla="*/ 8840402 w 13782069"/>
              <a:gd name="connsiteY7" fmla="*/ 2257932 h 3948460"/>
              <a:gd name="connsiteX8" fmla="*/ 7524492 w 13782069"/>
              <a:gd name="connsiteY8" fmla="*/ 3460499 h 3948460"/>
              <a:gd name="connsiteX9" fmla="*/ 11055876 w 13782069"/>
              <a:gd name="connsiteY9" fmla="*/ 3315922 h 3948460"/>
              <a:gd name="connsiteX10" fmla="*/ 13782069 w 13782069"/>
              <a:gd name="connsiteY10" fmla="*/ 2133278 h 3948460"/>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449091 w 13782069"/>
              <a:gd name="connsiteY6" fmla="*/ 669750 h 3856536"/>
              <a:gd name="connsiteX7" fmla="*/ 8974385 w 13782069"/>
              <a:gd name="connsiteY7" fmla="*/ 1928149 h 3856536"/>
              <a:gd name="connsiteX8" fmla="*/ 7524492 w 13782069"/>
              <a:gd name="connsiteY8" fmla="*/ 3460499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225787 w 13782069"/>
              <a:gd name="connsiteY6" fmla="*/ 699730 h 3856536"/>
              <a:gd name="connsiteX7" fmla="*/ 8974385 w 13782069"/>
              <a:gd name="connsiteY7" fmla="*/ 1928149 h 3856536"/>
              <a:gd name="connsiteX8" fmla="*/ 7524492 w 13782069"/>
              <a:gd name="connsiteY8" fmla="*/ 3460499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225787 w 13782069"/>
              <a:gd name="connsiteY6" fmla="*/ 699730 h 3856536"/>
              <a:gd name="connsiteX7" fmla="*/ 8974385 w 13782069"/>
              <a:gd name="connsiteY7" fmla="*/ 1928149 h 3856536"/>
              <a:gd name="connsiteX8" fmla="*/ 7524492 w 13782069"/>
              <a:gd name="connsiteY8" fmla="*/ 3460499 h 3856536"/>
              <a:gd name="connsiteX9" fmla="*/ 11055876 w 13782069"/>
              <a:gd name="connsiteY9" fmla="*/ 3315922 h 3856536"/>
              <a:gd name="connsiteX10" fmla="*/ 13782069 w 13782069"/>
              <a:gd name="connsiteY10" fmla="*/ 2133278 h 3856536"/>
              <a:gd name="connsiteX0" fmla="*/ 0 w 13782069"/>
              <a:gd name="connsiteY0" fmla="*/ 1652015 h 3995536"/>
              <a:gd name="connsiteX1" fmla="*/ 2617829 w 13782069"/>
              <a:gd name="connsiteY1" fmla="*/ 3688 h 3995536"/>
              <a:gd name="connsiteX2" fmla="*/ 3483079 w 13782069"/>
              <a:gd name="connsiteY2" fmla="*/ 1341757 h 3995536"/>
              <a:gd name="connsiteX3" fmla="*/ 2244812 w 13782069"/>
              <a:gd name="connsiteY3" fmla="*/ 3218487 h 3995536"/>
              <a:gd name="connsiteX4" fmla="*/ 3794724 w 13782069"/>
              <a:gd name="connsiteY4" fmla="*/ 3641762 h 3995536"/>
              <a:gd name="connsiteX5" fmla="*/ 5865504 w 13782069"/>
              <a:gd name="connsiteY5" fmla="*/ 1449844 h 3995536"/>
              <a:gd name="connsiteX6" fmla="*/ 8225787 w 13782069"/>
              <a:gd name="connsiteY6" fmla="*/ 699730 h 3995536"/>
              <a:gd name="connsiteX7" fmla="*/ 8974385 w 13782069"/>
              <a:gd name="connsiteY7" fmla="*/ 1928149 h 3995536"/>
              <a:gd name="connsiteX8" fmla="*/ 7524492 w 13782069"/>
              <a:gd name="connsiteY8" fmla="*/ 3460499 h 3995536"/>
              <a:gd name="connsiteX9" fmla="*/ 11055876 w 13782069"/>
              <a:gd name="connsiteY9" fmla="*/ 3315922 h 3995536"/>
              <a:gd name="connsiteX10" fmla="*/ 13782069 w 13782069"/>
              <a:gd name="connsiteY10" fmla="*/ 2133278 h 3995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225787 w 13782069"/>
              <a:gd name="connsiteY6" fmla="*/ 699730 h 3856536"/>
              <a:gd name="connsiteX7" fmla="*/ 8974385 w 13782069"/>
              <a:gd name="connsiteY7" fmla="*/ 1928149 h 3856536"/>
              <a:gd name="connsiteX8" fmla="*/ 7643587 w 13782069"/>
              <a:gd name="connsiteY8" fmla="*/ 3010794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225787 w 13782069"/>
              <a:gd name="connsiteY6" fmla="*/ 699730 h 3856536"/>
              <a:gd name="connsiteX7" fmla="*/ 9123254 w 13782069"/>
              <a:gd name="connsiteY7" fmla="*/ 1673316 h 3856536"/>
              <a:gd name="connsiteX8" fmla="*/ 7643587 w 13782069"/>
              <a:gd name="connsiteY8" fmla="*/ 3010794 h 3856536"/>
              <a:gd name="connsiteX9" fmla="*/ 11055876 w 13782069"/>
              <a:gd name="connsiteY9" fmla="*/ 3315922 h 3856536"/>
              <a:gd name="connsiteX10" fmla="*/ 13782069 w 13782069"/>
              <a:gd name="connsiteY10"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225787 w 13782069"/>
              <a:gd name="connsiteY6" fmla="*/ 699730 h 3856536"/>
              <a:gd name="connsiteX7" fmla="*/ 7643587 w 13782069"/>
              <a:gd name="connsiteY7" fmla="*/ 3010794 h 3856536"/>
              <a:gd name="connsiteX8" fmla="*/ 11055876 w 13782069"/>
              <a:gd name="connsiteY8" fmla="*/ 3315922 h 3856536"/>
              <a:gd name="connsiteX9" fmla="*/ 13782069 w 13782069"/>
              <a:gd name="connsiteY9"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225787 w 13782069"/>
              <a:gd name="connsiteY6" fmla="*/ 699730 h 3856536"/>
              <a:gd name="connsiteX7" fmla="*/ 7643587 w 13782069"/>
              <a:gd name="connsiteY7" fmla="*/ 3010794 h 3856536"/>
              <a:gd name="connsiteX8" fmla="*/ 11055876 w 13782069"/>
              <a:gd name="connsiteY8" fmla="*/ 3315922 h 3856536"/>
              <a:gd name="connsiteX9" fmla="*/ 13782069 w 13782069"/>
              <a:gd name="connsiteY9"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821264 w 13782069"/>
              <a:gd name="connsiteY6" fmla="*/ 864621 h 3856536"/>
              <a:gd name="connsiteX7" fmla="*/ 7643587 w 13782069"/>
              <a:gd name="connsiteY7" fmla="*/ 3010794 h 3856536"/>
              <a:gd name="connsiteX8" fmla="*/ 11055876 w 13782069"/>
              <a:gd name="connsiteY8" fmla="*/ 3315922 h 3856536"/>
              <a:gd name="connsiteX9" fmla="*/ 13782069 w 13782069"/>
              <a:gd name="connsiteY9"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8821264 w 13782069"/>
              <a:gd name="connsiteY6" fmla="*/ 864621 h 3856536"/>
              <a:gd name="connsiteX7" fmla="*/ 7643587 w 13782069"/>
              <a:gd name="connsiteY7" fmla="*/ 3010794 h 3856536"/>
              <a:gd name="connsiteX8" fmla="*/ 11055876 w 13782069"/>
              <a:gd name="connsiteY8" fmla="*/ 3315922 h 3856536"/>
              <a:gd name="connsiteX9" fmla="*/ 13782069 w 13782069"/>
              <a:gd name="connsiteY9" fmla="*/ 2133278 h 3856536"/>
              <a:gd name="connsiteX0" fmla="*/ 0 w 13782069"/>
              <a:gd name="connsiteY0" fmla="*/ 1652015 h 3875946"/>
              <a:gd name="connsiteX1" fmla="*/ 2617829 w 13782069"/>
              <a:gd name="connsiteY1" fmla="*/ 3688 h 3875946"/>
              <a:gd name="connsiteX2" fmla="*/ 3483079 w 13782069"/>
              <a:gd name="connsiteY2" fmla="*/ 1341757 h 3875946"/>
              <a:gd name="connsiteX3" fmla="*/ 2244812 w 13782069"/>
              <a:gd name="connsiteY3" fmla="*/ 3218487 h 3875946"/>
              <a:gd name="connsiteX4" fmla="*/ 3794724 w 13782069"/>
              <a:gd name="connsiteY4" fmla="*/ 3641762 h 3875946"/>
              <a:gd name="connsiteX5" fmla="*/ 5865504 w 13782069"/>
              <a:gd name="connsiteY5" fmla="*/ 1449844 h 3875946"/>
              <a:gd name="connsiteX6" fmla="*/ 8821264 w 13782069"/>
              <a:gd name="connsiteY6" fmla="*/ 864621 h 3875946"/>
              <a:gd name="connsiteX7" fmla="*/ 7643587 w 13782069"/>
              <a:gd name="connsiteY7" fmla="*/ 3010794 h 3875946"/>
              <a:gd name="connsiteX8" fmla="*/ 11055876 w 13782069"/>
              <a:gd name="connsiteY8" fmla="*/ 3315922 h 3875946"/>
              <a:gd name="connsiteX9" fmla="*/ 13782069 w 13782069"/>
              <a:gd name="connsiteY9" fmla="*/ 2133278 h 387594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7347461 w 13782069"/>
              <a:gd name="connsiteY6" fmla="*/ 1036251 h 3856536"/>
              <a:gd name="connsiteX7" fmla="*/ 7643587 w 13782069"/>
              <a:gd name="connsiteY7" fmla="*/ 3010794 h 3856536"/>
              <a:gd name="connsiteX8" fmla="*/ 11055876 w 13782069"/>
              <a:gd name="connsiteY8" fmla="*/ 3315922 h 3856536"/>
              <a:gd name="connsiteX9" fmla="*/ 13782069 w 13782069"/>
              <a:gd name="connsiteY9" fmla="*/ 2133278 h 3856536"/>
              <a:gd name="connsiteX0" fmla="*/ 0 w 13782069"/>
              <a:gd name="connsiteY0" fmla="*/ 1652015 h 3856536"/>
              <a:gd name="connsiteX1" fmla="*/ 2617829 w 13782069"/>
              <a:gd name="connsiteY1" fmla="*/ 3688 h 3856536"/>
              <a:gd name="connsiteX2" fmla="*/ 3483079 w 13782069"/>
              <a:gd name="connsiteY2" fmla="*/ 1341757 h 3856536"/>
              <a:gd name="connsiteX3" fmla="*/ 2244812 w 13782069"/>
              <a:gd name="connsiteY3" fmla="*/ 3218487 h 3856536"/>
              <a:gd name="connsiteX4" fmla="*/ 3794724 w 13782069"/>
              <a:gd name="connsiteY4" fmla="*/ 3641762 h 3856536"/>
              <a:gd name="connsiteX5" fmla="*/ 5865504 w 13782069"/>
              <a:gd name="connsiteY5" fmla="*/ 1449844 h 3856536"/>
              <a:gd name="connsiteX6" fmla="*/ 7347461 w 13782069"/>
              <a:gd name="connsiteY6" fmla="*/ 1036251 h 3856536"/>
              <a:gd name="connsiteX7" fmla="*/ 7643587 w 13782069"/>
              <a:gd name="connsiteY7" fmla="*/ 3010794 h 3856536"/>
              <a:gd name="connsiteX8" fmla="*/ 11055876 w 13782069"/>
              <a:gd name="connsiteY8" fmla="*/ 3315922 h 3856536"/>
              <a:gd name="connsiteX9" fmla="*/ 13782069 w 13782069"/>
              <a:gd name="connsiteY9" fmla="*/ 2133278 h 3856536"/>
              <a:gd name="connsiteX0" fmla="*/ 0 w 13782069"/>
              <a:gd name="connsiteY0" fmla="*/ 1652015 h 3811734"/>
              <a:gd name="connsiteX1" fmla="*/ 2617829 w 13782069"/>
              <a:gd name="connsiteY1" fmla="*/ 3688 h 3811734"/>
              <a:gd name="connsiteX2" fmla="*/ 3483079 w 13782069"/>
              <a:gd name="connsiteY2" fmla="*/ 1341757 h 3811734"/>
              <a:gd name="connsiteX3" fmla="*/ 2244812 w 13782069"/>
              <a:gd name="connsiteY3" fmla="*/ 3218487 h 3811734"/>
              <a:gd name="connsiteX4" fmla="*/ 3794724 w 13782069"/>
              <a:gd name="connsiteY4" fmla="*/ 3641762 h 3811734"/>
              <a:gd name="connsiteX5" fmla="*/ 5344464 w 13782069"/>
              <a:gd name="connsiteY5" fmla="*/ 2093455 h 3811734"/>
              <a:gd name="connsiteX6" fmla="*/ 7347461 w 13782069"/>
              <a:gd name="connsiteY6" fmla="*/ 1036251 h 3811734"/>
              <a:gd name="connsiteX7" fmla="*/ 7643587 w 13782069"/>
              <a:gd name="connsiteY7" fmla="*/ 3010794 h 3811734"/>
              <a:gd name="connsiteX8" fmla="*/ 11055876 w 13782069"/>
              <a:gd name="connsiteY8" fmla="*/ 3315922 h 3811734"/>
              <a:gd name="connsiteX9" fmla="*/ 13782069 w 13782069"/>
              <a:gd name="connsiteY9" fmla="*/ 2133278 h 3811734"/>
              <a:gd name="connsiteX0" fmla="*/ 0 w 13782069"/>
              <a:gd name="connsiteY0" fmla="*/ 1652015 h 3885798"/>
              <a:gd name="connsiteX1" fmla="*/ 2617829 w 13782069"/>
              <a:gd name="connsiteY1" fmla="*/ 3688 h 3885798"/>
              <a:gd name="connsiteX2" fmla="*/ 3483079 w 13782069"/>
              <a:gd name="connsiteY2" fmla="*/ 1341757 h 3885798"/>
              <a:gd name="connsiteX3" fmla="*/ 2244812 w 13782069"/>
              <a:gd name="connsiteY3" fmla="*/ 3218487 h 3885798"/>
              <a:gd name="connsiteX4" fmla="*/ 3794724 w 13782069"/>
              <a:gd name="connsiteY4" fmla="*/ 3641762 h 3885798"/>
              <a:gd name="connsiteX5" fmla="*/ 7347461 w 13782069"/>
              <a:gd name="connsiteY5" fmla="*/ 1036251 h 3885798"/>
              <a:gd name="connsiteX6" fmla="*/ 7643587 w 13782069"/>
              <a:gd name="connsiteY6" fmla="*/ 3010794 h 3885798"/>
              <a:gd name="connsiteX7" fmla="*/ 11055876 w 13782069"/>
              <a:gd name="connsiteY7" fmla="*/ 3315922 h 3885798"/>
              <a:gd name="connsiteX8" fmla="*/ 13782069 w 13782069"/>
              <a:gd name="connsiteY8" fmla="*/ 2133278 h 3885798"/>
              <a:gd name="connsiteX0" fmla="*/ 0 w 13782069"/>
              <a:gd name="connsiteY0" fmla="*/ 1652015 h 3903128"/>
              <a:gd name="connsiteX1" fmla="*/ 2617829 w 13782069"/>
              <a:gd name="connsiteY1" fmla="*/ 3688 h 3903128"/>
              <a:gd name="connsiteX2" fmla="*/ 3483079 w 13782069"/>
              <a:gd name="connsiteY2" fmla="*/ 1341757 h 3903128"/>
              <a:gd name="connsiteX3" fmla="*/ 2244812 w 13782069"/>
              <a:gd name="connsiteY3" fmla="*/ 3218487 h 3903128"/>
              <a:gd name="connsiteX4" fmla="*/ 3794724 w 13782069"/>
              <a:gd name="connsiteY4" fmla="*/ 3641762 h 3903128"/>
              <a:gd name="connsiteX5" fmla="*/ 6409587 w 13782069"/>
              <a:gd name="connsiteY5" fmla="*/ 793109 h 3903128"/>
              <a:gd name="connsiteX6" fmla="*/ 7643587 w 13782069"/>
              <a:gd name="connsiteY6" fmla="*/ 3010794 h 3903128"/>
              <a:gd name="connsiteX7" fmla="*/ 11055876 w 13782069"/>
              <a:gd name="connsiteY7" fmla="*/ 3315922 h 3903128"/>
              <a:gd name="connsiteX8" fmla="*/ 13782069 w 13782069"/>
              <a:gd name="connsiteY8" fmla="*/ 2133278 h 3903128"/>
              <a:gd name="connsiteX0" fmla="*/ 0 w 13782069"/>
              <a:gd name="connsiteY0" fmla="*/ 1652015 h 3903128"/>
              <a:gd name="connsiteX1" fmla="*/ 2617829 w 13782069"/>
              <a:gd name="connsiteY1" fmla="*/ 3688 h 3903128"/>
              <a:gd name="connsiteX2" fmla="*/ 3483079 w 13782069"/>
              <a:gd name="connsiteY2" fmla="*/ 1341757 h 3903128"/>
              <a:gd name="connsiteX3" fmla="*/ 2244812 w 13782069"/>
              <a:gd name="connsiteY3" fmla="*/ 3218487 h 3903128"/>
              <a:gd name="connsiteX4" fmla="*/ 3794724 w 13782069"/>
              <a:gd name="connsiteY4" fmla="*/ 3641762 h 3903128"/>
              <a:gd name="connsiteX5" fmla="*/ 6409587 w 13782069"/>
              <a:gd name="connsiteY5" fmla="*/ 793109 h 3903128"/>
              <a:gd name="connsiteX6" fmla="*/ 7643587 w 13782069"/>
              <a:gd name="connsiteY6" fmla="*/ 3010794 h 3903128"/>
              <a:gd name="connsiteX7" fmla="*/ 11055876 w 13782069"/>
              <a:gd name="connsiteY7" fmla="*/ 3315922 h 3903128"/>
              <a:gd name="connsiteX8" fmla="*/ 13782069 w 13782069"/>
              <a:gd name="connsiteY8" fmla="*/ 2133278 h 3903128"/>
              <a:gd name="connsiteX0" fmla="*/ 0 w 13782069"/>
              <a:gd name="connsiteY0" fmla="*/ 1652015 h 3903128"/>
              <a:gd name="connsiteX1" fmla="*/ 2617829 w 13782069"/>
              <a:gd name="connsiteY1" fmla="*/ 3688 h 3903128"/>
              <a:gd name="connsiteX2" fmla="*/ 3483079 w 13782069"/>
              <a:gd name="connsiteY2" fmla="*/ 1341757 h 3903128"/>
              <a:gd name="connsiteX3" fmla="*/ 2244812 w 13782069"/>
              <a:gd name="connsiteY3" fmla="*/ 3218487 h 3903128"/>
              <a:gd name="connsiteX4" fmla="*/ 3794724 w 13782069"/>
              <a:gd name="connsiteY4" fmla="*/ 3641762 h 3903128"/>
              <a:gd name="connsiteX5" fmla="*/ 6409587 w 13782069"/>
              <a:gd name="connsiteY5" fmla="*/ 793109 h 3903128"/>
              <a:gd name="connsiteX6" fmla="*/ 7643587 w 13782069"/>
              <a:gd name="connsiteY6" fmla="*/ 3010794 h 3903128"/>
              <a:gd name="connsiteX7" fmla="*/ 11055876 w 13782069"/>
              <a:gd name="connsiteY7" fmla="*/ 3315922 h 3903128"/>
              <a:gd name="connsiteX8" fmla="*/ 13782069 w 13782069"/>
              <a:gd name="connsiteY8" fmla="*/ 2133278 h 3903128"/>
              <a:gd name="connsiteX0" fmla="*/ 0 w 13782069"/>
              <a:gd name="connsiteY0" fmla="*/ 1652015 h 3903128"/>
              <a:gd name="connsiteX1" fmla="*/ 2617829 w 13782069"/>
              <a:gd name="connsiteY1" fmla="*/ 3688 h 3903128"/>
              <a:gd name="connsiteX2" fmla="*/ 3483079 w 13782069"/>
              <a:gd name="connsiteY2" fmla="*/ 1341757 h 3903128"/>
              <a:gd name="connsiteX3" fmla="*/ 2244812 w 13782069"/>
              <a:gd name="connsiteY3" fmla="*/ 3218487 h 3903128"/>
              <a:gd name="connsiteX4" fmla="*/ 3794724 w 13782069"/>
              <a:gd name="connsiteY4" fmla="*/ 3641762 h 3903128"/>
              <a:gd name="connsiteX5" fmla="*/ 6409587 w 13782069"/>
              <a:gd name="connsiteY5" fmla="*/ 793109 h 3903128"/>
              <a:gd name="connsiteX6" fmla="*/ 8134855 w 13782069"/>
              <a:gd name="connsiteY6" fmla="*/ 3168121 h 3903128"/>
              <a:gd name="connsiteX7" fmla="*/ 11055876 w 13782069"/>
              <a:gd name="connsiteY7" fmla="*/ 3315922 h 3903128"/>
              <a:gd name="connsiteX8" fmla="*/ 13782069 w 13782069"/>
              <a:gd name="connsiteY8" fmla="*/ 2133278 h 3903128"/>
              <a:gd name="connsiteX0" fmla="*/ 0 w 13782069"/>
              <a:gd name="connsiteY0" fmla="*/ 1652015 h 3903128"/>
              <a:gd name="connsiteX1" fmla="*/ 2617829 w 13782069"/>
              <a:gd name="connsiteY1" fmla="*/ 3688 h 3903128"/>
              <a:gd name="connsiteX2" fmla="*/ 3483079 w 13782069"/>
              <a:gd name="connsiteY2" fmla="*/ 1341757 h 3903128"/>
              <a:gd name="connsiteX3" fmla="*/ 2244812 w 13782069"/>
              <a:gd name="connsiteY3" fmla="*/ 3218487 h 3903128"/>
              <a:gd name="connsiteX4" fmla="*/ 3794724 w 13782069"/>
              <a:gd name="connsiteY4" fmla="*/ 3641762 h 3903128"/>
              <a:gd name="connsiteX5" fmla="*/ 6409587 w 13782069"/>
              <a:gd name="connsiteY5" fmla="*/ 793109 h 3903128"/>
              <a:gd name="connsiteX6" fmla="*/ 8134855 w 13782069"/>
              <a:gd name="connsiteY6" fmla="*/ 3168121 h 3903128"/>
              <a:gd name="connsiteX7" fmla="*/ 11055876 w 13782069"/>
              <a:gd name="connsiteY7" fmla="*/ 3315922 h 3903128"/>
              <a:gd name="connsiteX8" fmla="*/ 13782069 w 13782069"/>
              <a:gd name="connsiteY8" fmla="*/ 2133278 h 3903128"/>
              <a:gd name="connsiteX0" fmla="*/ 0 w 13782069"/>
              <a:gd name="connsiteY0" fmla="*/ 1652015 h 3903128"/>
              <a:gd name="connsiteX1" fmla="*/ 2617829 w 13782069"/>
              <a:gd name="connsiteY1" fmla="*/ 3688 h 3903128"/>
              <a:gd name="connsiteX2" fmla="*/ 3483079 w 13782069"/>
              <a:gd name="connsiteY2" fmla="*/ 1341757 h 3903128"/>
              <a:gd name="connsiteX3" fmla="*/ 2244812 w 13782069"/>
              <a:gd name="connsiteY3" fmla="*/ 3218487 h 3903128"/>
              <a:gd name="connsiteX4" fmla="*/ 3794724 w 13782069"/>
              <a:gd name="connsiteY4" fmla="*/ 3641762 h 3903128"/>
              <a:gd name="connsiteX5" fmla="*/ 6409587 w 13782069"/>
              <a:gd name="connsiteY5" fmla="*/ 793109 h 3903128"/>
              <a:gd name="connsiteX6" fmla="*/ 8134855 w 13782069"/>
              <a:gd name="connsiteY6" fmla="*/ 3168121 h 3903128"/>
              <a:gd name="connsiteX7" fmla="*/ 11562031 w 13782069"/>
              <a:gd name="connsiteY7" fmla="*/ 1971493 h 3903128"/>
              <a:gd name="connsiteX8" fmla="*/ 13782069 w 13782069"/>
              <a:gd name="connsiteY8" fmla="*/ 2133278 h 3903128"/>
              <a:gd name="connsiteX0" fmla="*/ 0 w 11562031"/>
              <a:gd name="connsiteY0" fmla="*/ 1652015 h 3903128"/>
              <a:gd name="connsiteX1" fmla="*/ 2617829 w 11562031"/>
              <a:gd name="connsiteY1" fmla="*/ 3688 h 3903128"/>
              <a:gd name="connsiteX2" fmla="*/ 3483079 w 11562031"/>
              <a:gd name="connsiteY2" fmla="*/ 1341757 h 3903128"/>
              <a:gd name="connsiteX3" fmla="*/ 2244812 w 11562031"/>
              <a:gd name="connsiteY3" fmla="*/ 3218487 h 3903128"/>
              <a:gd name="connsiteX4" fmla="*/ 3794724 w 11562031"/>
              <a:gd name="connsiteY4" fmla="*/ 3641762 h 3903128"/>
              <a:gd name="connsiteX5" fmla="*/ 6409587 w 11562031"/>
              <a:gd name="connsiteY5" fmla="*/ 793109 h 3903128"/>
              <a:gd name="connsiteX6" fmla="*/ 8134855 w 11562031"/>
              <a:gd name="connsiteY6" fmla="*/ 3168121 h 3903128"/>
              <a:gd name="connsiteX7" fmla="*/ 11562031 w 11562031"/>
              <a:gd name="connsiteY7" fmla="*/ 1971493 h 3903128"/>
              <a:gd name="connsiteX0" fmla="*/ 0 w 12678548"/>
              <a:gd name="connsiteY0" fmla="*/ 1652015 h 3903128"/>
              <a:gd name="connsiteX1" fmla="*/ 2617829 w 12678548"/>
              <a:gd name="connsiteY1" fmla="*/ 3688 h 3903128"/>
              <a:gd name="connsiteX2" fmla="*/ 3483079 w 12678548"/>
              <a:gd name="connsiteY2" fmla="*/ 1341757 h 3903128"/>
              <a:gd name="connsiteX3" fmla="*/ 2244812 w 12678548"/>
              <a:gd name="connsiteY3" fmla="*/ 3218487 h 3903128"/>
              <a:gd name="connsiteX4" fmla="*/ 3794724 w 12678548"/>
              <a:gd name="connsiteY4" fmla="*/ 3641762 h 3903128"/>
              <a:gd name="connsiteX5" fmla="*/ 6409587 w 12678548"/>
              <a:gd name="connsiteY5" fmla="*/ 793109 h 3903128"/>
              <a:gd name="connsiteX6" fmla="*/ 8134855 w 12678548"/>
              <a:gd name="connsiteY6" fmla="*/ 3168121 h 3903128"/>
              <a:gd name="connsiteX7" fmla="*/ 12678548 w 12678548"/>
              <a:gd name="connsiteY7" fmla="*/ 1385093 h 3903128"/>
              <a:gd name="connsiteX0" fmla="*/ 0 w 12678548"/>
              <a:gd name="connsiteY0" fmla="*/ 1652015 h 3879702"/>
              <a:gd name="connsiteX1" fmla="*/ 2617829 w 12678548"/>
              <a:gd name="connsiteY1" fmla="*/ 3688 h 3879702"/>
              <a:gd name="connsiteX2" fmla="*/ 3483079 w 12678548"/>
              <a:gd name="connsiteY2" fmla="*/ 1341757 h 3879702"/>
              <a:gd name="connsiteX3" fmla="*/ 2244812 w 12678548"/>
              <a:gd name="connsiteY3" fmla="*/ 3218487 h 3879702"/>
              <a:gd name="connsiteX4" fmla="*/ 3794724 w 12678548"/>
              <a:gd name="connsiteY4" fmla="*/ 3641762 h 3879702"/>
              <a:gd name="connsiteX5" fmla="*/ 6379814 w 12678548"/>
              <a:gd name="connsiteY5" fmla="*/ 1122065 h 3879702"/>
              <a:gd name="connsiteX6" fmla="*/ 8134855 w 12678548"/>
              <a:gd name="connsiteY6" fmla="*/ 3168121 h 3879702"/>
              <a:gd name="connsiteX7" fmla="*/ 12678548 w 12678548"/>
              <a:gd name="connsiteY7" fmla="*/ 1385093 h 3879702"/>
              <a:gd name="connsiteX0" fmla="*/ 0 w 12678548"/>
              <a:gd name="connsiteY0" fmla="*/ 1652015 h 3879702"/>
              <a:gd name="connsiteX1" fmla="*/ 2617829 w 12678548"/>
              <a:gd name="connsiteY1" fmla="*/ 3688 h 3879702"/>
              <a:gd name="connsiteX2" fmla="*/ 3483079 w 12678548"/>
              <a:gd name="connsiteY2" fmla="*/ 1341757 h 3879702"/>
              <a:gd name="connsiteX3" fmla="*/ 2244812 w 12678548"/>
              <a:gd name="connsiteY3" fmla="*/ 3218487 h 3879702"/>
              <a:gd name="connsiteX4" fmla="*/ 3794724 w 12678548"/>
              <a:gd name="connsiteY4" fmla="*/ 3641762 h 3879702"/>
              <a:gd name="connsiteX5" fmla="*/ 6379814 w 12678548"/>
              <a:gd name="connsiteY5" fmla="*/ 1122065 h 3879702"/>
              <a:gd name="connsiteX6" fmla="*/ 8134855 w 12678548"/>
              <a:gd name="connsiteY6" fmla="*/ 3168121 h 3879702"/>
              <a:gd name="connsiteX7" fmla="*/ 12678548 w 12678548"/>
              <a:gd name="connsiteY7" fmla="*/ 1385093 h 3879702"/>
              <a:gd name="connsiteX0" fmla="*/ 0 w 12678548"/>
              <a:gd name="connsiteY0" fmla="*/ 1652015 h 3873618"/>
              <a:gd name="connsiteX1" fmla="*/ 2617829 w 12678548"/>
              <a:gd name="connsiteY1" fmla="*/ 3688 h 3873618"/>
              <a:gd name="connsiteX2" fmla="*/ 3483079 w 12678548"/>
              <a:gd name="connsiteY2" fmla="*/ 1341757 h 3873618"/>
              <a:gd name="connsiteX3" fmla="*/ 2244812 w 12678548"/>
              <a:gd name="connsiteY3" fmla="*/ 3218487 h 3873618"/>
              <a:gd name="connsiteX4" fmla="*/ 3794724 w 12678548"/>
              <a:gd name="connsiteY4" fmla="*/ 3641762 h 3873618"/>
              <a:gd name="connsiteX5" fmla="*/ 6811533 w 12678548"/>
              <a:gd name="connsiteY5" fmla="*/ 1207880 h 3873618"/>
              <a:gd name="connsiteX6" fmla="*/ 8134855 w 12678548"/>
              <a:gd name="connsiteY6" fmla="*/ 3168121 h 3873618"/>
              <a:gd name="connsiteX7" fmla="*/ 12678548 w 12678548"/>
              <a:gd name="connsiteY7" fmla="*/ 1385093 h 3873618"/>
              <a:gd name="connsiteX0" fmla="*/ 0 w 12678548"/>
              <a:gd name="connsiteY0" fmla="*/ 1652015 h 3873618"/>
              <a:gd name="connsiteX1" fmla="*/ 2617829 w 12678548"/>
              <a:gd name="connsiteY1" fmla="*/ 3688 h 3873618"/>
              <a:gd name="connsiteX2" fmla="*/ 3483079 w 12678548"/>
              <a:gd name="connsiteY2" fmla="*/ 1341757 h 3873618"/>
              <a:gd name="connsiteX3" fmla="*/ 2244812 w 12678548"/>
              <a:gd name="connsiteY3" fmla="*/ 3218487 h 3873618"/>
              <a:gd name="connsiteX4" fmla="*/ 3794724 w 12678548"/>
              <a:gd name="connsiteY4" fmla="*/ 3641762 h 3873618"/>
              <a:gd name="connsiteX5" fmla="*/ 6811533 w 12678548"/>
              <a:gd name="connsiteY5" fmla="*/ 1207880 h 3873618"/>
              <a:gd name="connsiteX6" fmla="*/ 9296034 w 12678548"/>
              <a:gd name="connsiteY6" fmla="*/ 2939282 h 3873618"/>
              <a:gd name="connsiteX7" fmla="*/ 12678548 w 12678548"/>
              <a:gd name="connsiteY7" fmla="*/ 1385093 h 3873618"/>
              <a:gd name="connsiteX0" fmla="*/ 0 w 12678548"/>
              <a:gd name="connsiteY0" fmla="*/ 1166123 h 3387726"/>
              <a:gd name="connsiteX1" fmla="*/ 2111674 w 12678548"/>
              <a:gd name="connsiteY1" fmla="*/ 4079 h 3387726"/>
              <a:gd name="connsiteX2" fmla="*/ 3483079 w 12678548"/>
              <a:gd name="connsiteY2" fmla="*/ 855865 h 3387726"/>
              <a:gd name="connsiteX3" fmla="*/ 2244812 w 12678548"/>
              <a:gd name="connsiteY3" fmla="*/ 2732595 h 3387726"/>
              <a:gd name="connsiteX4" fmla="*/ 3794724 w 12678548"/>
              <a:gd name="connsiteY4" fmla="*/ 3155870 h 3387726"/>
              <a:gd name="connsiteX5" fmla="*/ 6811533 w 12678548"/>
              <a:gd name="connsiteY5" fmla="*/ 721988 h 3387726"/>
              <a:gd name="connsiteX6" fmla="*/ 9296034 w 12678548"/>
              <a:gd name="connsiteY6" fmla="*/ 2453390 h 3387726"/>
              <a:gd name="connsiteX7" fmla="*/ 12678548 w 12678548"/>
              <a:gd name="connsiteY7" fmla="*/ 899201 h 3387726"/>
              <a:gd name="connsiteX0" fmla="*/ 0 w 13497328"/>
              <a:gd name="connsiteY0" fmla="*/ 1431291 h 3395450"/>
              <a:gd name="connsiteX1" fmla="*/ 2930454 w 13497328"/>
              <a:gd name="connsiteY1" fmla="*/ 11803 h 3395450"/>
              <a:gd name="connsiteX2" fmla="*/ 4301859 w 13497328"/>
              <a:gd name="connsiteY2" fmla="*/ 863589 h 3395450"/>
              <a:gd name="connsiteX3" fmla="*/ 3063592 w 13497328"/>
              <a:gd name="connsiteY3" fmla="*/ 2740319 h 3395450"/>
              <a:gd name="connsiteX4" fmla="*/ 4613504 w 13497328"/>
              <a:gd name="connsiteY4" fmla="*/ 3163594 h 3395450"/>
              <a:gd name="connsiteX5" fmla="*/ 7630313 w 13497328"/>
              <a:gd name="connsiteY5" fmla="*/ 729712 h 3395450"/>
              <a:gd name="connsiteX6" fmla="*/ 10114814 w 13497328"/>
              <a:gd name="connsiteY6" fmla="*/ 2461114 h 3395450"/>
              <a:gd name="connsiteX7" fmla="*/ 13497328 w 13497328"/>
              <a:gd name="connsiteY7" fmla="*/ 906925 h 3395450"/>
              <a:gd name="connsiteX0" fmla="*/ 0 w 13497328"/>
              <a:gd name="connsiteY0" fmla="*/ 1403191 h 3367350"/>
              <a:gd name="connsiteX1" fmla="*/ 2707150 w 13497328"/>
              <a:gd name="connsiteY1" fmla="*/ 12308 h 3367350"/>
              <a:gd name="connsiteX2" fmla="*/ 4301859 w 13497328"/>
              <a:gd name="connsiteY2" fmla="*/ 835489 h 3367350"/>
              <a:gd name="connsiteX3" fmla="*/ 3063592 w 13497328"/>
              <a:gd name="connsiteY3" fmla="*/ 2712219 h 3367350"/>
              <a:gd name="connsiteX4" fmla="*/ 4613504 w 13497328"/>
              <a:gd name="connsiteY4" fmla="*/ 3135494 h 3367350"/>
              <a:gd name="connsiteX5" fmla="*/ 7630313 w 13497328"/>
              <a:gd name="connsiteY5" fmla="*/ 701612 h 3367350"/>
              <a:gd name="connsiteX6" fmla="*/ 10114814 w 13497328"/>
              <a:gd name="connsiteY6" fmla="*/ 2433014 h 3367350"/>
              <a:gd name="connsiteX7" fmla="*/ 13497328 w 13497328"/>
              <a:gd name="connsiteY7" fmla="*/ 878825 h 3367350"/>
              <a:gd name="connsiteX0" fmla="*/ 0 w 13497328"/>
              <a:gd name="connsiteY0" fmla="*/ 1434721 h 3398880"/>
              <a:gd name="connsiteX1" fmla="*/ 2707150 w 13497328"/>
              <a:gd name="connsiteY1" fmla="*/ 43838 h 3398880"/>
              <a:gd name="connsiteX2" fmla="*/ 4301859 w 13497328"/>
              <a:gd name="connsiteY2" fmla="*/ 867019 h 3398880"/>
              <a:gd name="connsiteX3" fmla="*/ 3063592 w 13497328"/>
              <a:gd name="connsiteY3" fmla="*/ 2743749 h 3398880"/>
              <a:gd name="connsiteX4" fmla="*/ 4613504 w 13497328"/>
              <a:gd name="connsiteY4" fmla="*/ 3167024 h 3398880"/>
              <a:gd name="connsiteX5" fmla="*/ 7630313 w 13497328"/>
              <a:gd name="connsiteY5" fmla="*/ 733142 h 3398880"/>
              <a:gd name="connsiteX6" fmla="*/ 10114814 w 13497328"/>
              <a:gd name="connsiteY6" fmla="*/ 2464544 h 3398880"/>
              <a:gd name="connsiteX7" fmla="*/ 13497328 w 13497328"/>
              <a:gd name="connsiteY7" fmla="*/ 910355 h 3398880"/>
              <a:gd name="connsiteX0" fmla="*/ 0 w 13497328"/>
              <a:gd name="connsiteY0" fmla="*/ 1442689 h 3406848"/>
              <a:gd name="connsiteX1" fmla="*/ 2707150 w 13497328"/>
              <a:gd name="connsiteY1" fmla="*/ 51806 h 3406848"/>
              <a:gd name="connsiteX2" fmla="*/ 4301859 w 13497328"/>
              <a:gd name="connsiteY2" fmla="*/ 874987 h 3406848"/>
              <a:gd name="connsiteX3" fmla="*/ 3063592 w 13497328"/>
              <a:gd name="connsiteY3" fmla="*/ 2751717 h 3406848"/>
              <a:gd name="connsiteX4" fmla="*/ 4613504 w 13497328"/>
              <a:gd name="connsiteY4" fmla="*/ 3174992 h 3406848"/>
              <a:gd name="connsiteX5" fmla="*/ 7630313 w 13497328"/>
              <a:gd name="connsiteY5" fmla="*/ 741110 h 3406848"/>
              <a:gd name="connsiteX6" fmla="*/ 10114814 w 13497328"/>
              <a:gd name="connsiteY6" fmla="*/ 2472512 h 3406848"/>
              <a:gd name="connsiteX7" fmla="*/ 13497328 w 13497328"/>
              <a:gd name="connsiteY7" fmla="*/ 918323 h 3406848"/>
              <a:gd name="connsiteX0" fmla="*/ 0 w 13646197"/>
              <a:gd name="connsiteY0" fmla="*/ 1811586 h 3775745"/>
              <a:gd name="connsiteX1" fmla="*/ 2707150 w 13646197"/>
              <a:gd name="connsiteY1" fmla="*/ 420703 h 3775745"/>
              <a:gd name="connsiteX2" fmla="*/ 4301859 w 13646197"/>
              <a:gd name="connsiteY2" fmla="*/ 1243884 h 3775745"/>
              <a:gd name="connsiteX3" fmla="*/ 3063592 w 13646197"/>
              <a:gd name="connsiteY3" fmla="*/ 3120614 h 3775745"/>
              <a:gd name="connsiteX4" fmla="*/ 4613504 w 13646197"/>
              <a:gd name="connsiteY4" fmla="*/ 3543889 h 3775745"/>
              <a:gd name="connsiteX5" fmla="*/ 7630313 w 13646197"/>
              <a:gd name="connsiteY5" fmla="*/ 1110007 h 3775745"/>
              <a:gd name="connsiteX6" fmla="*/ 10114814 w 13646197"/>
              <a:gd name="connsiteY6" fmla="*/ 2841409 h 3775745"/>
              <a:gd name="connsiteX7" fmla="*/ 13646197 w 13646197"/>
              <a:gd name="connsiteY7" fmla="*/ 0 h 3775745"/>
              <a:gd name="connsiteX0" fmla="*/ 0 w 13646197"/>
              <a:gd name="connsiteY0" fmla="*/ 1811586 h 3775745"/>
              <a:gd name="connsiteX1" fmla="*/ 2707150 w 13646197"/>
              <a:gd name="connsiteY1" fmla="*/ 420703 h 3775745"/>
              <a:gd name="connsiteX2" fmla="*/ 4301859 w 13646197"/>
              <a:gd name="connsiteY2" fmla="*/ 1243884 h 3775745"/>
              <a:gd name="connsiteX3" fmla="*/ 3063592 w 13646197"/>
              <a:gd name="connsiteY3" fmla="*/ 3120614 h 3775745"/>
              <a:gd name="connsiteX4" fmla="*/ 4613504 w 13646197"/>
              <a:gd name="connsiteY4" fmla="*/ 3543889 h 3775745"/>
              <a:gd name="connsiteX5" fmla="*/ 7630313 w 13646197"/>
              <a:gd name="connsiteY5" fmla="*/ 1110007 h 3775745"/>
              <a:gd name="connsiteX6" fmla="*/ 10114814 w 13646197"/>
              <a:gd name="connsiteY6" fmla="*/ 2841409 h 3775745"/>
              <a:gd name="connsiteX7" fmla="*/ 13646197 w 13646197"/>
              <a:gd name="connsiteY7" fmla="*/ 0 h 3775745"/>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30313 w 13646197"/>
              <a:gd name="connsiteY5" fmla="*/ 1110007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30313 w 13646197"/>
              <a:gd name="connsiteY5" fmla="*/ 1110007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30313 w 13646197"/>
              <a:gd name="connsiteY5" fmla="*/ 1110007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30313 w 13646197"/>
              <a:gd name="connsiteY5" fmla="*/ 1110007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30313 w 13646197"/>
              <a:gd name="connsiteY5" fmla="*/ 1110007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30313 w 13646197"/>
              <a:gd name="connsiteY5" fmla="*/ 1110007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30313 w 13646197"/>
              <a:gd name="connsiteY5" fmla="*/ 1110007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80866 w 13646197"/>
              <a:gd name="connsiteY5" fmla="*/ 1114992 h 3721290"/>
              <a:gd name="connsiteX6" fmla="*/ 10114814 w 13646197"/>
              <a:gd name="connsiteY6" fmla="*/ 2841409 h 3721290"/>
              <a:gd name="connsiteX7" fmla="*/ 13646197 w 13646197"/>
              <a:gd name="connsiteY7" fmla="*/ 0 h 3721290"/>
              <a:gd name="connsiteX0" fmla="*/ 0 w 13646197"/>
              <a:gd name="connsiteY0" fmla="*/ 1811586 h 3721290"/>
              <a:gd name="connsiteX1" fmla="*/ 2707150 w 13646197"/>
              <a:gd name="connsiteY1" fmla="*/ 420703 h 3721290"/>
              <a:gd name="connsiteX2" fmla="*/ 4301859 w 13646197"/>
              <a:gd name="connsiteY2" fmla="*/ 1243884 h 3721290"/>
              <a:gd name="connsiteX3" fmla="*/ 3063592 w 13646197"/>
              <a:gd name="connsiteY3" fmla="*/ 3120614 h 3721290"/>
              <a:gd name="connsiteX4" fmla="*/ 4613504 w 13646197"/>
              <a:gd name="connsiteY4" fmla="*/ 3543889 h 3721290"/>
              <a:gd name="connsiteX5" fmla="*/ 7680866 w 13646197"/>
              <a:gd name="connsiteY5" fmla="*/ 1114992 h 3721290"/>
              <a:gd name="connsiteX6" fmla="*/ 10114814 w 13646197"/>
              <a:gd name="connsiteY6" fmla="*/ 2841409 h 3721290"/>
              <a:gd name="connsiteX7" fmla="*/ 13646197 w 13646197"/>
              <a:gd name="connsiteY7" fmla="*/ 0 h 3721290"/>
              <a:gd name="connsiteX0" fmla="*/ 0 w 13646197"/>
              <a:gd name="connsiteY0" fmla="*/ 1811586 h 3710311"/>
              <a:gd name="connsiteX1" fmla="*/ 2707150 w 13646197"/>
              <a:gd name="connsiteY1" fmla="*/ 420703 h 3710311"/>
              <a:gd name="connsiteX2" fmla="*/ 4301859 w 13646197"/>
              <a:gd name="connsiteY2" fmla="*/ 1243884 h 3710311"/>
              <a:gd name="connsiteX3" fmla="*/ 3063592 w 13646197"/>
              <a:gd name="connsiteY3" fmla="*/ 3120614 h 3710311"/>
              <a:gd name="connsiteX4" fmla="*/ 4613504 w 13646197"/>
              <a:gd name="connsiteY4" fmla="*/ 3543889 h 3710311"/>
              <a:gd name="connsiteX5" fmla="*/ 7680866 w 13646197"/>
              <a:gd name="connsiteY5" fmla="*/ 1114992 h 3710311"/>
              <a:gd name="connsiteX6" fmla="*/ 10114814 w 13646197"/>
              <a:gd name="connsiteY6" fmla="*/ 2841409 h 3710311"/>
              <a:gd name="connsiteX7" fmla="*/ 13646197 w 13646197"/>
              <a:gd name="connsiteY7" fmla="*/ 0 h 3710311"/>
              <a:gd name="connsiteX0" fmla="*/ 0 w 13646197"/>
              <a:gd name="connsiteY0" fmla="*/ 1811586 h 3725951"/>
              <a:gd name="connsiteX1" fmla="*/ 2707150 w 13646197"/>
              <a:gd name="connsiteY1" fmla="*/ 420703 h 3725951"/>
              <a:gd name="connsiteX2" fmla="*/ 4301859 w 13646197"/>
              <a:gd name="connsiteY2" fmla="*/ 1243884 h 3725951"/>
              <a:gd name="connsiteX3" fmla="*/ 3063592 w 13646197"/>
              <a:gd name="connsiteY3" fmla="*/ 3120614 h 3725951"/>
              <a:gd name="connsiteX4" fmla="*/ 4613504 w 13646197"/>
              <a:gd name="connsiteY4" fmla="*/ 3543889 h 3725951"/>
              <a:gd name="connsiteX5" fmla="*/ 7680866 w 13646197"/>
              <a:gd name="connsiteY5" fmla="*/ 1114992 h 3725951"/>
              <a:gd name="connsiteX6" fmla="*/ 10114814 w 13646197"/>
              <a:gd name="connsiteY6" fmla="*/ 2841409 h 3725951"/>
              <a:gd name="connsiteX7" fmla="*/ 13646197 w 13646197"/>
              <a:gd name="connsiteY7" fmla="*/ 0 h 372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46197" h="3725951">
                <a:moveTo>
                  <a:pt x="0" y="1811586"/>
                </a:moveTo>
                <a:cubicBezTo>
                  <a:pt x="488282" y="1319294"/>
                  <a:pt x="1439359" y="629740"/>
                  <a:pt x="2707150" y="420703"/>
                </a:cubicBezTo>
                <a:cubicBezTo>
                  <a:pt x="3974941" y="211666"/>
                  <a:pt x="4406208" y="665177"/>
                  <a:pt x="4301859" y="1243884"/>
                </a:cubicBezTo>
                <a:cubicBezTo>
                  <a:pt x="4197510" y="1822591"/>
                  <a:pt x="2974023" y="2256032"/>
                  <a:pt x="3063592" y="3120614"/>
                </a:cubicBezTo>
                <a:cubicBezTo>
                  <a:pt x="3153161" y="3985196"/>
                  <a:pt x="4309229" y="3722775"/>
                  <a:pt x="4613504" y="3543889"/>
                </a:cubicBezTo>
                <a:cubicBezTo>
                  <a:pt x="5193010" y="3198817"/>
                  <a:pt x="6938107" y="1107433"/>
                  <a:pt x="7680866" y="1114992"/>
                </a:cubicBezTo>
                <a:cubicBezTo>
                  <a:pt x="8423625" y="1122551"/>
                  <a:pt x="9112167" y="3026410"/>
                  <a:pt x="10114814" y="2841409"/>
                </a:cubicBezTo>
                <a:cubicBezTo>
                  <a:pt x="11117461" y="2656408"/>
                  <a:pt x="11233672" y="750856"/>
                  <a:pt x="13646197" y="0"/>
                </a:cubicBezTo>
              </a:path>
            </a:pathLst>
          </a:custGeom>
          <a:noFill/>
          <a:ln w="19050" cap="flat" cmpd="sng" algn="ctr">
            <a:solidFill>
              <a:schemeClr val="bg1">
                <a:lumMod val="65000"/>
              </a:schemeClr>
            </a:solidFill>
            <a:prstDash val="solid"/>
            <a:headEnd type="none" w="med" len="med"/>
            <a:tailEnd type="none" w="med" len="med"/>
          </a:ln>
          <a:effectLst/>
        </p:spPr>
        <p:txBody>
          <a:bodyPr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107">
              <a:defRPr/>
            </a:pPr>
            <a:endParaRPr lang="en-US" sz="1764" kern="0">
              <a:solidFill>
                <a:srgbClr val="FFFFFF"/>
              </a:solidFill>
              <a:latin typeface="Segoe UI"/>
            </a:endParaRPr>
          </a:p>
        </p:txBody>
      </p:sp>
      <p:sp>
        <p:nvSpPr>
          <p:cNvPr id="30" name="Rectangle 29">
            <a:extLst>
              <a:ext uri="{FF2B5EF4-FFF2-40B4-BE49-F238E27FC236}">
                <a16:creationId xmlns:a16="http://schemas.microsoft.com/office/drawing/2014/main" id="{FFECB05E-F74E-4657-9E0A-7711545BA1FA}"/>
              </a:ext>
            </a:extLst>
          </p:cNvPr>
          <p:cNvSpPr/>
          <p:nvPr/>
        </p:nvSpPr>
        <p:spPr>
          <a:xfrm>
            <a:off x="149567" y="1078873"/>
            <a:ext cx="1110889" cy="816570"/>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fontAlgn="base">
              <a:lnSpc>
                <a:spcPct val="90000"/>
              </a:lnSpc>
              <a:spcBef>
                <a:spcPct val="0"/>
              </a:spcBef>
              <a:spcAft>
                <a:spcPct val="0"/>
              </a:spcAft>
              <a:defRPr/>
            </a:pPr>
            <a:r>
              <a:rPr lang="en-US" sz="1179" dirty="0">
                <a:solidFill>
                  <a:srgbClr val="505050"/>
                </a:solidFill>
                <a:latin typeface="Segoe UI Semibold"/>
                <a:ea typeface="Segoe UI" pitchFamily="34" charset="0"/>
                <a:cs typeface="Segoe UI Semibold"/>
              </a:rPr>
              <a:t>client teams have proposition training and talk to client</a:t>
            </a:r>
          </a:p>
        </p:txBody>
      </p:sp>
      <p:sp>
        <p:nvSpPr>
          <p:cNvPr id="31" name="Rectangle 30">
            <a:extLst>
              <a:ext uri="{FF2B5EF4-FFF2-40B4-BE49-F238E27FC236}">
                <a16:creationId xmlns:a16="http://schemas.microsoft.com/office/drawing/2014/main" id="{8EFC3666-BB60-4B01-B162-01AACA85D15E}"/>
              </a:ext>
            </a:extLst>
          </p:cNvPr>
          <p:cNvSpPr/>
          <p:nvPr/>
        </p:nvSpPr>
        <p:spPr>
          <a:xfrm>
            <a:off x="3951801" y="3453573"/>
            <a:ext cx="1474790" cy="166199"/>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a:lnSpc>
                <a:spcPct val="90000"/>
              </a:lnSpc>
              <a:spcBef>
                <a:spcPct val="0"/>
              </a:spcBef>
              <a:spcAft>
                <a:spcPct val="0"/>
              </a:spcAft>
              <a:defRPr/>
            </a:pPr>
            <a:r>
              <a:rPr lang="en-US" sz="1200" dirty="0">
                <a:solidFill>
                  <a:srgbClr val="505050"/>
                </a:solidFill>
                <a:latin typeface="Segoe UI Semibold"/>
                <a:cs typeface="Segoe UI Semibold"/>
              </a:rPr>
              <a:t>TBA</a:t>
            </a:r>
            <a:endParaRPr lang="en-US" dirty="0"/>
          </a:p>
        </p:txBody>
      </p:sp>
      <p:sp>
        <p:nvSpPr>
          <p:cNvPr id="34" name="Rectangle 33">
            <a:extLst>
              <a:ext uri="{FF2B5EF4-FFF2-40B4-BE49-F238E27FC236}">
                <a16:creationId xmlns:a16="http://schemas.microsoft.com/office/drawing/2014/main" id="{27C7B4AB-DF70-4D31-AB22-8DB8106FBAF6}"/>
              </a:ext>
            </a:extLst>
          </p:cNvPr>
          <p:cNvSpPr/>
          <p:nvPr/>
        </p:nvSpPr>
        <p:spPr>
          <a:xfrm>
            <a:off x="9563251" y="2399333"/>
            <a:ext cx="1576481" cy="332399"/>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fontAlgn="base">
              <a:lnSpc>
                <a:spcPct val="90000"/>
              </a:lnSpc>
              <a:spcBef>
                <a:spcPct val="0"/>
              </a:spcBef>
              <a:spcAft>
                <a:spcPct val="0"/>
              </a:spcAft>
              <a:defRPr/>
            </a:pPr>
            <a:r>
              <a:rPr lang="en-US" sz="1200">
                <a:solidFill>
                  <a:srgbClr val="505050"/>
                </a:solidFill>
                <a:latin typeface="Segoe UI Semibold" panose="020B0702040204020203" pitchFamily="34" charset="0"/>
                <a:ea typeface="Segoe UI" pitchFamily="34" charset="0"/>
                <a:cs typeface="Segoe UI Semibold" panose="020B0702040204020203" pitchFamily="34" charset="0"/>
              </a:rPr>
              <a:t>Pilot testing with selected audience.</a:t>
            </a:r>
          </a:p>
        </p:txBody>
      </p:sp>
      <p:sp>
        <p:nvSpPr>
          <p:cNvPr id="35" name="Rectangle 34">
            <a:extLst>
              <a:ext uri="{FF2B5EF4-FFF2-40B4-BE49-F238E27FC236}">
                <a16:creationId xmlns:a16="http://schemas.microsoft.com/office/drawing/2014/main" id="{3852AF15-53A1-4D49-B464-E96EEF221A60}"/>
              </a:ext>
            </a:extLst>
          </p:cNvPr>
          <p:cNvSpPr/>
          <p:nvPr/>
        </p:nvSpPr>
        <p:spPr>
          <a:xfrm>
            <a:off x="2363468" y="662302"/>
            <a:ext cx="1920729" cy="66479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fontAlgn="base">
              <a:lnSpc>
                <a:spcPct val="90000"/>
              </a:lnSpc>
              <a:spcBef>
                <a:spcPct val="0"/>
              </a:spcBef>
              <a:spcAft>
                <a:spcPct val="0"/>
              </a:spcAft>
              <a:defRPr/>
            </a:pPr>
            <a:r>
              <a:rPr lang="en-US" sz="1200" dirty="0">
                <a:solidFill>
                  <a:srgbClr val="505050"/>
                </a:solidFill>
                <a:latin typeface="Segoe UI Semibold" panose="020B0702040204020203" pitchFamily="34" charset="0"/>
                <a:ea typeface="Segoe UI" pitchFamily="34" charset="0"/>
                <a:cs typeface="Segoe UI Semibold" panose="020B0702040204020203" pitchFamily="34" charset="0"/>
              </a:rPr>
              <a:t>Client interest fulfilled via external facing version of readiness material  and then requires workshop</a:t>
            </a:r>
          </a:p>
        </p:txBody>
      </p:sp>
      <p:sp>
        <p:nvSpPr>
          <p:cNvPr id="36" name="Rectangle 35">
            <a:extLst>
              <a:ext uri="{FF2B5EF4-FFF2-40B4-BE49-F238E27FC236}">
                <a16:creationId xmlns:a16="http://schemas.microsoft.com/office/drawing/2014/main" id="{AD17787B-3409-4093-A8E8-3DBB32E0593C}"/>
              </a:ext>
            </a:extLst>
          </p:cNvPr>
          <p:cNvSpPr/>
          <p:nvPr/>
        </p:nvSpPr>
        <p:spPr>
          <a:xfrm>
            <a:off x="9038928" y="1144336"/>
            <a:ext cx="1918631" cy="332399"/>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3844" fontAlgn="base">
              <a:lnSpc>
                <a:spcPct val="90000"/>
              </a:lnSpc>
              <a:spcBef>
                <a:spcPct val="0"/>
              </a:spcBef>
              <a:spcAft>
                <a:spcPct val="0"/>
              </a:spcAft>
              <a:defRPr/>
            </a:pPr>
            <a:r>
              <a:rPr lang="en-US" sz="1200" dirty="0">
                <a:solidFill>
                  <a:srgbClr val="505050"/>
                </a:solidFill>
                <a:latin typeface="Segoe UI Semibold" panose="020B0702040204020203" pitchFamily="34" charset="0"/>
                <a:ea typeface="Segoe UI" pitchFamily="34" charset="0"/>
                <a:cs typeface="Segoe UI Semibold" panose="020B0702040204020203" pitchFamily="34" charset="0"/>
              </a:rPr>
              <a:t>Agreement in place  &amp; Client onboarded</a:t>
            </a:r>
          </a:p>
        </p:txBody>
      </p:sp>
      <p:sp>
        <p:nvSpPr>
          <p:cNvPr id="37" name="Oval 7">
            <a:extLst>
              <a:ext uri="{FF2B5EF4-FFF2-40B4-BE49-F238E27FC236}">
                <a16:creationId xmlns:a16="http://schemas.microsoft.com/office/drawing/2014/main" id="{D509B295-A0D5-4928-91E0-8576D8238D8E}"/>
              </a:ext>
            </a:extLst>
          </p:cNvPr>
          <p:cNvSpPr/>
          <p:nvPr/>
        </p:nvSpPr>
        <p:spPr bwMode="auto">
          <a:xfrm>
            <a:off x="10421890" y="1513375"/>
            <a:ext cx="273680" cy="313244"/>
          </a:xfrm>
          <a:custGeom>
            <a:avLst/>
            <a:gdLst/>
            <a:ahLst/>
            <a:cxnLst/>
            <a:rect l="l" t="t" r="r" b="b"/>
            <a:pathLst>
              <a:path w="3761569" h="4698279">
                <a:moveTo>
                  <a:pt x="2744640" y="4327290"/>
                </a:moveTo>
                <a:lnTo>
                  <a:pt x="2744640" y="4373009"/>
                </a:lnTo>
                <a:lnTo>
                  <a:pt x="3413573" y="4373009"/>
                </a:lnTo>
                <a:lnTo>
                  <a:pt x="3413573" y="4327290"/>
                </a:lnTo>
                <a:close/>
                <a:moveTo>
                  <a:pt x="3185242" y="4155069"/>
                </a:moveTo>
                <a:cubicBezTo>
                  <a:pt x="3175182" y="4185064"/>
                  <a:pt x="3147777" y="4205833"/>
                  <a:pt x="3116180" y="4207411"/>
                </a:cubicBezTo>
                <a:cubicBezTo>
                  <a:pt x="3084584" y="4208988"/>
                  <a:pt x="3055246" y="4191051"/>
                  <a:pt x="3042247" y="4162210"/>
                </a:cubicBezTo>
                <a:close/>
                <a:moveTo>
                  <a:pt x="3063353" y="4072889"/>
                </a:moveTo>
                <a:lnTo>
                  <a:pt x="3159394" y="4072889"/>
                </a:lnTo>
                <a:lnTo>
                  <a:pt x="3182444" y="4099024"/>
                </a:lnTo>
                <a:lnTo>
                  <a:pt x="3039448" y="4106165"/>
                </a:lnTo>
                <a:cubicBezTo>
                  <a:pt x="3044008" y="4092570"/>
                  <a:pt x="3052131" y="4080870"/>
                  <a:pt x="3063353" y="4072889"/>
                </a:cubicBezTo>
                <a:close/>
                <a:moveTo>
                  <a:pt x="2458549" y="3699425"/>
                </a:moveTo>
                <a:lnTo>
                  <a:pt x="2832013" y="4072889"/>
                </a:lnTo>
                <a:lnTo>
                  <a:pt x="2990254" y="4072889"/>
                </a:lnTo>
                <a:cubicBezTo>
                  <a:pt x="2963121" y="4125204"/>
                  <a:pt x="2974393" y="4190765"/>
                  <a:pt x="3020316" y="4232320"/>
                </a:cubicBezTo>
                <a:cubicBezTo>
                  <a:pt x="3076485" y="4283146"/>
                  <a:pt x="3163222" y="4278815"/>
                  <a:pt x="3214048" y="4222646"/>
                </a:cubicBezTo>
                <a:cubicBezTo>
                  <a:pt x="3252129" y="4180562"/>
                  <a:pt x="3259247" y="4121319"/>
                  <a:pt x="3236769" y="4072889"/>
                </a:cubicBezTo>
                <a:lnTo>
                  <a:pt x="3392677" y="4072889"/>
                </a:lnTo>
                <a:lnTo>
                  <a:pt x="3761569" y="3703997"/>
                </a:lnTo>
                <a:lnTo>
                  <a:pt x="3761569" y="4221479"/>
                </a:lnTo>
                <a:cubicBezTo>
                  <a:pt x="3761569" y="4278293"/>
                  <a:pt x="3715513" y="4324349"/>
                  <a:pt x="3658699" y="4324349"/>
                </a:cubicBezTo>
                <a:lnTo>
                  <a:pt x="3442628" y="4324349"/>
                </a:lnTo>
                <a:lnTo>
                  <a:pt x="3442628" y="4577299"/>
                </a:lnTo>
                <a:cubicBezTo>
                  <a:pt x="3442628" y="4644114"/>
                  <a:pt x="3388463" y="4698279"/>
                  <a:pt x="3321648" y="4698279"/>
                </a:cubicBezTo>
                <a:lnTo>
                  <a:pt x="2837743" y="4698279"/>
                </a:lnTo>
                <a:cubicBezTo>
                  <a:pt x="2770928" y="4698279"/>
                  <a:pt x="2716763" y="4644114"/>
                  <a:pt x="2716763" y="4577299"/>
                </a:cubicBezTo>
                <a:lnTo>
                  <a:pt x="2716763" y="4324349"/>
                </a:lnTo>
                <a:lnTo>
                  <a:pt x="2561419" y="4324349"/>
                </a:lnTo>
                <a:cubicBezTo>
                  <a:pt x="2504605" y="4324349"/>
                  <a:pt x="2458549" y="4278293"/>
                  <a:pt x="2458549" y="4221479"/>
                </a:cubicBezTo>
                <a:close/>
                <a:moveTo>
                  <a:pt x="2837743" y="2906658"/>
                </a:moveTo>
                <a:lnTo>
                  <a:pt x="2882966" y="2906658"/>
                </a:lnTo>
                <a:lnTo>
                  <a:pt x="2882966" y="3021264"/>
                </a:lnTo>
                <a:cubicBezTo>
                  <a:pt x="2882966" y="3129914"/>
                  <a:pt x="2971045" y="3217993"/>
                  <a:pt x="3079695" y="3217993"/>
                </a:cubicBezTo>
                <a:cubicBezTo>
                  <a:pt x="3188345" y="3217993"/>
                  <a:pt x="3276424" y="3129914"/>
                  <a:pt x="3276424" y="3021264"/>
                </a:cubicBezTo>
                <a:lnTo>
                  <a:pt x="3276424" y="2906658"/>
                </a:lnTo>
                <a:lnTo>
                  <a:pt x="3321648" y="2906658"/>
                </a:lnTo>
                <a:cubicBezTo>
                  <a:pt x="3388463" y="2906658"/>
                  <a:pt x="3442628" y="2960823"/>
                  <a:pt x="3442628" y="3027638"/>
                </a:cubicBezTo>
                <a:lnTo>
                  <a:pt x="3442628" y="3295649"/>
                </a:lnTo>
                <a:lnTo>
                  <a:pt x="3658699" y="3295649"/>
                </a:lnTo>
                <a:cubicBezTo>
                  <a:pt x="3699511" y="3295649"/>
                  <a:pt x="3734772" y="3319415"/>
                  <a:pt x="3750625" y="3354235"/>
                </a:cubicBezTo>
                <a:lnTo>
                  <a:pt x="3750625" y="3671370"/>
                </a:lnTo>
                <a:lnTo>
                  <a:pt x="3377161" y="4044834"/>
                </a:lnTo>
                <a:lnTo>
                  <a:pt x="3216131" y="4044834"/>
                </a:lnTo>
                <a:lnTo>
                  <a:pt x="3204375" y="4028914"/>
                </a:lnTo>
                <a:cubicBezTo>
                  <a:pt x="3148206" y="3978088"/>
                  <a:pt x="3061468" y="3982419"/>
                  <a:pt x="3010642" y="4038588"/>
                </a:cubicBezTo>
                <a:cubicBezTo>
                  <a:pt x="3009025" y="4040375"/>
                  <a:pt x="3007463" y="4042194"/>
                  <a:pt x="3006930" y="4044834"/>
                </a:cubicBezTo>
                <a:lnTo>
                  <a:pt x="2847529" y="4044834"/>
                </a:lnTo>
                <a:lnTo>
                  <a:pt x="2474065" y="3671370"/>
                </a:lnTo>
                <a:lnTo>
                  <a:pt x="2474065" y="3347454"/>
                </a:lnTo>
                <a:cubicBezTo>
                  <a:pt x="2490452" y="3316116"/>
                  <a:pt x="2523545" y="3295649"/>
                  <a:pt x="2561419" y="3295649"/>
                </a:cubicBezTo>
                <a:lnTo>
                  <a:pt x="2716763" y="3295649"/>
                </a:lnTo>
                <a:lnTo>
                  <a:pt x="2716763" y="3027638"/>
                </a:lnTo>
                <a:cubicBezTo>
                  <a:pt x="2716763" y="2960823"/>
                  <a:pt x="2770928" y="2906658"/>
                  <a:pt x="2837743" y="2906658"/>
                </a:cubicBezTo>
                <a:close/>
                <a:moveTo>
                  <a:pt x="240935" y="2906658"/>
                </a:moveTo>
                <a:lnTo>
                  <a:pt x="724840" y="2906658"/>
                </a:lnTo>
                <a:cubicBezTo>
                  <a:pt x="791655" y="2906658"/>
                  <a:pt x="845820" y="2960823"/>
                  <a:pt x="845820" y="3027638"/>
                </a:cubicBezTo>
                <a:lnTo>
                  <a:pt x="845820" y="4577299"/>
                </a:lnTo>
                <a:cubicBezTo>
                  <a:pt x="845820" y="4644114"/>
                  <a:pt x="791655" y="4698279"/>
                  <a:pt x="724840" y="4698279"/>
                </a:cubicBezTo>
                <a:lnTo>
                  <a:pt x="240935" y="4698279"/>
                </a:lnTo>
                <a:cubicBezTo>
                  <a:pt x="174120" y="4698279"/>
                  <a:pt x="119955" y="4644114"/>
                  <a:pt x="119955" y="4577299"/>
                </a:cubicBezTo>
                <a:lnTo>
                  <a:pt x="119955" y="3027638"/>
                </a:lnTo>
                <a:cubicBezTo>
                  <a:pt x="119955" y="2960823"/>
                  <a:pt x="174120" y="2906658"/>
                  <a:pt x="240935" y="2906658"/>
                </a:cubicBezTo>
                <a:close/>
                <a:moveTo>
                  <a:pt x="3084569" y="1270026"/>
                </a:moveTo>
                <a:cubicBezTo>
                  <a:pt x="3180827" y="1270026"/>
                  <a:pt x="3258860" y="1348059"/>
                  <a:pt x="3258860" y="1444317"/>
                </a:cubicBezTo>
                <a:lnTo>
                  <a:pt x="3258860" y="2961152"/>
                </a:lnTo>
                <a:cubicBezTo>
                  <a:pt x="3258860" y="3057410"/>
                  <a:pt x="3180827" y="3135443"/>
                  <a:pt x="3084569" y="3135443"/>
                </a:cubicBezTo>
                <a:cubicBezTo>
                  <a:pt x="2988311" y="3135443"/>
                  <a:pt x="2910278" y="3057410"/>
                  <a:pt x="2910278" y="2961152"/>
                </a:cubicBezTo>
                <a:lnTo>
                  <a:pt x="2910278" y="1444317"/>
                </a:lnTo>
                <a:cubicBezTo>
                  <a:pt x="2910278" y="1348059"/>
                  <a:pt x="2988311" y="1270026"/>
                  <a:pt x="3084569" y="1270026"/>
                </a:cubicBezTo>
                <a:close/>
                <a:moveTo>
                  <a:pt x="2781150" y="1134418"/>
                </a:moveTo>
                <a:lnTo>
                  <a:pt x="3371891" y="1134418"/>
                </a:lnTo>
                <a:cubicBezTo>
                  <a:pt x="3453457" y="1134418"/>
                  <a:pt x="3519580" y="1200541"/>
                  <a:pt x="3519580" y="1282107"/>
                </a:cubicBezTo>
                <a:lnTo>
                  <a:pt x="3519580" y="2585984"/>
                </a:lnTo>
                <a:cubicBezTo>
                  <a:pt x="3519580" y="2667550"/>
                  <a:pt x="3453457" y="2733673"/>
                  <a:pt x="3371891" y="2733673"/>
                </a:cubicBezTo>
                <a:lnTo>
                  <a:pt x="3310988" y="2733673"/>
                </a:lnTo>
                <a:cubicBezTo>
                  <a:pt x="3317593" y="2713806"/>
                  <a:pt x="3320584" y="2692574"/>
                  <a:pt x="3320584" y="2670644"/>
                </a:cubicBezTo>
                <a:lnTo>
                  <a:pt x="3320584" y="1483182"/>
                </a:lnTo>
                <a:cubicBezTo>
                  <a:pt x="3320584" y="1352835"/>
                  <a:pt x="3214916" y="1247167"/>
                  <a:pt x="3084569" y="1247167"/>
                </a:cubicBezTo>
                <a:cubicBezTo>
                  <a:pt x="2954222" y="1247167"/>
                  <a:pt x="2848554" y="1352835"/>
                  <a:pt x="2848554" y="1483182"/>
                </a:cubicBezTo>
                <a:lnTo>
                  <a:pt x="2848554" y="2670644"/>
                </a:lnTo>
                <a:cubicBezTo>
                  <a:pt x="2848554" y="2692574"/>
                  <a:pt x="2851545" y="2713806"/>
                  <a:pt x="2858149" y="2733673"/>
                </a:cubicBezTo>
                <a:lnTo>
                  <a:pt x="2781150" y="2733673"/>
                </a:lnTo>
                <a:cubicBezTo>
                  <a:pt x="2699584" y="2733673"/>
                  <a:pt x="2633461" y="2667550"/>
                  <a:pt x="2633461" y="2585984"/>
                </a:cubicBezTo>
                <a:cubicBezTo>
                  <a:pt x="2633461" y="2345851"/>
                  <a:pt x="2596631" y="2175501"/>
                  <a:pt x="2563881" y="1997784"/>
                </a:cubicBezTo>
                <a:lnTo>
                  <a:pt x="1833665" y="2690964"/>
                </a:lnTo>
                <a:cubicBezTo>
                  <a:pt x="1763853" y="2757235"/>
                  <a:pt x="1653535" y="2754365"/>
                  <a:pt x="1587264" y="2684553"/>
                </a:cubicBezTo>
                <a:lnTo>
                  <a:pt x="1578595" y="2670731"/>
                </a:lnTo>
                <a:cubicBezTo>
                  <a:pt x="1531292" y="2672872"/>
                  <a:pt x="1483718" y="2656412"/>
                  <a:pt x="1445438" y="2622660"/>
                </a:cubicBezTo>
                <a:lnTo>
                  <a:pt x="370983" y="1675308"/>
                </a:lnTo>
                <a:cubicBezTo>
                  <a:pt x="288138" y="1602263"/>
                  <a:pt x="280194" y="1475891"/>
                  <a:pt x="353239" y="1393046"/>
                </a:cubicBezTo>
                <a:cubicBezTo>
                  <a:pt x="389761" y="1351624"/>
                  <a:pt x="439615" y="1328927"/>
                  <a:pt x="490694" y="1325716"/>
                </a:cubicBezTo>
                <a:cubicBezTo>
                  <a:pt x="541773" y="1322505"/>
                  <a:pt x="594078" y="1338780"/>
                  <a:pt x="635500" y="1375302"/>
                </a:cubicBezTo>
                <a:lnTo>
                  <a:pt x="1709955" y="2322654"/>
                </a:lnTo>
                <a:lnTo>
                  <a:pt x="1712211" y="2325628"/>
                </a:lnTo>
                <a:lnTo>
                  <a:pt x="2482157" y="1594733"/>
                </a:lnTo>
                <a:lnTo>
                  <a:pt x="2514959" y="1574160"/>
                </a:lnTo>
                <a:cubicBezTo>
                  <a:pt x="2513112" y="1553565"/>
                  <a:pt x="2512811" y="1532422"/>
                  <a:pt x="2512811" y="1510707"/>
                </a:cubicBezTo>
                <a:cubicBezTo>
                  <a:pt x="2512811" y="1429141"/>
                  <a:pt x="2699584" y="1134418"/>
                  <a:pt x="2781150" y="1134418"/>
                </a:cubicBezTo>
                <a:close/>
                <a:moveTo>
                  <a:pt x="193115" y="1134418"/>
                </a:moveTo>
                <a:lnTo>
                  <a:pt x="783856" y="1134418"/>
                </a:lnTo>
                <a:cubicBezTo>
                  <a:pt x="865422" y="1134418"/>
                  <a:pt x="1052195" y="1429141"/>
                  <a:pt x="1052195" y="1510707"/>
                </a:cubicBezTo>
                <a:cubicBezTo>
                  <a:pt x="1052195" y="1568731"/>
                  <a:pt x="1050045" y="1622680"/>
                  <a:pt x="1046039" y="1673622"/>
                </a:cubicBezTo>
                <a:lnTo>
                  <a:pt x="661647" y="1334702"/>
                </a:lnTo>
                <a:cubicBezTo>
                  <a:pt x="557955" y="1243276"/>
                  <a:pt x="399780" y="1253220"/>
                  <a:pt x="308354" y="1356912"/>
                </a:cubicBezTo>
                <a:cubicBezTo>
                  <a:pt x="216928" y="1460604"/>
                  <a:pt x="226872" y="1618779"/>
                  <a:pt x="330564" y="1710205"/>
                </a:cubicBezTo>
                <a:lnTo>
                  <a:pt x="955654" y="2261350"/>
                </a:lnTo>
                <a:cubicBezTo>
                  <a:pt x="941227" y="2358093"/>
                  <a:pt x="931545" y="2462867"/>
                  <a:pt x="931545" y="2585984"/>
                </a:cubicBezTo>
                <a:cubicBezTo>
                  <a:pt x="931545" y="2667550"/>
                  <a:pt x="865422" y="2733673"/>
                  <a:pt x="783856" y="2733673"/>
                </a:cubicBezTo>
                <a:lnTo>
                  <a:pt x="193115" y="2733673"/>
                </a:lnTo>
                <a:cubicBezTo>
                  <a:pt x="111549" y="2733673"/>
                  <a:pt x="45426" y="2667550"/>
                  <a:pt x="45426" y="2585984"/>
                </a:cubicBezTo>
                <a:lnTo>
                  <a:pt x="45426" y="1282107"/>
                </a:lnTo>
                <a:cubicBezTo>
                  <a:pt x="45426" y="1200541"/>
                  <a:pt x="111549" y="1134418"/>
                  <a:pt x="193115" y="1134418"/>
                </a:cubicBezTo>
                <a:close/>
                <a:moveTo>
                  <a:pt x="3039838" y="0"/>
                </a:moveTo>
                <a:cubicBezTo>
                  <a:pt x="3297077" y="0"/>
                  <a:pt x="3505611" y="220900"/>
                  <a:pt x="3505611" y="493395"/>
                </a:cubicBezTo>
                <a:cubicBezTo>
                  <a:pt x="3505611" y="765890"/>
                  <a:pt x="3297077" y="986790"/>
                  <a:pt x="3039838" y="986790"/>
                </a:cubicBezTo>
                <a:cubicBezTo>
                  <a:pt x="2782599" y="986790"/>
                  <a:pt x="2574065" y="765890"/>
                  <a:pt x="2574065" y="493395"/>
                </a:cubicBezTo>
                <a:cubicBezTo>
                  <a:pt x="2574065" y="220900"/>
                  <a:pt x="2782599" y="0"/>
                  <a:pt x="3039838" y="0"/>
                </a:cubicBezTo>
                <a:close/>
                <a:moveTo>
                  <a:pt x="465773" y="0"/>
                </a:moveTo>
                <a:cubicBezTo>
                  <a:pt x="723012" y="0"/>
                  <a:pt x="931546" y="220900"/>
                  <a:pt x="931546" y="493395"/>
                </a:cubicBezTo>
                <a:cubicBezTo>
                  <a:pt x="931546" y="765890"/>
                  <a:pt x="723012" y="986790"/>
                  <a:pt x="465773" y="986790"/>
                </a:cubicBezTo>
                <a:cubicBezTo>
                  <a:pt x="208534" y="986790"/>
                  <a:pt x="0" y="765890"/>
                  <a:pt x="0" y="493395"/>
                </a:cubicBezTo>
                <a:cubicBezTo>
                  <a:pt x="0" y="220900"/>
                  <a:pt x="208534" y="0"/>
                  <a:pt x="465773" y="0"/>
                </a:cubicBezTo>
                <a:close/>
              </a:path>
            </a:pathLst>
          </a:custGeom>
          <a:solidFill>
            <a:schemeClr val="bg1">
              <a:lumMod val="50000"/>
            </a:schemeClr>
          </a:solidFill>
          <a:ln>
            <a:noFill/>
          </a:ln>
        </p:spPr>
        <p:txBody>
          <a:bodyPr rot="0" spcFirstLastPara="0" vert="horz" wrap="square" lIns="91391" tIns="45694" rIns="91391" bIns="4569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966">
              <a:lnSpc>
                <a:spcPct val="120000"/>
              </a:lnSpc>
              <a:defRPr/>
            </a:pPr>
            <a:endParaRPr lang="en-US" sz="1799" kern="0">
              <a:solidFill>
                <a:srgbClr val="FFFFFF"/>
              </a:solidFill>
              <a:latin typeface="Segoe UI"/>
            </a:endParaRPr>
          </a:p>
        </p:txBody>
      </p:sp>
      <p:sp>
        <p:nvSpPr>
          <p:cNvPr id="39" name="Rectangle 38">
            <a:extLst>
              <a:ext uri="{FF2B5EF4-FFF2-40B4-BE49-F238E27FC236}">
                <a16:creationId xmlns:a16="http://schemas.microsoft.com/office/drawing/2014/main" id="{8E4D93E8-FA3A-4F31-A2B4-49826EDC6FA0}"/>
              </a:ext>
            </a:extLst>
          </p:cNvPr>
          <p:cNvSpPr/>
          <p:nvPr/>
        </p:nvSpPr>
        <p:spPr>
          <a:xfrm>
            <a:off x="5690665" y="1068439"/>
            <a:ext cx="1523811" cy="166199"/>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a:lnSpc>
                <a:spcPct val="90000"/>
              </a:lnSpc>
              <a:spcBef>
                <a:spcPct val="0"/>
              </a:spcBef>
              <a:spcAft>
                <a:spcPct val="0"/>
              </a:spcAft>
              <a:defRPr/>
            </a:pPr>
            <a:r>
              <a:rPr lang="en-US" sz="1200" dirty="0">
                <a:solidFill>
                  <a:srgbClr val="505050"/>
                </a:solidFill>
                <a:latin typeface="Segoe UI Semibold"/>
                <a:cs typeface="Segoe UI Semibold"/>
              </a:rPr>
              <a:t>TBA</a:t>
            </a:r>
            <a:endParaRPr lang="en-US" dirty="0"/>
          </a:p>
        </p:txBody>
      </p:sp>
      <p:sp>
        <p:nvSpPr>
          <p:cNvPr id="40" name="Rectangle 39">
            <a:extLst>
              <a:ext uri="{FF2B5EF4-FFF2-40B4-BE49-F238E27FC236}">
                <a16:creationId xmlns:a16="http://schemas.microsoft.com/office/drawing/2014/main" id="{4640C7CC-E17C-42CA-8E6C-B3BED053EE22}"/>
              </a:ext>
            </a:extLst>
          </p:cNvPr>
          <p:cNvSpPr/>
          <p:nvPr/>
        </p:nvSpPr>
        <p:spPr>
          <a:xfrm>
            <a:off x="8649342" y="3553888"/>
            <a:ext cx="1230645" cy="498598"/>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fontAlgn="base">
              <a:lnSpc>
                <a:spcPct val="90000"/>
              </a:lnSpc>
              <a:spcBef>
                <a:spcPct val="0"/>
              </a:spcBef>
              <a:spcAft>
                <a:spcPct val="0"/>
              </a:spcAft>
              <a:defRPr/>
            </a:pPr>
            <a:r>
              <a:rPr lang="en-US" sz="1200" dirty="0">
                <a:solidFill>
                  <a:srgbClr val="505050"/>
                </a:solidFill>
                <a:latin typeface="Segoe UI Semibold" panose="020B0702040204020203" pitchFamily="34" charset="0"/>
                <a:ea typeface="Segoe UI" pitchFamily="34" charset="0"/>
                <a:cs typeface="Segoe UI Semibold" panose="020B0702040204020203" pitchFamily="34" charset="0"/>
              </a:rPr>
              <a:t>Technology integration testing.</a:t>
            </a:r>
          </a:p>
        </p:txBody>
      </p:sp>
      <p:sp>
        <p:nvSpPr>
          <p:cNvPr id="41" name="Oval 40">
            <a:extLst>
              <a:ext uri="{FF2B5EF4-FFF2-40B4-BE49-F238E27FC236}">
                <a16:creationId xmlns:a16="http://schemas.microsoft.com/office/drawing/2014/main" id="{5C4F8067-C54F-4DEC-BC5B-AA0B4FE2F895}"/>
              </a:ext>
            </a:extLst>
          </p:cNvPr>
          <p:cNvSpPr/>
          <p:nvPr/>
        </p:nvSpPr>
        <p:spPr bwMode="auto">
          <a:xfrm>
            <a:off x="3147982" y="1404463"/>
            <a:ext cx="137288" cy="124626"/>
          </a:xfrm>
          <a:prstGeom prst="ellipse">
            <a:avLst/>
          </a:prstGeom>
          <a:solidFill>
            <a:srgbClr val="0070C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9D24C1B8-1FC3-4EDD-8BA4-B524A0369BB3}"/>
              </a:ext>
            </a:extLst>
          </p:cNvPr>
          <p:cNvSpPr/>
          <p:nvPr/>
        </p:nvSpPr>
        <p:spPr bwMode="auto">
          <a:xfrm>
            <a:off x="2862559" y="3069405"/>
            <a:ext cx="137288" cy="124626"/>
          </a:xfrm>
          <a:prstGeom prst="ellipse">
            <a:avLst/>
          </a:prstGeom>
          <a:solidFill>
            <a:srgbClr val="FF000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3" name="Oval 42">
            <a:extLst>
              <a:ext uri="{FF2B5EF4-FFF2-40B4-BE49-F238E27FC236}">
                <a16:creationId xmlns:a16="http://schemas.microsoft.com/office/drawing/2014/main" id="{9DF05E2A-CF5A-4192-8690-1523CAAD4BD8}"/>
              </a:ext>
            </a:extLst>
          </p:cNvPr>
          <p:cNvSpPr/>
          <p:nvPr/>
        </p:nvSpPr>
        <p:spPr bwMode="auto">
          <a:xfrm>
            <a:off x="4986859" y="2981349"/>
            <a:ext cx="137288" cy="124626"/>
          </a:xfrm>
          <a:prstGeom prst="ellipse">
            <a:avLst/>
          </a:prstGeom>
          <a:solidFill>
            <a:srgbClr val="0070C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4" name="Oval 43">
            <a:extLst>
              <a:ext uri="{FF2B5EF4-FFF2-40B4-BE49-F238E27FC236}">
                <a16:creationId xmlns:a16="http://schemas.microsoft.com/office/drawing/2014/main" id="{5F8A2066-A1B1-457C-AE61-0DB95DE61DA4}"/>
              </a:ext>
            </a:extLst>
          </p:cNvPr>
          <p:cNvSpPr/>
          <p:nvPr/>
        </p:nvSpPr>
        <p:spPr bwMode="auto">
          <a:xfrm>
            <a:off x="9298216" y="2457487"/>
            <a:ext cx="137288" cy="124626"/>
          </a:xfrm>
          <a:prstGeom prst="ellipse">
            <a:avLst/>
          </a:prstGeom>
          <a:solidFill>
            <a:srgbClr val="0070C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5" name="Oval 44">
            <a:extLst>
              <a:ext uri="{FF2B5EF4-FFF2-40B4-BE49-F238E27FC236}">
                <a16:creationId xmlns:a16="http://schemas.microsoft.com/office/drawing/2014/main" id="{71E948E4-619D-474E-AFEB-626D48D074A8}"/>
              </a:ext>
            </a:extLst>
          </p:cNvPr>
          <p:cNvSpPr/>
          <p:nvPr/>
        </p:nvSpPr>
        <p:spPr bwMode="auto">
          <a:xfrm>
            <a:off x="6387276" y="1964658"/>
            <a:ext cx="137288" cy="124626"/>
          </a:xfrm>
          <a:prstGeom prst="ellipse">
            <a:avLst/>
          </a:prstGeom>
          <a:solidFill>
            <a:srgbClr val="0070C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6" name="Oval 45">
            <a:extLst>
              <a:ext uri="{FF2B5EF4-FFF2-40B4-BE49-F238E27FC236}">
                <a16:creationId xmlns:a16="http://schemas.microsoft.com/office/drawing/2014/main" id="{616FFAFF-4D86-476F-A931-761713AA99C4}"/>
              </a:ext>
            </a:extLst>
          </p:cNvPr>
          <p:cNvSpPr/>
          <p:nvPr/>
        </p:nvSpPr>
        <p:spPr bwMode="auto">
          <a:xfrm>
            <a:off x="8673446" y="3192509"/>
            <a:ext cx="137288" cy="124626"/>
          </a:xfrm>
          <a:prstGeom prst="ellipse">
            <a:avLst/>
          </a:prstGeom>
          <a:solidFill>
            <a:srgbClr val="0070C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7" name="Oval 46">
            <a:extLst>
              <a:ext uri="{FF2B5EF4-FFF2-40B4-BE49-F238E27FC236}">
                <a16:creationId xmlns:a16="http://schemas.microsoft.com/office/drawing/2014/main" id="{E1FE8F24-7B87-4BB0-95B8-ECF5A50582AD}"/>
              </a:ext>
            </a:extLst>
          </p:cNvPr>
          <p:cNvSpPr/>
          <p:nvPr/>
        </p:nvSpPr>
        <p:spPr bwMode="auto">
          <a:xfrm>
            <a:off x="7024835" y="2420894"/>
            <a:ext cx="137288" cy="124626"/>
          </a:xfrm>
          <a:prstGeom prst="ellipse">
            <a:avLst/>
          </a:prstGeom>
          <a:solidFill>
            <a:srgbClr val="0070C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8" name="Oval 47">
            <a:extLst>
              <a:ext uri="{FF2B5EF4-FFF2-40B4-BE49-F238E27FC236}">
                <a16:creationId xmlns:a16="http://schemas.microsoft.com/office/drawing/2014/main" id="{120F8D30-F062-4AA3-8676-45EE479080AC}"/>
              </a:ext>
            </a:extLst>
          </p:cNvPr>
          <p:cNvSpPr/>
          <p:nvPr/>
        </p:nvSpPr>
        <p:spPr bwMode="auto">
          <a:xfrm>
            <a:off x="10976328" y="1129281"/>
            <a:ext cx="137288" cy="124626"/>
          </a:xfrm>
          <a:prstGeom prst="ellipse">
            <a:avLst/>
          </a:prstGeom>
          <a:solidFill>
            <a:srgbClr val="00B05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9" name="Oval 48">
            <a:extLst>
              <a:ext uri="{FF2B5EF4-FFF2-40B4-BE49-F238E27FC236}">
                <a16:creationId xmlns:a16="http://schemas.microsoft.com/office/drawing/2014/main" id="{2095B74A-06EC-40CA-9F88-FAF72AD10B7A}"/>
              </a:ext>
            </a:extLst>
          </p:cNvPr>
          <p:cNvSpPr/>
          <p:nvPr/>
        </p:nvSpPr>
        <p:spPr bwMode="auto">
          <a:xfrm>
            <a:off x="993498" y="1931905"/>
            <a:ext cx="137288" cy="124626"/>
          </a:xfrm>
          <a:prstGeom prst="ellipse">
            <a:avLst/>
          </a:prstGeom>
          <a:solidFill>
            <a:srgbClr val="0070C0"/>
          </a:solidFill>
          <a:ln w="19050" cap="flat" cmpd="sng" algn="ctr">
            <a:solidFill>
              <a:schemeClr val="accent1"/>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1" name="Freeform 137">
            <a:extLst>
              <a:ext uri="{FF2B5EF4-FFF2-40B4-BE49-F238E27FC236}">
                <a16:creationId xmlns:a16="http://schemas.microsoft.com/office/drawing/2014/main" id="{8D4E0B52-809E-4914-B769-7C0967657095}"/>
              </a:ext>
            </a:extLst>
          </p:cNvPr>
          <p:cNvSpPr/>
          <p:nvPr/>
        </p:nvSpPr>
        <p:spPr bwMode="auto">
          <a:xfrm>
            <a:off x="2840899" y="3263070"/>
            <a:ext cx="308534" cy="256799"/>
          </a:xfrm>
          <a:custGeom>
            <a:avLst/>
            <a:gdLst>
              <a:gd name="connsiteX0" fmla="*/ 318859 w 400943"/>
              <a:gd name="connsiteY0" fmla="*/ 295010 h 367619"/>
              <a:gd name="connsiteX1" fmla="*/ 318859 w 400943"/>
              <a:gd name="connsiteY1" fmla="*/ 344416 h 367619"/>
              <a:gd name="connsiteX2" fmla="*/ 376829 w 400943"/>
              <a:gd name="connsiteY2" fmla="*/ 344416 h 367619"/>
              <a:gd name="connsiteX3" fmla="*/ 376829 w 400943"/>
              <a:gd name="connsiteY3" fmla="*/ 295010 h 367619"/>
              <a:gd name="connsiteX4" fmla="*/ 243972 w 400943"/>
              <a:gd name="connsiteY4" fmla="*/ 295010 h 367619"/>
              <a:gd name="connsiteX5" fmla="*/ 243972 w 400943"/>
              <a:gd name="connsiteY5" fmla="*/ 344416 h 367619"/>
              <a:gd name="connsiteX6" fmla="*/ 305758 w 400943"/>
              <a:gd name="connsiteY6" fmla="*/ 344416 h 367619"/>
              <a:gd name="connsiteX7" fmla="*/ 305758 w 400943"/>
              <a:gd name="connsiteY7" fmla="*/ 295010 h 367619"/>
              <a:gd name="connsiteX8" fmla="*/ 169085 w 400943"/>
              <a:gd name="connsiteY8" fmla="*/ 295010 h 367619"/>
              <a:gd name="connsiteX9" fmla="*/ 169085 w 400943"/>
              <a:gd name="connsiteY9" fmla="*/ 344416 h 367619"/>
              <a:gd name="connsiteX10" fmla="*/ 230871 w 400943"/>
              <a:gd name="connsiteY10" fmla="*/ 344416 h 367619"/>
              <a:gd name="connsiteX11" fmla="*/ 230871 w 400943"/>
              <a:gd name="connsiteY11" fmla="*/ 295010 h 367619"/>
              <a:gd name="connsiteX12" fmla="*/ 94198 w 400943"/>
              <a:gd name="connsiteY12" fmla="*/ 295010 h 367619"/>
              <a:gd name="connsiteX13" fmla="*/ 94198 w 400943"/>
              <a:gd name="connsiteY13" fmla="*/ 344416 h 367619"/>
              <a:gd name="connsiteX14" fmla="*/ 155984 w 400943"/>
              <a:gd name="connsiteY14" fmla="*/ 344416 h 367619"/>
              <a:gd name="connsiteX15" fmla="*/ 155984 w 400943"/>
              <a:gd name="connsiteY15" fmla="*/ 295010 h 367619"/>
              <a:gd name="connsiteX16" fmla="*/ 24114 w 400943"/>
              <a:gd name="connsiteY16" fmla="*/ 295010 h 367619"/>
              <a:gd name="connsiteX17" fmla="*/ 24114 w 400943"/>
              <a:gd name="connsiteY17" fmla="*/ 344416 h 367619"/>
              <a:gd name="connsiteX18" fmla="*/ 81097 w 400943"/>
              <a:gd name="connsiteY18" fmla="*/ 344416 h 367619"/>
              <a:gd name="connsiteX19" fmla="*/ 81097 w 400943"/>
              <a:gd name="connsiteY19" fmla="*/ 295010 h 367619"/>
              <a:gd name="connsiteX20" fmla="*/ 318859 w 400943"/>
              <a:gd name="connsiteY20" fmla="*/ 228097 h 367619"/>
              <a:gd name="connsiteX21" fmla="*/ 318859 w 400943"/>
              <a:gd name="connsiteY21" fmla="*/ 281908 h 367619"/>
              <a:gd name="connsiteX22" fmla="*/ 376829 w 400943"/>
              <a:gd name="connsiteY22" fmla="*/ 281908 h 367619"/>
              <a:gd name="connsiteX23" fmla="*/ 376829 w 400943"/>
              <a:gd name="connsiteY23" fmla="*/ 228097 h 367619"/>
              <a:gd name="connsiteX24" fmla="*/ 243972 w 400943"/>
              <a:gd name="connsiteY24" fmla="*/ 228097 h 367619"/>
              <a:gd name="connsiteX25" fmla="*/ 243972 w 400943"/>
              <a:gd name="connsiteY25" fmla="*/ 281908 h 367619"/>
              <a:gd name="connsiteX26" fmla="*/ 305758 w 400943"/>
              <a:gd name="connsiteY26" fmla="*/ 281908 h 367619"/>
              <a:gd name="connsiteX27" fmla="*/ 305758 w 400943"/>
              <a:gd name="connsiteY27" fmla="*/ 228097 h 367619"/>
              <a:gd name="connsiteX28" fmla="*/ 169085 w 400943"/>
              <a:gd name="connsiteY28" fmla="*/ 228097 h 367619"/>
              <a:gd name="connsiteX29" fmla="*/ 169085 w 400943"/>
              <a:gd name="connsiteY29" fmla="*/ 281908 h 367619"/>
              <a:gd name="connsiteX30" fmla="*/ 230871 w 400943"/>
              <a:gd name="connsiteY30" fmla="*/ 281908 h 367619"/>
              <a:gd name="connsiteX31" fmla="*/ 230871 w 400943"/>
              <a:gd name="connsiteY31" fmla="*/ 228097 h 367619"/>
              <a:gd name="connsiteX32" fmla="*/ 94198 w 400943"/>
              <a:gd name="connsiteY32" fmla="*/ 228097 h 367619"/>
              <a:gd name="connsiteX33" fmla="*/ 94198 w 400943"/>
              <a:gd name="connsiteY33" fmla="*/ 281908 h 367619"/>
              <a:gd name="connsiteX34" fmla="*/ 155984 w 400943"/>
              <a:gd name="connsiteY34" fmla="*/ 281908 h 367619"/>
              <a:gd name="connsiteX35" fmla="*/ 155984 w 400943"/>
              <a:gd name="connsiteY35" fmla="*/ 228097 h 367619"/>
              <a:gd name="connsiteX36" fmla="*/ 24114 w 400943"/>
              <a:gd name="connsiteY36" fmla="*/ 228097 h 367619"/>
              <a:gd name="connsiteX37" fmla="*/ 24114 w 400943"/>
              <a:gd name="connsiteY37" fmla="*/ 281908 h 367619"/>
              <a:gd name="connsiteX38" fmla="*/ 81097 w 400943"/>
              <a:gd name="connsiteY38" fmla="*/ 281908 h 367619"/>
              <a:gd name="connsiteX39" fmla="*/ 81097 w 400943"/>
              <a:gd name="connsiteY39" fmla="*/ 228097 h 367619"/>
              <a:gd name="connsiteX40" fmla="*/ 318859 w 400943"/>
              <a:gd name="connsiteY40" fmla="*/ 161185 h 367619"/>
              <a:gd name="connsiteX41" fmla="*/ 318859 w 400943"/>
              <a:gd name="connsiteY41" fmla="*/ 214996 h 367619"/>
              <a:gd name="connsiteX42" fmla="*/ 376829 w 400943"/>
              <a:gd name="connsiteY42" fmla="*/ 214996 h 367619"/>
              <a:gd name="connsiteX43" fmla="*/ 376829 w 400943"/>
              <a:gd name="connsiteY43" fmla="*/ 161185 h 367619"/>
              <a:gd name="connsiteX44" fmla="*/ 243972 w 400943"/>
              <a:gd name="connsiteY44" fmla="*/ 161185 h 367619"/>
              <a:gd name="connsiteX45" fmla="*/ 243972 w 400943"/>
              <a:gd name="connsiteY45" fmla="*/ 214996 h 367619"/>
              <a:gd name="connsiteX46" fmla="*/ 305758 w 400943"/>
              <a:gd name="connsiteY46" fmla="*/ 214996 h 367619"/>
              <a:gd name="connsiteX47" fmla="*/ 305758 w 400943"/>
              <a:gd name="connsiteY47" fmla="*/ 161185 h 367619"/>
              <a:gd name="connsiteX48" fmla="*/ 169085 w 400943"/>
              <a:gd name="connsiteY48" fmla="*/ 161185 h 367619"/>
              <a:gd name="connsiteX49" fmla="*/ 169085 w 400943"/>
              <a:gd name="connsiteY49" fmla="*/ 214996 h 367619"/>
              <a:gd name="connsiteX50" fmla="*/ 230871 w 400943"/>
              <a:gd name="connsiteY50" fmla="*/ 214996 h 367619"/>
              <a:gd name="connsiteX51" fmla="*/ 230871 w 400943"/>
              <a:gd name="connsiteY51" fmla="*/ 161185 h 367619"/>
              <a:gd name="connsiteX52" fmla="*/ 94198 w 400943"/>
              <a:gd name="connsiteY52" fmla="*/ 161185 h 367619"/>
              <a:gd name="connsiteX53" fmla="*/ 94198 w 400943"/>
              <a:gd name="connsiteY53" fmla="*/ 214996 h 367619"/>
              <a:gd name="connsiteX54" fmla="*/ 155984 w 400943"/>
              <a:gd name="connsiteY54" fmla="*/ 214996 h 367619"/>
              <a:gd name="connsiteX55" fmla="*/ 155984 w 400943"/>
              <a:gd name="connsiteY55" fmla="*/ 161185 h 367619"/>
              <a:gd name="connsiteX56" fmla="*/ 24114 w 400943"/>
              <a:gd name="connsiteY56" fmla="*/ 161185 h 367619"/>
              <a:gd name="connsiteX57" fmla="*/ 24114 w 400943"/>
              <a:gd name="connsiteY57" fmla="*/ 214996 h 367619"/>
              <a:gd name="connsiteX58" fmla="*/ 81097 w 400943"/>
              <a:gd name="connsiteY58" fmla="*/ 214996 h 367619"/>
              <a:gd name="connsiteX59" fmla="*/ 81097 w 400943"/>
              <a:gd name="connsiteY59" fmla="*/ 161185 h 367619"/>
              <a:gd name="connsiteX60" fmla="*/ 318859 w 400943"/>
              <a:gd name="connsiteY60" fmla="*/ 94273 h 367619"/>
              <a:gd name="connsiteX61" fmla="*/ 318859 w 400943"/>
              <a:gd name="connsiteY61" fmla="*/ 148084 h 367619"/>
              <a:gd name="connsiteX62" fmla="*/ 376829 w 400943"/>
              <a:gd name="connsiteY62" fmla="*/ 148084 h 367619"/>
              <a:gd name="connsiteX63" fmla="*/ 376829 w 400943"/>
              <a:gd name="connsiteY63" fmla="*/ 94273 h 367619"/>
              <a:gd name="connsiteX64" fmla="*/ 243972 w 400943"/>
              <a:gd name="connsiteY64" fmla="*/ 94273 h 367619"/>
              <a:gd name="connsiteX65" fmla="*/ 243972 w 400943"/>
              <a:gd name="connsiteY65" fmla="*/ 148084 h 367619"/>
              <a:gd name="connsiteX66" fmla="*/ 305758 w 400943"/>
              <a:gd name="connsiteY66" fmla="*/ 148084 h 367619"/>
              <a:gd name="connsiteX67" fmla="*/ 305758 w 400943"/>
              <a:gd name="connsiteY67" fmla="*/ 94273 h 367619"/>
              <a:gd name="connsiteX68" fmla="*/ 169085 w 400943"/>
              <a:gd name="connsiteY68" fmla="*/ 94273 h 367619"/>
              <a:gd name="connsiteX69" fmla="*/ 169085 w 400943"/>
              <a:gd name="connsiteY69" fmla="*/ 148084 h 367619"/>
              <a:gd name="connsiteX70" fmla="*/ 230871 w 400943"/>
              <a:gd name="connsiteY70" fmla="*/ 148084 h 367619"/>
              <a:gd name="connsiteX71" fmla="*/ 230871 w 400943"/>
              <a:gd name="connsiteY71" fmla="*/ 94273 h 367619"/>
              <a:gd name="connsiteX72" fmla="*/ 94198 w 400943"/>
              <a:gd name="connsiteY72" fmla="*/ 94273 h 367619"/>
              <a:gd name="connsiteX73" fmla="*/ 94198 w 400943"/>
              <a:gd name="connsiteY73" fmla="*/ 148084 h 367619"/>
              <a:gd name="connsiteX74" fmla="*/ 155984 w 400943"/>
              <a:gd name="connsiteY74" fmla="*/ 148084 h 367619"/>
              <a:gd name="connsiteX75" fmla="*/ 155984 w 400943"/>
              <a:gd name="connsiteY75" fmla="*/ 94273 h 367619"/>
              <a:gd name="connsiteX76" fmla="*/ 24114 w 400943"/>
              <a:gd name="connsiteY76" fmla="*/ 94273 h 367619"/>
              <a:gd name="connsiteX77" fmla="*/ 24114 w 400943"/>
              <a:gd name="connsiteY77" fmla="*/ 148084 h 367619"/>
              <a:gd name="connsiteX78" fmla="*/ 81097 w 400943"/>
              <a:gd name="connsiteY78" fmla="*/ 148084 h 367619"/>
              <a:gd name="connsiteX79" fmla="*/ 81097 w 400943"/>
              <a:gd name="connsiteY79" fmla="*/ 94273 h 367619"/>
              <a:gd name="connsiteX80" fmla="*/ 24114 w 400943"/>
              <a:gd name="connsiteY80" fmla="*/ 40006 h 367619"/>
              <a:gd name="connsiteX81" fmla="*/ 24114 w 400943"/>
              <a:gd name="connsiteY81" fmla="*/ 81172 h 367619"/>
              <a:gd name="connsiteX82" fmla="*/ 376829 w 400943"/>
              <a:gd name="connsiteY82" fmla="*/ 81172 h 367619"/>
              <a:gd name="connsiteX83" fmla="*/ 376829 w 400943"/>
              <a:gd name="connsiteY83" fmla="*/ 40006 h 367619"/>
              <a:gd name="connsiteX84" fmla="*/ 318829 w 400943"/>
              <a:gd name="connsiteY84" fmla="*/ 40006 h 367619"/>
              <a:gd name="connsiteX85" fmla="*/ 318829 w 400943"/>
              <a:gd name="connsiteY85" fmla="*/ 45000 h 367619"/>
              <a:gd name="connsiteX86" fmla="*/ 315075 w 400943"/>
              <a:gd name="connsiteY86" fmla="*/ 54063 h 367619"/>
              <a:gd name="connsiteX87" fmla="*/ 306012 w 400943"/>
              <a:gd name="connsiteY87" fmla="*/ 57817 h 367619"/>
              <a:gd name="connsiteX88" fmla="*/ 296949 w 400943"/>
              <a:gd name="connsiteY88" fmla="*/ 54063 h 367619"/>
              <a:gd name="connsiteX89" fmla="*/ 293195 w 400943"/>
              <a:gd name="connsiteY89" fmla="*/ 45000 h 367619"/>
              <a:gd name="connsiteX90" fmla="*/ 293195 w 400943"/>
              <a:gd name="connsiteY90" fmla="*/ 40006 h 367619"/>
              <a:gd name="connsiteX91" fmla="*/ 276663 w 400943"/>
              <a:gd name="connsiteY91" fmla="*/ 40006 h 367619"/>
              <a:gd name="connsiteX92" fmla="*/ 276663 w 400943"/>
              <a:gd name="connsiteY92" fmla="*/ 45000 h 367619"/>
              <a:gd name="connsiteX93" fmla="*/ 263846 w 400943"/>
              <a:gd name="connsiteY93" fmla="*/ 57817 h 367619"/>
              <a:gd name="connsiteX94" fmla="*/ 251029 w 400943"/>
              <a:gd name="connsiteY94" fmla="*/ 45000 h 367619"/>
              <a:gd name="connsiteX95" fmla="*/ 251029 w 400943"/>
              <a:gd name="connsiteY95" fmla="*/ 40006 h 367619"/>
              <a:gd name="connsiteX96" fmla="*/ 234496 w 400943"/>
              <a:gd name="connsiteY96" fmla="*/ 40006 h 367619"/>
              <a:gd name="connsiteX97" fmla="*/ 234496 w 400943"/>
              <a:gd name="connsiteY97" fmla="*/ 45000 h 367619"/>
              <a:gd name="connsiteX98" fmla="*/ 221679 w 400943"/>
              <a:gd name="connsiteY98" fmla="*/ 57817 h 367619"/>
              <a:gd name="connsiteX99" fmla="*/ 208863 w 400943"/>
              <a:gd name="connsiteY99" fmla="*/ 45000 h 367619"/>
              <a:gd name="connsiteX100" fmla="*/ 208863 w 400943"/>
              <a:gd name="connsiteY100" fmla="*/ 40006 h 367619"/>
              <a:gd name="connsiteX101" fmla="*/ 192330 w 400943"/>
              <a:gd name="connsiteY101" fmla="*/ 40006 h 367619"/>
              <a:gd name="connsiteX102" fmla="*/ 192330 w 400943"/>
              <a:gd name="connsiteY102" fmla="*/ 45000 h 367619"/>
              <a:gd name="connsiteX103" fmla="*/ 188576 w 400943"/>
              <a:gd name="connsiteY103" fmla="*/ 54063 h 367619"/>
              <a:gd name="connsiteX104" fmla="*/ 179513 w 400943"/>
              <a:gd name="connsiteY104" fmla="*/ 57817 h 367619"/>
              <a:gd name="connsiteX105" fmla="*/ 170450 w 400943"/>
              <a:gd name="connsiteY105" fmla="*/ 54063 h 367619"/>
              <a:gd name="connsiteX106" fmla="*/ 166696 w 400943"/>
              <a:gd name="connsiteY106" fmla="*/ 45000 h 367619"/>
              <a:gd name="connsiteX107" fmla="*/ 166696 w 400943"/>
              <a:gd name="connsiteY107" fmla="*/ 40006 h 367619"/>
              <a:gd name="connsiteX108" fmla="*/ 150163 w 400943"/>
              <a:gd name="connsiteY108" fmla="*/ 40006 h 367619"/>
              <a:gd name="connsiteX109" fmla="*/ 150163 w 400943"/>
              <a:gd name="connsiteY109" fmla="*/ 45000 h 367619"/>
              <a:gd name="connsiteX110" fmla="*/ 146409 w 400943"/>
              <a:gd name="connsiteY110" fmla="*/ 54063 h 367619"/>
              <a:gd name="connsiteX111" fmla="*/ 137347 w 400943"/>
              <a:gd name="connsiteY111" fmla="*/ 57817 h 367619"/>
              <a:gd name="connsiteX112" fmla="*/ 128284 w 400943"/>
              <a:gd name="connsiteY112" fmla="*/ 54063 h 367619"/>
              <a:gd name="connsiteX113" fmla="*/ 124530 w 400943"/>
              <a:gd name="connsiteY113" fmla="*/ 45000 h 367619"/>
              <a:gd name="connsiteX114" fmla="*/ 124530 w 400943"/>
              <a:gd name="connsiteY114" fmla="*/ 40006 h 367619"/>
              <a:gd name="connsiteX115" fmla="*/ 107997 w 400943"/>
              <a:gd name="connsiteY115" fmla="*/ 40006 h 367619"/>
              <a:gd name="connsiteX116" fmla="*/ 107997 w 400943"/>
              <a:gd name="connsiteY116" fmla="*/ 45000 h 367619"/>
              <a:gd name="connsiteX117" fmla="*/ 95180 w 400943"/>
              <a:gd name="connsiteY117" fmla="*/ 57817 h 367619"/>
              <a:gd name="connsiteX118" fmla="*/ 82363 w 400943"/>
              <a:gd name="connsiteY118" fmla="*/ 45000 h 367619"/>
              <a:gd name="connsiteX119" fmla="*/ 82363 w 400943"/>
              <a:gd name="connsiteY119" fmla="*/ 40006 h 367619"/>
              <a:gd name="connsiteX120" fmla="*/ 65830 w 400943"/>
              <a:gd name="connsiteY120" fmla="*/ 40006 h 367619"/>
              <a:gd name="connsiteX121" fmla="*/ 65830 w 400943"/>
              <a:gd name="connsiteY121" fmla="*/ 45000 h 367619"/>
              <a:gd name="connsiteX122" fmla="*/ 53014 w 400943"/>
              <a:gd name="connsiteY122" fmla="*/ 57817 h 367619"/>
              <a:gd name="connsiteX123" fmla="*/ 40197 w 400943"/>
              <a:gd name="connsiteY123" fmla="*/ 45000 h 367619"/>
              <a:gd name="connsiteX124" fmla="*/ 40197 w 400943"/>
              <a:gd name="connsiteY124" fmla="*/ 40006 h 367619"/>
              <a:gd name="connsiteX125" fmla="*/ 53014 w 400943"/>
              <a:gd name="connsiteY125" fmla="*/ 0 h 367619"/>
              <a:gd name="connsiteX126" fmla="*/ 65830 w 400943"/>
              <a:gd name="connsiteY126" fmla="*/ 12816 h 367619"/>
              <a:gd name="connsiteX127" fmla="*/ 65830 w 400943"/>
              <a:gd name="connsiteY127" fmla="*/ 16804 h 367619"/>
              <a:gd name="connsiteX128" fmla="*/ 82363 w 400943"/>
              <a:gd name="connsiteY128" fmla="*/ 16804 h 367619"/>
              <a:gd name="connsiteX129" fmla="*/ 82363 w 400943"/>
              <a:gd name="connsiteY129" fmla="*/ 12816 h 367619"/>
              <a:gd name="connsiteX130" fmla="*/ 95180 w 400943"/>
              <a:gd name="connsiteY130" fmla="*/ 0 h 367619"/>
              <a:gd name="connsiteX131" fmla="*/ 107997 w 400943"/>
              <a:gd name="connsiteY131" fmla="*/ 12816 h 367619"/>
              <a:gd name="connsiteX132" fmla="*/ 107997 w 400943"/>
              <a:gd name="connsiteY132" fmla="*/ 16804 h 367619"/>
              <a:gd name="connsiteX133" fmla="*/ 124530 w 400943"/>
              <a:gd name="connsiteY133" fmla="*/ 16804 h 367619"/>
              <a:gd name="connsiteX134" fmla="*/ 124530 w 400943"/>
              <a:gd name="connsiteY134" fmla="*/ 12816 h 367619"/>
              <a:gd name="connsiteX135" fmla="*/ 137347 w 400943"/>
              <a:gd name="connsiteY135" fmla="*/ 0 h 367619"/>
              <a:gd name="connsiteX136" fmla="*/ 150163 w 400943"/>
              <a:gd name="connsiteY136" fmla="*/ 12816 h 367619"/>
              <a:gd name="connsiteX137" fmla="*/ 150163 w 400943"/>
              <a:gd name="connsiteY137" fmla="*/ 16804 h 367619"/>
              <a:gd name="connsiteX138" fmla="*/ 166696 w 400943"/>
              <a:gd name="connsiteY138" fmla="*/ 16804 h 367619"/>
              <a:gd name="connsiteX139" fmla="*/ 166696 w 400943"/>
              <a:gd name="connsiteY139" fmla="*/ 12816 h 367619"/>
              <a:gd name="connsiteX140" fmla="*/ 179513 w 400943"/>
              <a:gd name="connsiteY140" fmla="*/ 0 h 367619"/>
              <a:gd name="connsiteX141" fmla="*/ 192330 w 400943"/>
              <a:gd name="connsiteY141" fmla="*/ 12816 h 367619"/>
              <a:gd name="connsiteX142" fmla="*/ 192330 w 400943"/>
              <a:gd name="connsiteY142" fmla="*/ 16804 h 367619"/>
              <a:gd name="connsiteX143" fmla="*/ 208863 w 400943"/>
              <a:gd name="connsiteY143" fmla="*/ 16804 h 367619"/>
              <a:gd name="connsiteX144" fmla="*/ 208863 w 400943"/>
              <a:gd name="connsiteY144" fmla="*/ 12816 h 367619"/>
              <a:gd name="connsiteX145" fmla="*/ 221679 w 400943"/>
              <a:gd name="connsiteY145" fmla="*/ 0 h 367619"/>
              <a:gd name="connsiteX146" fmla="*/ 234496 w 400943"/>
              <a:gd name="connsiteY146" fmla="*/ 12816 h 367619"/>
              <a:gd name="connsiteX147" fmla="*/ 234496 w 400943"/>
              <a:gd name="connsiteY147" fmla="*/ 16804 h 367619"/>
              <a:gd name="connsiteX148" fmla="*/ 251029 w 400943"/>
              <a:gd name="connsiteY148" fmla="*/ 16804 h 367619"/>
              <a:gd name="connsiteX149" fmla="*/ 251029 w 400943"/>
              <a:gd name="connsiteY149" fmla="*/ 12816 h 367619"/>
              <a:gd name="connsiteX150" fmla="*/ 263846 w 400943"/>
              <a:gd name="connsiteY150" fmla="*/ 0 h 367619"/>
              <a:gd name="connsiteX151" fmla="*/ 276663 w 400943"/>
              <a:gd name="connsiteY151" fmla="*/ 12816 h 367619"/>
              <a:gd name="connsiteX152" fmla="*/ 276663 w 400943"/>
              <a:gd name="connsiteY152" fmla="*/ 16804 h 367619"/>
              <a:gd name="connsiteX153" fmla="*/ 293195 w 400943"/>
              <a:gd name="connsiteY153" fmla="*/ 16804 h 367619"/>
              <a:gd name="connsiteX154" fmla="*/ 293195 w 400943"/>
              <a:gd name="connsiteY154" fmla="*/ 12816 h 367619"/>
              <a:gd name="connsiteX155" fmla="*/ 306012 w 400943"/>
              <a:gd name="connsiteY155" fmla="*/ 0 h 367619"/>
              <a:gd name="connsiteX156" fmla="*/ 318829 w 400943"/>
              <a:gd name="connsiteY156" fmla="*/ 12816 h 367619"/>
              <a:gd name="connsiteX157" fmla="*/ 318829 w 400943"/>
              <a:gd name="connsiteY157" fmla="*/ 16804 h 367619"/>
              <a:gd name="connsiteX158" fmla="*/ 390208 w 400943"/>
              <a:gd name="connsiteY158" fmla="*/ 16804 h 367619"/>
              <a:gd name="connsiteX159" fmla="*/ 400943 w 400943"/>
              <a:gd name="connsiteY159" fmla="*/ 27539 h 367619"/>
              <a:gd name="connsiteX160" fmla="*/ 400943 w 400943"/>
              <a:gd name="connsiteY160" fmla="*/ 356884 h 367619"/>
              <a:gd name="connsiteX161" fmla="*/ 390208 w 400943"/>
              <a:gd name="connsiteY161" fmla="*/ 367619 h 367619"/>
              <a:gd name="connsiteX162" fmla="*/ 10735 w 400943"/>
              <a:gd name="connsiteY162" fmla="*/ 367619 h 367619"/>
              <a:gd name="connsiteX163" fmla="*/ 0 w 400943"/>
              <a:gd name="connsiteY163" fmla="*/ 356884 h 367619"/>
              <a:gd name="connsiteX164" fmla="*/ 0 w 400943"/>
              <a:gd name="connsiteY164" fmla="*/ 27539 h 367619"/>
              <a:gd name="connsiteX165" fmla="*/ 10735 w 400943"/>
              <a:gd name="connsiteY165" fmla="*/ 16804 h 367619"/>
              <a:gd name="connsiteX166" fmla="*/ 40197 w 400943"/>
              <a:gd name="connsiteY166" fmla="*/ 16804 h 367619"/>
              <a:gd name="connsiteX167" fmla="*/ 40197 w 400943"/>
              <a:gd name="connsiteY167" fmla="*/ 12816 h 367619"/>
              <a:gd name="connsiteX168" fmla="*/ 53014 w 400943"/>
              <a:gd name="connsiteY168" fmla="*/ 0 h 367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400943" h="367619">
                <a:moveTo>
                  <a:pt x="318859" y="295010"/>
                </a:moveTo>
                <a:lnTo>
                  <a:pt x="318859" y="344416"/>
                </a:lnTo>
                <a:lnTo>
                  <a:pt x="376829" y="344416"/>
                </a:lnTo>
                <a:lnTo>
                  <a:pt x="376829" y="295010"/>
                </a:lnTo>
                <a:close/>
                <a:moveTo>
                  <a:pt x="243972" y="295010"/>
                </a:moveTo>
                <a:lnTo>
                  <a:pt x="243972" y="344416"/>
                </a:lnTo>
                <a:lnTo>
                  <a:pt x="305758" y="344416"/>
                </a:lnTo>
                <a:lnTo>
                  <a:pt x="305758" y="295010"/>
                </a:lnTo>
                <a:close/>
                <a:moveTo>
                  <a:pt x="169085" y="295010"/>
                </a:moveTo>
                <a:lnTo>
                  <a:pt x="169085" y="344416"/>
                </a:lnTo>
                <a:lnTo>
                  <a:pt x="230871" y="344416"/>
                </a:lnTo>
                <a:lnTo>
                  <a:pt x="230871" y="295010"/>
                </a:lnTo>
                <a:close/>
                <a:moveTo>
                  <a:pt x="94198" y="295010"/>
                </a:moveTo>
                <a:lnTo>
                  <a:pt x="94198" y="344416"/>
                </a:lnTo>
                <a:lnTo>
                  <a:pt x="155984" y="344416"/>
                </a:lnTo>
                <a:lnTo>
                  <a:pt x="155984" y="295010"/>
                </a:lnTo>
                <a:close/>
                <a:moveTo>
                  <a:pt x="24114" y="295010"/>
                </a:moveTo>
                <a:lnTo>
                  <a:pt x="24114" y="344416"/>
                </a:lnTo>
                <a:lnTo>
                  <a:pt x="81097" y="344416"/>
                </a:lnTo>
                <a:lnTo>
                  <a:pt x="81097" y="295010"/>
                </a:lnTo>
                <a:close/>
                <a:moveTo>
                  <a:pt x="318859" y="228097"/>
                </a:moveTo>
                <a:lnTo>
                  <a:pt x="318859" y="281908"/>
                </a:lnTo>
                <a:lnTo>
                  <a:pt x="376829" y="281908"/>
                </a:lnTo>
                <a:lnTo>
                  <a:pt x="376829" y="228097"/>
                </a:lnTo>
                <a:close/>
                <a:moveTo>
                  <a:pt x="243972" y="228097"/>
                </a:moveTo>
                <a:lnTo>
                  <a:pt x="243972" y="281908"/>
                </a:lnTo>
                <a:lnTo>
                  <a:pt x="305758" y="281908"/>
                </a:lnTo>
                <a:lnTo>
                  <a:pt x="305758" y="228097"/>
                </a:lnTo>
                <a:close/>
                <a:moveTo>
                  <a:pt x="169085" y="228097"/>
                </a:moveTo>
                <a:lnTo>
                  <a:pt x="169085" y="281908"/>
                </a:lnTo>
                <a:lnTo>
                  <a:pt x="230871" y="281908"/>
                </a:lnTo>
                <a:lnTo>
                  <a:pt x="230871" y="228097"/>
                </a:lnTo>
                <a:close/>
                <a:moveTo>
                  <a:pt x="94198" y="228097"/>
                </a:moveTo>
                <a:lnTo>
                  <a:pt x="94198" y="281908"/>
                </a:lnTo>
                <a:lnTo>
                  <a:pt x="155984" y="281908"/>
                </a:lnTo>
                <a:lnTo>
                  <a:pt x="155984" y="228097"/>
                </a:lnTo>
                <a:close/>
                <a:moveTo>
                  <a:pt x="24114" y="228097"/>
                </a:moveTo>
                <a:lnTo>
                  <a:pt x="24114" y="281908"/>
                </a:lnTo>
                <a:lnTo>
                  <a:pt x="81097" y="281908"/>
                </a:lnTo>
                <a:lnTo>
                  <a:pt x="81097" y="228097"/>
                </a:lnTo>
                <a:close/>
                <a:moveTo>
                  <a:pt x="318859" y="161185"/>
                </a:moveTo>
                <a:lnTo>
                  <a:pt x="318859" y="214996"/>
                </a:lnTo>
                <a:lnTo>
                  <a:pt x="376829" y="214996"/>
                </a:lnTo>
                <a:lnTo>
                  <a:pt x="376829" y="161185"/>
                </a:lnTo>
                <a:close/>
                <a:moveTo>
                  <a:pt x="243972" y="161185"/>
                </a:moveTo>
                <a:lnTo>
                  <a:pt x="243972" y="214996"/>
                </a:lnTo>
                <a:lnTo>
                  <a:pt x="305758" y="214996"/>
                </a:lnTo>
                <a:lnTo>
                  <a:pt x="305758" y="161185"/>
                </a:lnTo>
                <a:close/>
                <a:moveTo>
                  <a:pt x="169085" y="161185"/>
                </a:moveTo>
                <a:lnTo>
                  <a:pt x="169085" y="214996"/>
                </a:lnTo>
                <a:lnTo>
                  <a:pt x="230871" y="214996"/>
                </a:lnTo>
                <a:lnTo>
                  <a:pt x="230871" y="161185"/>
                </a:lnTo>
                <a:close/>
                <a:moveTo>
                  <a:pt x="94198" y="161185"/>
                </a:moveTo>
                <a:lnTo>
                  <a:pt x="94198" y="214996"/>
                </a:lnTo>
                <a:lnTo>
                  <a:pt x="155984" y="214996"/>
                </a:lnTo>
                <a:lnTo>
                  <a:pt x="155984" y="161185"/>
                </a:lnTo>
                <a:close/>
                <a:moveTo>
                  <a:pt x="24114" y="161185"/>
                </a:moveTo>
                <a:lnTo>
                  <a:pt x="24114" y="214996"/>
                </a:lnTo>
                <a:lnTo>
                  <a:pt x="81097" y="214996"/>
                </a:lnTo>
                <a:lnTo>
                  <a:pt x="81097" y="161185"/>
                </a:lnTo>
                <a:close/>
                <a:moveTo>
                  <a:pt x="318859" y="94273"/>
                </a:moveTo>
                <a:lnTo>
                  <a:pt x="318859" y="148084"/>
                </a:lnTo>
                <a:lnTo>
                  <a:pt x="376829" y="148084"/>
                </a:lnTo>
                <a:lnTo>
                  <a:pt x="376829" y="94273"/>
                </a:lnTo>
                <a:close/>
                <a:moveTo>
                  <a:pt x="243972" y="94273"/>
                </a:moveTo>
                <a:lnTo>
                  <a:pt x="243972" y="148084"/>
                </a:lnTo>
                <a:lnTo>
                  <a:pt x="305758" y="148084"/>
                </a:lnTo>
                <a:lnTo>
                  <a:pt x="305758" y="94273"/>
                </a:lnTo>
                <a:close/>
                <a:moveTo>
                  <a:pt x="169085" y="94273"/>
                </a:moveTo>
                <a:lnTo>
                  <a:pt x="169085" y="148084"/>
                </a:lnTo>
                <a:lnTo>
                  <a:pt x="230871" y="148084"/>
                </a:lnTo>
                <a:lnTo>
                  <a:pt x="230871" y="94273"/>
                </a:lnTo>
                <a:close/>
                <a:moveTo>
                  <a:pt x="94198" y="94273"/>
                </a:moveTo>
                <a:lnTo>
                  <a:pt x="94198" y="148084"/>
                </a:lnTo>
                <a:lnTo>
                  <a:pt x="155984" y="148084"/>
                </a:lnTo>
                <a:lnTo>
                  <a:pt x="155984" y="94273"/>
                </a:lnTo>
                <a:close/>
                <a:moveTo>
                  <a:pt x="24114" y="94273"/>
                </a:moveTo>
                <a:lnTo>
                  <a:pt x="24114" y="148084"/>
                </a:lnTo>
                <a:lnTo>
                  <a:pt x="81097" y="148084"/>
                </a:lnTo>
                <a:lnTo>
                  <a:pt x="81097" y="94273"/>
                </a:lnTo>
                <a:close/>
                <a:moveTo>
                  <a:pt x="24114" y="40006"/>
                </a:moveTo>
                <a:lnTo>
                  <a:pt x="24114" y="81172"/>
                </a:lnTo>
                <a:lnTo>
                  <a:pt x="376829" y="81172"/>
                </a:lnTo>
                <a:lnTo>
                  <a:pt x="376829" y="40006"/>
                </a:lnTo>
                <a:lnTo>
                  <a:pt x="318829" y="40006"/>
                </a:lnTo>
                <a:cubicBezTo>
                  <a:pt x="318829" y="41671"/>
                  <a:pt x="318829" y="43336"/>
                  <a:pt x="318829" y="45000"/>
                </a:cubicBezTo>
                <a:cubicBezTo>
                  <a:pt x="318829" y="48540"/>
                  <a:pt x="317394" y="51744"/>
                  <a:pt x="315075" y="54063"/>
                </a:cubicBezTo>
                <a:lnTo>
                  <a:pt x="306012" y="57817"/>
                </a:lnTo>
                <a:lnTo>
                  <a:pt x="296949" y="54063"/>
                </a:lnTo>
                <a:cubicBezTo>
                  <a:pt x="294630" y="51744"/>
                  <a:pt x="293195" y="48539"/>
                  <a:pt x="293195" y="45000"/>
                </a:cubicBezTo>
                <a:lnTo>
                  <a:pt x="293195" y="40006"/>
                </a:lnTo>
                <a:lnTo>
                  <a:pt x="276663" y="40006"/>
                </a:lnTo>
                <a:cubicBezTo>
                  <a:pt x="276663" y="41671"/>
                  <a:pt x="276663" y="43336"/>
                  <a:pt x="276663" y="45000"/>
                </a:cubicBezTo>
                <a:cubicBezTo>
                  <a:pt x="276663" y="52079"/>
                  <a:pt x="270924" y="57817"/>
                  <a:pt x="263846" y="57817"/>
                </a:cubicBezTo>
                <a:cubicBezTo>
                  <a:pt x="256767" y="57817"/>
                  <a:pt x="251029" y="52079"/>
                  <a:pt x="251029" y="45000"/>
                </a:cubicBezTo>
                <a:lnTo>
                  <a:pt x="251029" y="40006"/>
                </a:lnTo>
                <a:lnTo>
                  <a:pt x="234496" y="40006"/>
                </a:lnTo>
                <a:cubicBezTo>
                  <a:pt x="234496" y="41671"/>
                  <a:pt x="234496" y="43336"/>
                  <a:pt x="234496" y="45000"/>
                </a:cubicBezTo>
                <a:cubicBezTo>
                  <a:pt x="234496" y="52079"/>
                  <a:pt x="228758" y="57817"/>
                  <a:pt x="221679" y="57817"/>
                </a:cubicBezTo>
                <a:cubicBezTo>
                  <a:pt x="214601" y="57817"/>
                  <a:pt x="208863" y="52079"/>
                  <a:pt x="208863" y="45000"/>
                </a:cubicBezTo>
                <a:lnTo>
                  <a:pt x="208863" y="40006"/>
                </a:lnTo>
                <a:lnTo>
                  <a:pt x="192330" y="40006"/>
                </a:lnTo>
                <a:cubicBezTo>
                  <a:pt x="192330" y="41671"/>
                  <a:pt x="192330" y="43336"/>
                  <a:pt x="192330" y="45000"/>
                </a:cubicBezTo>
                <a:cubicBezTo>
                  <a:pt x="192330" y="48540"/>
                  <a:pt x="190895" y="51744"/>
                  <a:pt x="188576" y="54063"/>
                </a:cubicBezTo>
                <a:lnTo>
                  <a:pt x="179513" y="57817"/>
                </a:lnTo>
                <a:lnTo>
                  <a:pt x="170450" y="54063"/>
                </a:lnTo>
                <a:cubicBezTo>
                  <a:pt x="168131" y="51744"/>
                  <a:pt x="166696" y="48539"/>
                  <a:pt x="166696" y="45000"/>
                </a:cubicBezTo>
                <a:lnTo>
                  <a:pt x="166696" y="40006"/>
                </a:lnTo>
                <a:lnTo>
                  <a:pt x="150163" y="40006"/>
                </a:lnTo>
                <a:cubicBezTo>
                  <a:pt x="150163" y="41671"/>
                  <a:pt x="150163" y="43336"/>
                  <a:pt x="150163" y="45000"/>
                </a:cubicBezTo>
                <a:cubicBezTo>
                  <a:pt x="150163" y="48540"/>
                  <a:pt x="148729" y="51744"/>
                  <a:pt x="146409" y="54063"/>
                </a:cubicBezTo>
                <a:lnTo>
                  <a:pt x="137347" y="57817"/>
                </a:lnTo>
                <a:lnTo>
                  <a:pt x="128284" y="54063"/>
                </a:lnTo>
                <a:cubicBezTo>
                  <a:pt x="125964" y="51744"/>
                  <a:pt x="124530" y="48539"/>
                  <a:pt x="124530" y="45000"/>
                </a:cubicBezTo>
                <a:lnTo>
                  <a:pt x="124530" y="40006"/>
                </a:lnTo>
                <a:lnTo>
                  <a:pt x="107997" y="40006"/>
                </a:lnTo>
                <a:cubicBezTo>
                  <a:pt x="107997" y="41671"/>
                  <a:pt x="107997" y="43336"/>
                  <a:pt x="107997" y="45000"/>
                </a:cubicBezTo>
                <a:cubicBezTo>
                  <a:pt x="107997" y="52079"/>
                  <a:pt x="102259" y="57817"/>
                  <a:pt x="95180" y="57817"/>
                </a:cubicBezTo>
                <a:cubicBezTo>
                  <a:pt x="88102" y="57817"/>
                  <a:pt x="82363" y="52079"/>
                  <a:pt x="82363" y="45000"/>
                </a:cubicBezTo>
                <a:lnTo>
                  <a:pt x="82363" y="40006"/>
                </a:lnTo>
                <a:lnTo>
                  <a:pt x="65830" y="40006"/>
                </a:lnTo>
                <a:cubicBezTo>
                  <a:pt x="65830" y="41671"/>
                  <a:pt x="65830" y="43336"/>
                  <a:pt x="65830" y="45000"/>
                </a:cubicBezTo>
                <a:cubicBezTo>
                  <a:pt x="65830" y="52079"/>
                  <a:pt x="60092" y="57817"/>
                  <a:pt x="53014" y="57817"/>
                </a:cubicBezTo>
                <a:cubicBezTo>
                  <a:pt x="45935" y="57817"/>
                  <a:pt x="40197" y="52079"/>
                  <a:pt x="40197" y="45000"/>
                </a:cubicBezTo>
                <a:lnTo>
                  <a:pt x="40197" y="40006"/>
                </a:lnTo>
                <a:close/>
                <a:moveTo>
                  <a:pt x="53014" y="0"/>
                </a:moveTo>
                <a:cubicBezTo>
                  <a:pt x="60092" y="0"/>
                  <a:pt x="65830" y="5738"/>
                  <a:pt x="65830" y="12816"/>
                </a:cubicBezTo>
                <a:lnTo>
                  <a:pt x="65830" y="16804"/>
                </a:lnTo>
                <a:lnTo>
                  <a:pt x="82363" y="16804"/>
                </a:lnTo>
                <a:lnTo>
                  <a:pt x="82363" y="12816"/>
                </a:lnTo>
                <a:cubicBezTo>
                  <a:pt x="82363" y="5738"/>
                  <a:pt x="88102" y="0"/>
                  <a:pt x="95180" y="0"/>
                </a:cubicBezTo>
                <a:cubicBezTo>
                  <a:pt x="102259" y="0"/>
                  <a:pt x="107997" y="5738"/>
                  <a:pt x="107997" y="12816"/>
                </a:cubicBezTo>
                <a:lnTo>
                  <a:pt x="107997" y="16804"/>
                </a:lnTo>
                <a:lnTo>
                  <a:pt x="124530" y="16804"/>
                </a:lnTo>
                <a:lnTo>
                  <a:pt x="124530" y="12816"/>
                </a:lnTo>
                <a:cubicBezTo>
                  <a:pt x="124530" y="5738"/>
                  <a:pt x="130268" y="0"/>
                  <a:pt x="137347" y="0"/>
                </a:cubicBezTo>
                <a:cubicBezTo>
                  <a:pt x="144425" y="0"/>
                  <a:pt x="150163" y="5738"/>
                  <a:pt x="150163" y="12816"/>
                </a:cubicBezTo>
                <a:lnTo>
                  <a:pt x="150163" y="16804"/>
                </a:lnTo>
                <a:lnTo>
                  <a:pt x="166696" y="16804"/>
                </a:lnTo>
                <a:lnTo>
                  <a:pt x="166696" y="12816"/>
                </a:lnTo>
                <a:cubicBezTo>
                  <a:pt x="166696" y="5738"/>
                  <a:pt x="172435" y="0"/>
                  <a:pt x="179513" y="0"/>
                </a:cubicBezTo>
                <a:cubicBezTo>
                  <a:pt x="186592" y="0"/>
                  <a:pt x="192330" y="5738"/>
                  <a:pt x="192330" y="12816"/>
                </a:cubicBezTo>
                <a:lnTo>
                  <a:pt x="192330" y="16804"/>
                </a:lnTo>
                <a:lnTo>
                  <a:pt x="208863" y="16804"/>
                </a:lnTo>
                <a:lnTo>
                  <a:pt x="208863" y="12816"/>
                </a:lnTo>
                <a:cubicBezTo>
                  <a:pt x="208863" y="5738"/>
                  <a:pt x="214601" y="0"/>
                  <a:pt x="221679" y="0"/>
                </a:cubicBezTo>
                <a:cubicBezTo>
                  <a:pt x="228758" y="0"/>
                  <a:pt x="234496" y="5738"/>
                  <a:pt x="234496" y="12816"/>
                </a:cubicBezTo>
                <a:lnTo>
                  <a:pt x="234496" y="16804"/>
                </a:lnTo>
                <a:lnTo>
                  <a:pt x="251029" y="16804"/>
                </a:lnTo>
                <a:lnTo>
                  <a:pt x="251029" y="12816"/>
                </a:lnTo>
                <a:cubicBezTo>
                  <a:pt x="251029" y="5738"/>
                  <a:pt x="256767" y="0"/>
                  <a:pt x="263846" y="0"/>
                </a:cubicBezTo>
                <a:cubicBezTo>
                  <a:pt x="270924" y="0"/>
                  <a:pt x="276663" y="5738"/>
                  <a:pt x="276663" y="12816"/>
                </a:cubicBezTo>
                <a:lnTo>
                  <a:pt x="276663" y="16804"/>
                </a:lnTo>
                <a:lnTo>
                  <a:pt x="293195" y="16804"/>
                </a:lnTo>
                <a:lnTo>
                  <a:pt x="293195" y="12816"/>
                </a:lnTo>
                <a:cubicBezTo>
                  <a:pt x="293195" y="5738"/>
                  <a:pt x="298934" y="0"/>
                  <a:pt x="306012" y="0"/>
                </a:cubicBezTo>
                <a:cubicBezTo>
                  <a:pt x="313091" y="0"/>
                  <a:pt x="318829" y="5738"/>
                  <a:pt x="318829" y="12816"/>
                </a:cubicBezTo>
                <a:lnTo>
                  <a:pt x="318829" y="16804"/>
                </a:lnTo>
                <a:lnTo>
                  <a:pt x="390208" y="16804"/>
                </a:lnTo>
                <a:cubicBezTo>
                  <a:pt x="396137" y="16804"/>
                  <a:pt x="400943" y="21610"/>
                  <a:pt x="400943" y="27539"/>
                </a:cubicBezTo>
                <a:lnTo>
                  <a:pt x="400943" y="356884"/>
                </a:lnTo>
                <a:cubicBezTo>
                  <a:pt x="400943" y="362813"/>
                  <a:pt x="396137" y="367619"/>
                  <a:pt x="390208" y="367619"/>
                </a:cubicBezTo>
                <a:lnTo>
                  <a:pt x="10735" y="367619"/>
                </a:lnTo>
                <a:cubicBezTo>
                  <a:pt x="4806" y="367619"/>
                  <a:pt x="0" y="362813"/>
                  <a:pt x="0" y="356884"/>
                </a:cubicBezTo>
                <a:lnTo>
                  <a:pt x="0" y="27539"/>
                </a:lnTo>
                <a:cubicBezTo>
                  <a:pt x="0" y="21610"/>
                  <a:pt x="4806" y="16804"/>
                  <a:pt x="10735" y="16804"/>
                </a:cubicBezTo>
                <a:lnTo>
                  <a:pt x="40197" y="16804"/>
                </a:lnTo>
                <a:lnTo>
                  <a:pt x="40197" y="12816"/>
                </a:lnTo>
                <a:cubicBezTo>
                  <a:pt x="40197" y="5738"/>
                  <a:pt x="45935" y="0"/>
                  <a:pt x="53014" y="0"/>
                </a:cubicBezTo>
                <a:close/>
              </a:path>
            </a:pathLst>
          </a:custGeom>
          <a:solidFill>
            <a:schemeClr val="bg1">
              <a:lumMod val="50000"/>
            </a:schemeClr>
          </a:solidFill>
          <a:ln>
            <a:noFill/>
          </a:ln>
        </p:spPr>
        <p:txBody>
          <a:bodyPr vert="horz" wrap="square" lIns="91427" tIns="45714" rIns="91427" bIns="45714" numCol="1" anchor="t"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92">
              <a:defRPr/>
            </a:pPr>
            <a:endParaRPr lang="en-US">
              <a:solidFill>
                <a:srgbClr val="505050">
                  <a:lumMod val="50000"/>
                </a:srgbClr>
              </a:solidFill>
              <a:latin typeface="Segoe UI"/>
            </a:endParaRPr>
          </a:p>
        </p:txBody>
      </p:sp>
      <p:sp>
        <p:nvSpPr>
          <p:cNvPr id="52" name="Freeform 141">
            <a:extLst>
              <a:ext uri="{FF2B5EF4-FFF2-40B4-BE49-F238E27FC236}">
                <a16:creationId xmlns:a16="http://schemas.microsoft.com/office/drawing/2014/main" id="{71E5E192-AF98-4D1B-9C20-3B16F9C74445}"/>
              </a:ext>
            </a:extLst>
          </p:cNvPr>
          <p:cNvSpPr/>
          <p:nvPr/>
        </p:nvSpPr>
        <p:spPr bwMode="auto">
          <a:xfrm>
            <a:off x="5055502" y="2877369"/>
            <a:ext cx="476037" cy="281552"/>
          </a:xfrm>
          <a:custGeom>
            <a:avLst/>
            <a:gdLst/>
            <a:ahLst/>
            <a:cxnLst/>
            <a:rect l="l" t="t" r="r" b="b"/>
            <a:pathLst>
              <a:path w="7063740" h="3482340">
                <a:moveTo>
                  <a:pt x="548640" y="2067560"/>
                </a:moveTo>
                <a:lnTo>
                  <a:pt x="91440" y="2143760"/>
                </a:lnTo>
                <a:lnTo>
                  <a:pt x="3501390" y="3318510"/>
                </a:lnTo>
                <a:lnTo>
                  <a:pt x="4999990" y="2867660"/>
                </a:lnTo>
                <a:lnTo>
                  <a:pt x="3863340" y="2912110"/>
                </a:lnTo>
                <a:close/>
                <a:moveTo>
                  <a:pt x="1366647" y="1544693"/>
                </a:moveTo>
                <a:lnTo>
                  <a:pt x="1403318" y="1546860"/>
                </a:lnTo>
                <a:lnTo>
                  <a:pt x="1366647" y="1546860"/>
                </a:lnTo>
                <a:close/>
                <a:moveTo>
                  <a:pt x="1882140" y="1532573"/>
                </a:moveTo>
                <a:lnTo>
                  <a:pt x="1366647" y="1544396"/>
                </a:lnTo>
                <a:lnTo>
                  <a:pt x="1366647" y="1542098"/>
                </a:lnTo>
                <a:lnTo>
                  <a:pt x="1339215" y="1542098"/>
                </a:lnTo>
                <a:lnTo>
                  <a:pt x="1339215" y="2227898"/>
                </a:lnTo>
                <a:lnTo>
                  <a:pt x="1366647" y="2227898"/>
                </a:lnTo>
                <a:lnTo>
                  <a:pt x="1366647" y="1574292"/>
                </a:lnTo>
                <a:lnTo>
                  <a:pt x="1563053" y="1574292"/>
                </a:lnTo>
                <a:lnTo>
                  <a:pt x="1563053" y="2283151"/>
                </a:lnTo>
                <a:lnTo>
                  <a:pt x="1590485" y="2283151"/>
                </a:lnTo>
                <a:lnTo>
                  <a:pt x="1590485" y="1574292"/>
                </a:lnTo>
                <a:lnTo>
                  <a:pt x="1861185" y="1574292"/>
                </a:lnTo>
                <a:lnTo>
                  <a:pt x="1861185" y="1573915"/>
                </a:lnTo>
                <a:lnTo>
                  <a:pt x="1886903" y="1575435"/>
                </a:lnTo>
                <a:close/>
                <a:moveTo>
                  <a:pt x="1153478" y="1489710"/>
                </a:moveTo>
                <a:lnTo>
                  <a:pt x="1153478" y="1999298"/>
                </a:lnTo>
                <a:lnTo>
                  <a:pt x="643890" y="1908810"/>
                </a:lnTo>
                <a:lnTo>
                  <a:pt x="662940" y="1503998"/>
                </a:lnTo>
                <a:close/>
                <a:moveTo>
                  <a:pt x="3677603" y="1408748"/>
                </a:moveTo>
                <a:lnTo>
                  <a:pt x="3677603" y="2404110"/>
                </a:lnTo>
                <a:lnTo>
                  <a:pt x="2077403" y="2142173"/>
                </a:lnTo>
                <a:lnTo>
                  <a:pt x="2077403" y="1456373"/>
                </a:lnTo>
                <a:close/>
                <a:moveTo>
                  <a:pt x="3815715" y="94298"/>
                </a:moveTo>
                <a:lnTo>
                  <a:pt x="620078" y="1042035"/>
                </a:lnTo>
                <a:lnTo>
                  <a:pt x="581978" y="2042160"/>
                </a:lnTo>
                <a:lnTo>
                  <a:pt x="1272540" y="2208848"/>
                </a:lnTo>
                <a:cubicBezTo>
                  <a:pt x="1274128" y="1967548"/>
                  <a:pt x="1275715" y="1726248"/>
                  <a:pt x="1277303" y="1484948"/>
                </a:cubicBezTo>
                <a:lnTo>
                  <a:pt x="1953578" y="1465898"/>
                </a:lnTo>
                <a:lnTo>
                  <a:pt x="1958340" y="2380298"/>
                </a:lnTo>
                <a:lnTo>
                  <a:pt x="3849053" y="2827973"/>
                </a:lnTo>
                <a:close/>
                <a:moveTo>
                  <a:pt x="3802380" y="0"/>
                </a:moveTo>
                <a:lnTo>
                  <a:pt x="6873240" y="914400"/>
                </a:lnTo>
                <a:lnTo>
                  <a:pt x="6873240" y="2125980"/>
                </a:lnTo>
                <a:lnTo>
                  <a:pt x="7063740" y="2156460"/>
                </a:lnTo>
                <a:lnTo>
                  <a:pt x="7063740" y="2308860"/>
                </a:lnTo>
                <a:lnTo>
                  <a:pt x="3512820" y="3482340"/>
                </a:lnTo>
                <a:lnTo>
                  <a:pt x="0" y="2194560"/>
                </a:lnTo>
                <a:lnTo>
                  <a:pt x="0" y="2118360"/>
                </a:lnTo>
                <a:lnTo>
                  <a:pt x="510540" y="2049780"/>
                </a:lnTo>
                <a:lnTo>
                  <a:pt x="556260" y="975360"/>
                </a:lnTo>
                <a:close/>
              </a:path>
            </a:pathLst>
          </a:custGeom>
          <a:solidFill>
            <a:schemeClr val="bg1">
              <a:lumMod val="50000"/>
            </a:schemeClr>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27" tIns="45714" rIns="45714" bIns="91427"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28" fontAlgn="base">
              <a:spcBef>
                <a:spcPct val="0"/>
              </a:spcBef>
              <a:spcAft>
                <a:spcPct val="0"/>
              </a:spcAft>
              <a:defRPr/>
            </a:pPr>
            <a:endParaRPr lang="en-US" spc="-50">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53" name="Rounded Rectangle 14">
            <a:extLst>
              <a:ext uri="{FF2B5EF4-FFF2-40B4-BE49-F238E27FC236}">
                <a16:creationId xmlns:a16="http://schemas.microsoft.com/office/drawing/2014/main" id="{7CD43990-E62B-4F05-AF28-564193659905}"/>
              </a:ext>
            </a:extLst>
          </p:cNvPr>
          <p:cNvSpPr/>
          <p:nvPr/>
        </p:nvSpPr>
        <p:spPr>
          <a:xfrm>
            <a:off x="8848159" y="3261837"/>
            <a:ext cx="344314" cy="243388"/>
          </a:xfrm>
          <a:custGeom>
            <a:avLst/>
            <a:gdLst/>
            <a:ahLst/>
            <a:cxnLst/>
            <a:rect l="l" t="t" r="r" b="b"/>
            <a:pathLst>
              <a:path w="3990453" h="3107352">
                <a:moveTo>
                  <a:pt x="1044313" y="1824213"/>
                </a:moveTo>
                <a:cubicBezTo>
                  <a:pt x="879214" y="1853582"/>
                  <a:pt x="856988" y="1925813"/>
                  <a:pt x="849051" y="1976613"/>
                </a:cubicBezTo>
                <a:cubicBezTo>
                  <a:pt x="850639" y="2101232"/>
                  <a:pt x="916520" y="2125838"/>
                  <a:pt x="982401" y="2143301"/>
                </a:cubicBezTo>
                <a:cubicBezTo>
                  <a:pt x="981606" y="2027413"/>
                  <a:pt x="1007007" y="1913907"/>
                  <a:pt x="1044313" y="1824213"/>
                </a:cubicBezTo>
                <a:close/>
                <a:moveTo>
                  <a:pt x="1146389" y="1732866"/>
                </a:moveTo>
                <a:cubicBezTo>
                  <a:pt x="1536777" y="1716429"/>
                  <a:pt x="2259533" y="2211218"/>
                  <a:pt x="2823724" y="2265356"/>
                </a:cubicBezTo>
                <a:cubicBezTo>
                  <a:pt x="3163290" y="2309425"/>
                  <a:pt x="3162514" y="2274572"/>
                  <a:pt x="3181724" y="2279127"/>
                </a:cubicBezTo>
                <a:cubicBezTo>
                  <a:pt x="3173302" y="2321259"/>
                  <a:pt x="2879991" y="2312685"/>
                  <a:pt x="2824688" y="2309352"/>
                </a:cubicBezTo>
                <a:cubicBezTo>
                  <a:pt x="2825662" y="2348291"/>
                  <a:pt x="2827323" y="2378705"/>
                  <a:pt x="2825488" y="2419520"/>
                </a:cubicBezTo>
                <a:cubicBezTo>
                  <a:pt x="2825488" y="2496439"/>
                  <a:pt x="2776195" y="2507632"/>
                  <a:pt x="2718326" y="2507632"/>
                </a:cubicBezTo>
                <a:cubicBezTo>
                  <a:pt x="2713566" y="2535413"/>
                  <a:pt x="2725475" y="2577481"/>
                  <a:pt x="2704046" y="2590974"/>
                </a:cubicBezTo>
                <a:cubicBezTo>
                  <a:pt x="2450841" y="2720356"/>
                  <a:pt x="2166680" y="2664000"/>
                  <a:pt x="1937288" y="2640982"/>
                </a:cubicBezTo>
                <a:cubicBezTo>
                  <a:pt x="1762738" y="2598120"/>
                  <a:pt x="1808696" y="2458338"/>
                  <a:pt x="1808696" y="2400469"/>
                </a:cubicBezTo>
                <a:cubicBezTo>
                  <a:pt x="1790439" y="2385630"/>
                  <a:pt x="1757895" y="2392222"/>
                  <a:pt x="1756307" y="2336902"/>
                </a:cubicBezTo>
                <a:cubicBezTo>
                  <a:pt x="1756417" y="2274240"/>
                  <a:pt x="1760029" y="2115081"/>
                  <a:pt x="1771829" y="1969370"/>
                </a:cubicBezTo>
                <a:cubicBezTo>
                  <a:pt x="1758945" y="1959213"/>
                  <a:pt x="1736535" y="1956200"/>
                  <a:pt x="1711744" y="1950805"/>
                </a:cubicBezTo>
                <a:cubicBezTo>
                  <a:pt x="1703530" y="2068162"/>
                  <a:pt x="1686457" y="2216055"/>
                  <a:pt x="1692013" y="2355233"/>
                </a:cubicBezTo>
                <a:cubicBezTo>
                  <a:pt x="1706566" y="2402328"/>
                  <a:pt x="1721119" y="2427993"/>
                  <a:pt x="1749959" y="2446514"/>
                </a:cubicBezTo>
                <a:cubicBezTo>
                  <a:pt x="1558023" y="2446514"/>
                  <a:pt x="1325603" y="2479852"/>
                  <a:pt x="1155099" y="2425083"/>
                </a:cubicBezTo>
                <a:cubicBezTo>
                  <a:pt x="1133535" y="2418601"/>
                  <a:pt x="1123101" y="2404951"/>
                  <a:pt x="1115750" y="2343325"/>
                </a:cubicBezTo>
                <a:cubicBezTo>
                  <a:pt x="1117526" y="2315809"/>
                  <a:pt x="1136786" y="2262341"/>
                  <a:pt x="1068126" y="2283795"/>
                </a:cubicBezTo>
                <a:cubicBezTo>
                  <a:pt x="993514" y="2285779"/>
                  <a:pt x="993909" y="2296075"/>
                  <a:pt x="982400" y="2226645"/>
                </a:cubicBezTo>
                <a:cubicBezTo>
                  <a:pt x="746656" y="2221485"/>
                  <a:pt x="680378" y="1771826"/>
                  <a:pt x="1072888" y="1743251"/>
                </a:cubicBezTo>
                <a:cubicBezTo>
                  <a:pt x="1095814" y="1737329"/>
                  <a:pt x="1120363" y="1733961"/>
                  <a:pt x="1146389" y="1732866"/>
                </a:cubicBezTo>
                <a:close/>
                <a:moveTo>
                  <a:pt x="1503829" y="942357"/>
                </a:moveTo>
                <a:cubicBezTo>
                  <a:pt x="1672640" y="942357"/>
                  <a:pt x="1809488" y="1079205"/>
                  <a:pt x="1809488" y="1248016"/>
                </a:cubicBezTo>
                <a:cubicBezTo>
                  <a:pt x="1809488" y="1367915"/>
                  <a:pt x="1740454" y="1471689"/>
                  <a:pt x="1639408" y="1520643"/>
                </a:cubicBezTo>
                <a:cubicBezTo>
                  <a:pt x="1720888" y="1538571"/>
                  <a:pt x="1794337" y="1577455"/>
                  <a:pt x="1854777" y="1631145"/>
                </a:cubicBezTo>
                <a:cubicBezTo>
                  <a:pt x="1807127" y="1687432"/>
                  <a:pt x="1769942" y="1748571"/>
                  <a:pt x="1744717" y="1818800"/>
                </a:cubicBezTo>
                <a:cubicBezTo>
                  <a:pt x="1513152" y="1706106"/>
                  <a:pt x="1307384" y="1629597"/>
                  <a:pt x="1113358" y="1681426"/>
                </a:cubicBezTo>
                <a:cubicBezTo>
                  <a:pt x="1116013" y="1677595"/>
                  <a:pt x="1119277" y="1673689"/>
                  <a:pt x="1122894" y="1669432"/>
                </a:cubicBezTo>
                <a:cubicBezTo>
                  <a:pt x="1182608" y="1603593"/>
                  <a:pt x="1271865" y="1546616"/>
                  <a:pt x="1371376" y="1522340"/>
                </a:cubicBezTo>
                <a:cubicBezTo>
                  <a:pt x="1268674" y="1473885"/>
                  <a:pt x="1198170" y="1369184"/>
                  <a:pt x="1198170" y="1248016"/>
                </a:cubicBezTo>
                <a:cubicBezTo>
                  <a:pt x="1198170" y="1079205"/>
                  <a:pt x="1335018" y="942357"/>
                  <a:pt x="1503829" y="942357"/>
                </a:cubicBezTo>
                <a:close/>
                <a:moveTo>
                  <a:pt x="2257163" y="852002"/>
                </a:moveTo>
                <a:cubicBezTo>
                  <a:pt x="2455308" y="852002"/>
                  <a:pt x="2615937" y="1012631"/>
                  <a:pt x="2615937" y="1210776"/>
                </a:cubicBezTo>
                <a:cubicBezTo>
                  <a:pt x="2615937" y="1348850"/>
                  <a:pt x="2537939" y="1468708"/>
                  <a:pt x="2422835" y="1527232"/>
                </a:cubicBezTo>
                <a:cubicBezTo>
                  <a:pt x="2482442" y="1537663"/>
                  <a:pt x="2537381" y="1561603"/>
                  <a:pt x="2584724" y="1595613"/>
                </a:cubicBezTo>
                <a:cubicBezTo>
                  <a:pt x="2664965" y="1654765"/>
                  <a:pt x="2725793" y="1751248"/>
                  <a:pt x="2765173" y="1875948"/>
                </a:cubicBezTo>
                <a:cubicBezTo>
                  <a:pt x="2866662" y="1848546"/>
                  <a:pt x="3003161" y="1750282"/>
                  <a:pt x="3125526" y="1583707"/>
                </a:cubicBezTo>
                <a:cubicBezTo>
                  <a:pt x="3147751" y="1636095"/>
                  <a:pt x="2929469" y="1905176"/>
                  <a:pt x="2785008" y="1931370"/>
                </a:cubicBezTo>
                <a:cubicBezTo>
                  <a:pt x="2797896" y="2030096"/>
                  <a:pt x="2825071" y="2119296"/>
                  <a:pt x="2823672" y="2227547"/>
                </a:cubicBezTo>
                <a:cubicBezTo>
                  <a:pt x="2424531" y="2172907"/>
                  <a:pt x="2093899" y="1989358"/>
                  <a:pt x="1804167" y="1847281"/>
                </a:cubicBezTo>
                <a:cubicBezTo>
                  <a:pt x="1846994" y="1697123"/>
                  <a:pt x="1957836" y="1574770"/>
                  <a:pt x="2106803" y="1535543"/>
                </a:cubicBezTo>
                <a:cubicBezTo>
                  <a:pt x="1983572" y="1479468"/>
                  <a:pt x="1898389" y="1355069"/>
                  <a:pt x="1898389" y="1210776"/>
                </a:cubicBezTo>
                <a:cubicBezTo>
                  <a:pt x="1898389" y="1012631"/>
                  <a:pt x="2059018" y="852002"/>
                  <a:pt x="2257163" y="852002"/>
                </a:cubicBezTo>
                <a:close/>
                <a:moveTo>
                  <a:pt x="199040" y="752858"/>
                </a:moveTo>
                <a:lnTo>
                  <a:pt x="199040" y="2908076"/>
                </a:lnTo>
                <a:lnTo>
                  <a:pt x="3791413" y="2908076"/>
                </a:lnTo>
                <a:lnTo>
                  <a:pt x="3791413" y="752858"/>
                </a:lnTo>
                <a:close/>
                <a:moveTo>
                  <a:pt x="182159" y="547131"/>
                </a:moveTo>
                <a:lnTo>
                  <a:pt x="3808294" y="547131"/>
                </a:lnTo>
                <a:cubicBezTo>
                  <a:pt x="3908897" y="547131"/>
                  <a:pt x="3990453" y="628687"/>
                  <a:pt x="3990453" y="729290"/>
                </a:cubicBezTo>
                <a:lnTo>
                  <a:pt x="3990453" y="2925195"/>
                </a:lnTo>
                <a:cubicBezTo>
                  <a:pt x="3990453" y="3025798"/>
                  <a:pt x="3908897" y="3107352"/>
                  <a:pt x="3808294" y="3107352"/>
                </a:cubicBezTo>
                <a:lnTo>
                  <a:pt x="182159" y="3107352"/>
                </a:lnTo>
                <a:cubicBezTo>
                  <a:pt x="81556" y="3107352"/>
                  <a:pt x="0" y="3025798"/>
                  <a:pt x="0" y="2925195"/>
                </a:cubicBezTo>
                <a:lnTo>
                  <a:pt x="0" y="729290"/>
                </a:lnTo>
                <a:cubicBezTo>
                  <a:pt x="0" y="628687"/>
                  <a:pt x="81556" y="547131"/>
                  <a:pt x="182159" y="547131"/>
                </a:cubicBezTo>
                <a:close/>
                <a:moveTo>
                  <a:pt x="3005386" y="243747"/>
                </a:moveTo>
                <a:lnTo>
                  <a:pt x="3005386" y="275647"/>
                </a:lnTo>
                <a:lnTo>
                  <a:pt x="3183153" y="275647"/>
                </a:lnTo>
                <a:lnTo>
                  <a:pt x="3183153" y="243747"/>
                </a:lnTo>
                <a:close/>
                <a:moveTo>
                  <a:pt x="3300679" y="145624"/>
                </a:moveTo>
                <a:lnTo>
                  <a:pt x="3402631" y="145624"/>
                </a:lnTo>
                <a:lnTo>
                  <a:pt x="3402631" y="247578"/>
                </a:lnTo>
                <a:lnTo>
                  <a:pt x="3300679" y="247578"/>
                </a:lnTo>
                <a:close/>
                <a:moveTo>
                  <a:pt x="3272608" y="117555"/>
                </a:moveTo>
                <a:lnTo>
                  <a:pt x="3272608" y="275647"/>
                </a:lnTo>
                <a:lnTo>
                  <a:pt x="3430700" y="275647"/>
                </a:lnTo>
                <a:lnTo>
                  <a:pt x="3430700" y="117555"/>
                </a:lnTo>
                <a:close/>
                <a:moveTo>
                  <a:pt x="3590754" y="103106"/>
                </a:moveTo>
                <a:lnTo>
                  <a:pt x="3557180" y="133327"/>
                </a:lnTo>
                <a:lnTo>
                  <a:pt x="3616978" y="199761"/>
                </a:lnTo>
                <a:lnTo>
                  <a:pt x="3550543" y="259559"/>
                </a:lnTo>
                <a:lnTo>
                  <a:pt x="3580764" y="293135"/>
                </a:lnTo>
                <a:lnTo>
                  <a:pt x="3647199" y="233335"/>
                </a:lnTo>
                <a:lnTo>
                  <a:pt x="3706998" y="299771"/>
                </a:lnTo>
                <a:lnTo>
                  <a:pt x="3740572" y="269549"/>
                </a:lnTo>
                <a:lnTo>
                  <a:pt x="3680774" y="203114"/>
                </a:lnTo>
                <a:lnTo>
                  <a:pt x="3747209" y="143317"/>
                </a:lnTo>
                <a:lnTo>
                  <a:pt x="3716988" y="109743"/>
                </a:lnTo>
                <a:lnTo>
                  <a:pt x="3650554" y="169541"/>
                </a:lnTo>
                <a:close/>
                <a:moveTo>
                  <a:pt x="190912" y="0"/>
                </a:moveTo>
                <a:lnTo>
                  <a:pt x="2858630" y="0"/>
                </a:lnTo>
                <a:lnTo>
                  <a:pt x="3799541" y="0"/>
                </a:lnTo>
                <a:lnTo>
                  <a:pt x="3815584" y="0"/>
                </a:lnTo>
                <a:lnTo>
                  <a:pt x="3815584" y="1618"/>
                </a:lnTo>
                <a:cubicBezTo>
                  <a:pt x="3913556" y="8856"/>
                  <a:pt x="3990453" y="90904"/>
                  <a:pt x="3990453" y="190912"/>
                </a:cubicBezTo>
                <a:lnTo>
                  <a:pt x="3990453" y="492263"/>
                </a:lnTo>
                <a:lnTo>
                  <a:pt x="3988177" y="489851"/>
                </a:lnTo>
                <a:cubicBezTo>
                  <a:pt x="3984130" y="436334"/>
                  <a:pt x="3938977" y="394796"/>
                  <a:pt x="3884122" y="394796"/>
                </a:cubicBezTo>
                <a:lnTo>
                  <a:pt x="1015383" y="394796"/>
                </a:lnTo>
                <a:lnTo>
                  <a:pt x="321519" y="392958"/>
                </a:lnTo>
                <a:lnTo>
                  <a:pt x="270175" y="394796"/>
                </a:lnTo>
                <a:lnTo>
                  <a:pt x="106331" y="394796"/>
                </a:lnTo>
                <a:cubicBezTo>
                  <a:pt x="51497" y="394796"/>
                  <a:pt x="6359" y="436302"/>
                  <a:pt x="2288" y="489790"/>
                </a:cubicBezTo>
                <a:cubicBezTo>
                  <a:pt x="1319" y="490456"/>
                  <a:pt x="656" y="491357"/>
                  <a:pt x="0" y="492263"/>
                </a:cubicBezTo>
                <a:lnTo>
                  <a:pt x="0" y="190912"/>
                </a:lnTo>
                <a:cubicBezTo>
                  <a:pt x="0" y="85475"/>
                  <a:pt x="85475" y="0"/>
                  <a:pt x="19091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defTabSz="914292">
              <a:defRPr/>
            </a:pPr>
            <a:endParaRPr lang="en-US" sz="1200">
              <a:solidFill>
                <a:prstClr val="white"/>
              </a:solidFill>
              <a:latin typeface="Segoe UI"/>
            </a:endParaRPr>
          </a:p>
        </p:txBody>
      </p:sp>
      <p:grpSp>
        <p:nvGrpSpPr>
          <p:cNvPr id="54" name="Group 53">
            <a:extLst>
              <a:ext uri="{FF2B5EF4-FFF2-40B4-BE49-F238E27FC236}">
                <a16:creationId xmlns:a16="http://schemas.microsoft.com/office/drawing/2014/main" id="{7D7AE003-94C3-48AA-87BC-0A0E03D4A3F7}"/>
              </a:ext>
            </a:extLst>
          </p:cNvPr>
          <p:cNvGrpSpPr/>
          <p:nvPr/>
        </p:nvGrpSpPr>
        <p:grpSpPr>
          <a:xfrm>
            <a:off x="6288654" y="2149721"/>
            <a:ext cx="326324" cy="281117"/>
            <a:chOff x="5326857" y="2779521"/>
            <a:chExt cx="2283619" cy="2167129"/>
          </a:xfrm>
          <a:solidFill>
            <a:schemeClr val="bg1">
              <a:lumMod val="50000"/>
            </a:schemeClr>
          </a:solidFill>
        </p:grpSpPr>
        <p:sp>
          <p:nvSpPr>
            <p:cNvPr id="76" name="Freeform 203">
              <a:extLst>
                <a:ext uri="{FF2B5EF4-FFF2-40B4-BE49-F238E27FC236}">
                  <a16:creationId xmlns:a16="http://schemas.microsoft.com/office/drawing/2014/main" id="{D379A22F-0782-47A0-99B6-FAEC150535ED}"/>
                </a:ext>
              </a:extLst>
            </p:cNvPr>
            <p:cNvSpPr/>
            <p:nvPr/>
          </p:nvSpPr>
          <p:spPr>
            <a:xfrm>
              <a:off x="5326857" y="3228975"/>
              <a:ext cx="1147085" cy="1083469"/>
            </a:xfrm>
            <a:custGeom>
              <a:avLst/>
              <a:gdLst>
                <a:gd name="connsiteX0" fmla="*/ 1090612 w 1147085"/>
                <a:gd name="connsiteY0" fmla="*/ 0 h 1083469"/>
                <a:gd name="connsiteX1" fmla="*/ 1147085 w 1147085"/>
                <a:gd name="connsiteY1" fmla="*/ 460567 h 1083469"/>
                <a:gd name="connsiteX2" fmla="*/ 1078295 w 1147085"/>
                <a:gd name="connsiteY2" fmla="*/ 504743 h 1083469"/>
                <a:gd name="connsiteX3" fmla="*/ 1025237 w 1147085"/>
                <a:gd name="connsiteY3" fmla="*/ 72025 h 1083469"/>
                <a:gd name="connsiteX4" fmla="*/ 79622 w 1147085"/>
                <a:gd name="connsiteY4" fmla="*/ 171129 h 1083469"/>
                <a:gd name="connsiteX5" fmla="*/ 186985 w 1147085"/>
                <a:gd name="connsiteY5" fmla="*/ 990798 h 1083469"/>
                <a:gd name="connsiteX6" fmla="*/ 186985 w 1147085"/>
                <a:gd name="connsiteY6" fmla="*/ 1011445 h 1083469"/>
                <a:gd name="connsiteX7" fmla="*/ 977729 w 1147085"/>
                <a:gd name="connsiteY7" fmla="*/ 857154 h 1083469"/>
                <a:gd name="connsiteX8" fmla="*/ 977729 w 1147085"/>
                <a:gd name="connsiteY8" fmla="*/ 916854 h 1083469"/>
                <a:gd name="connsiteX9" fmla="*/ 123825 w 1147085"/>
                <a:gd name="connsiteY9" fmla="*/ 1083469 h 1083469"/>
                <a:gd name="connsiteX10" fmla="*/ 0 w 1147085"/>
                <a:gd name="connsiteY10" fmla="*/ 114300 h 1083469"/>
                <a:gd name="connsiteX11" fmla="*/ 1090612 w 1147085"/>
                <a:gd name="connsiteY11" fmla="*/ 0 h 1083469"/>
                <a:gd name="connsiteX0" fmla="*/ 1090612 w 1147085"/>
                <a:gd name="connsiteY0" fmla="*/ 0 h 1083469"/>
                <a:gd name="connsiteX1" fmla="*/ 1147085 w 1147085"/>
                <a:gd name="connsiteY1" fmla="*/ 460567 h 1083469"/>
                <a:gd name="connsiteX2" fmla="*/ 1078295 w 1147085"/>
                <a:gd name="connsiteY2" fmla="*/ 504743 h 1083469"/>
                <a:gd name="connsiteX3" fmla="*/ 1025237 w 1147085"/>
                <a:gd name="connsiteY3" fmla="*/ 72025 h 1083469"/>
                <a:gd name="connsiteX4" fmla="*/ 79622 w 1147085"/>
                <a:gd name="connsiteY4" fmla="*/ 171129 h 1083469"/>
                <a:gd name="connsiteX5" fmla="*/ 186985 w 1147085"/>
                <a:gd name="connsiteY5" fmla="*/ 1011445 h 1083469"/>
                <a:gd name="connsiteX6" fmla="*/ 977729 w 1147085"/>
                <a:gd name="connsiteY6" fmla="*/ 857154 h 1083469"/>
                <a:gd name="connsiteX7" fmla="*/ 977729 w 1147085"/>
                <a:gd name="connsiteY7" fmla="*/ 916854 h 1083469"/>
                <a:gd name="connsiteX8" fmla="*/ 123825 w 1147085"/>
                <a:gd name="connsiteY8" fmla="*/ 1083469 h 1083469"/>
                <a:gd name="connsiteX9" fmla="*/ 0 w 1147085"/>
                <a:gd name="connsiteY9" fmla="*/ 114300 h 1083469"/>
                <a:gd name="connsiteX10" fmla="*/ 1090612 w 1147085"/>
                <a:gd name="connsiteY10" fmla="*/ 0 h 108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85" h="1083469">
                  <a:moveTo>
                    <a:pt x="1090612" y="0"/>
                  </a:moveTo>
                  <a:lnTo>
                    <a:pt x="1147085" y="460567"/>
                  </a:lnTo>
                  <a:cubicBezTo>
                    <a:pt x="1121629" y="471368"/>
                    <a:pt x="1098257" y="486098"/>
                    <a:pt x="1078295" y="504743"/>
                  </a:cubicBezTo>
                  <a:lnTo>
                    <a:pt x="1025237" y="72025"/>
                  </a:lnTo>
                  <a:lnTo>
                    <a:pt x="79622" y="171129"/>
                  </a:lnTo>
                  <a:lnTo>
                    <a:pt x="186985" y="1011445"/>
                  </a:lnTo>
                  <a:lnTo>
                    <a:pt x="977729" y="857154"/>
                  </a:lnTo>
                  <a:lnTo>
                    <a:pt x="977729" y="916854"/>
                  </a:lnTo>
                  <a:lnTo>
                    <a:pt x="123825" y="1083469"/>
                  </a:lnTo>
                  <a:lnTo>
                    <a:pt x="0" y="114300"/>
                  </a:lnTo>
                  <a:lnTo>
                    <a:pt x="1090612" y="0"/>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2" tIns="45712" rIns="91422" bIns="45712" numCol="1" rtlCol="0" anchor="ctr" anchorCtr="0" compatLnSpc="1">
              <a:prstTxWarp prst="textNoShape">
                <a:avLst/>
              </a:prstTxWarp>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28" fontAlgn="base">
                <a:spcBef>
                  <a:spcPct val="0"/>
                </a:spcBef>
                <a:spcAft>
                  <a:spcPct val="0"/>
                </a:spcAft>
                <a:defRPr/>
              </a:pPr>
              <a:endParaRPr lang="en-US" sz="2200">
                <a:gradFill>
                  <a:gsLst>
                    <a:gs pos="0">
                      <a:srgbClr val="FFFFFF"/>
                    </a:gs>
                    <a:gs pos="100000">
                      <a:srgbClr val="FFFFFF"/>
                    </a:gs>
                  </a:gsLst>
                  <a:lin ang="5400000" scaled="0"/>
                </a:gradFill>
                <a:latin typeface="Segoe UI"/>
              </a:endParaRPr>
            </a:p>
          </p:txBody>
        </p:sp>
        <p:sp>
          <p:nvSpPr>
            <p:cNvPr id="77" name="Oval 23">
              <a:extLst>
                <a:ext uri="{FF2B5EF4-FFF2-40B4-BE49-F238E27FC236}">
                  <a16:creationId xmlns:a16="http://schemas.microsoft.com/office/drawing/2014/main" id="{6A95229D-6F76-4B13-88B5-30CE428212D2}"/>
                </a:ext>
              </a:extLst>
            </p:cNvPr>
            <p:cNvSpPr/>
            <p:nvPr/>
          </p:nvSpPr>
          <p:spPr bwMode="auto">
            <a:xfrm>
              <a:off x="5472973" y="4217016"/>
              <a:ext cx="831613" cy="515322"/>
            </a:xfrm>
            <a:custGeom>
              <a:avLst/>
              <a:gdLst/>
              <a:ahLst/>
              <a:cxnLst/>
              <a:rect l="l" t="t" r="r" b="b"/>
              <a:pathLst>
                <a:path w="831613" h="515322">
                  <a:moveTo>
                    <a:pt x="656506" y="0"/>
                  </a:moveTo>
                  <a:cubicBezTo>
                    <a:pt x="722980" y="12459"/>
                    <a:pt x="782484" y="33487"/>
                    <a:pt x="831613" y="60220"/>
                  </a:cubicBezTo>
                  <a:lnTo>
                    <a:pt x="831613" y="156807"/>
                  </a:lnTo>
                  <a:lnTo>
                    <a:pt x="790343" y="156807"/>
                  </a:lnTo>
                  <a:cubicBezTo>
                    <a:pt x="689578" y="156807"/>
                    <a:pt x="607892" y="247187"/>
                    <a:pt x="607892" y="358678"/>
                  </a:cubicBezTo>
                  <a:cubicBezTo>
                    <a:pt x="607892" y="412735"/>
                    <a:pt x="627095" y="461830"/>
                    <a:pt x="658968" y="497546"/>
                  </a:cubicBezTo>
                  <a:cubicBezTo>
                    <a:pt x="605816" y="509342"/>
                    <a:pt x="548050" y="515322"/>
                    <a:pt x="487726" y="515322"/>
                  </a:cubicBezTo>
                  <a:cubicBezTo>
                    <a:pt x="218362" y="515322"/>
                    <a:pt x="0" y="396081"/>
                    <a:pt x="0" y="248990"/>
                  </a:cubicBezTo>
                  <a:cubicBezTo>
                    <a:pt x="0" y="198934"/>
                    <a:pt x="25288" y="152104"/>
                    <a:pt x="70263" y="113194"/>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2" tIns="45712" rIns="91422" bIns="45712" numCol="1" rtlCol="0" anchor="ctr" anchorCtr="0" compatLnSpc="1">
              <a:prstTxWarp prst="textNoShape">
                <a:avLst/>
              </a:prstTxWarp>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28" fontAlgn="base">
                <a:spcBef>
                  <a:spcPct val="0"/>
                </a:spcBef>
                <a:spcAft>
                  <a:spcPct val="0"/>
                </a:spcAft>
                <a:defRPr/>
              </a:pPr>
              <a:endParaRPr lang="en-US" sz="2200">
                <a:gradFill>
                  <a:gsLst>
                    <a:gs pos="0">
                      <a:srgbClr val="FFFFFF"/>
                    </a:gs>
                    <a:gs pos="100000">
                      <a:srgbClr val="FFFFFF"/>
                    </a:gs>
                  </a:gsLst>
                  <a:lin ang="5400000" scaled="0"/>
                </a:gradFill>
                <a:latin typeface="Segoe UI"/>
              </a:endParaRPr>
            </a:p>
          </p:txBody>
        </p:sp>
        <p:sp>
          <p:nvSpPr>
            <p:cNvPr id="78" name="Rounded Rectangle 13">
              <a:extLst>
                <a:ext uri="{FF2B5EF4-FFF2-40B4-BE49-F238E27FC236}">
                  <a16:creationId xmlns:a16="http://schemas.microsoft.com/office/drawing/2014/main" id="{7D17A644-8B40-478D-A027-4E90CBC980A5}"/>
                </a:ext>
              </a:extLst>
            </p:cNvPr>
            <p:cNvSpPr/>
            <p:nvPr/>
          </p:nvSpPr>
          <p:spPr bwMode="auto">
            <a:xfrm>
              <a:off x="6127748" y="3705225"/>
              <a:ext cx="1375518" cy="1241425"/>
            </a:xfrm>
            <a:custGeom>
              <a:avLst/>
              <a:gdLst/>
              <a:ahLst/>
              <a:cxnLst/>
              <a:rect l="l" t="t" r="r" b="b"/>
              <a:pathLst>
                <a:path w="1375518" h="1241425">
                  <a:moveTo>
                    <a:pt x="880211" y="0"/>
                  </a:moveTo>
                  <a:lnTo>
                    <a:pt x="1125002" y="0"/>
                  </a:lnTo>
                  <a:cubicBezTo>
                    <a:pt x="1202113" y="0"/>
                    <a:pt x="1271265" y="34077"/>
                    <a:pt x="1317403" y="88704"/>
                  </a:cubicBezTo>
                  <a:cubicBezTo>
                    <a:pt x="1244331" y="103169"/>
                    <a:pt x="1190628" y="168346"/>
                    <a:pt x="1190628" y="246066"/>
                  </a:cubicBezTo>
                  <a:lnTo>
                    <a:pt x="1190628" y="708029"/>
                  </a:lnTo>
                  <a:lnTo>
                    <a:pt x="929175" y="708029"/>
                  </a:lnTo>
                  <a:lnTo>
                    <a:pt x="803618" y="172438"/>
                  </a:lnTo>
                  <a:close/>
                  <a:moveTo>
                    <a:pt x="481554" y="0"/>
                  </a:moveTo>
                  <a:lnTo>
                    <a:pt x="726347" y="0"/>
                  </a:lnTo>
                  <a:lnTo>
                    <a:pt x="802940" y="172436"/>
                  </a:lnTo>
                  <a:lnTo>
                    <a:pt x="674361" y="720915"/>
                  </a:lnTo>
                  <a:cubicBezTo>
                    <a:pt x="614856" y="745801"/>
                    <a:pt x="573090" y="804586"/>
                    <a:pt x="573090" y="873128"/>
                  </a:cubicBezTo>
                  <a:cubicBezTo>
                    <a:pt x="573090" y="964310"/>
                    <a:pt x="647007" y="1038227"/>
                    <a:pt x="738189" y="1038227"/>
                  </a:cubicBezTo>
                  <a:lnTo>
                    <a:pt x="1375518" y="1038227"/>
                  </a:lnTo>
                  <a:cubicBezTo>
                    <a:pt x="1351252" y="1154299"/>
                    <a:pt x="1248302" y="1241425"/>
                    <a:pt x="1125002" y="1241425"/>
                  </a:cubicBezTo>
                  <a:lnTo>
                    <a:pt x="481554" y="1241425"/>
                  </a:lnTo>
                  <a:cubicBezTo>
                    <a:pt x="358254" y="1241425"/>
                    <a:pt x="255302" y="1154298"/>
                    <a:pt x="231037" y="1038224"/>
                  </a:cubicBezTo>
                  <a:lnTo>
                    <a:pt x="165099" y="1038224"/>
                  </a:lnTo>
                  <a:cubicBezTo>
                    <a:pt x="73917" y="1038224"/>
                    <a:pt x="0" y="964307"/>
                    <a:pt x="0" y="873125"/>
                  </a:cubicBezTo>
                  <a:cubicBezTo>
                    <a:pt x="0" y="781943"/>
                    <a:pt x="73917" y="708026"/>
                    <a:pt x="165099" y="708026"/>
                  </a:cubicBezTo>
                  <a:lnTo>
                    <a:pt x="225428" y="708026"/>
                  </a:lnTo>
                  <a:lnTo>
                    <a:pt x="225428" y="256126"/>
                  </a:lnTo>
                  <a:cubicBezTo>
                    <a:pt x="225428" y="114672"/>
                    <a:pt x="340100" y="0"/>
                    <a:pt x="481554"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2" tIns="45712" rIns="91422" bIns="45712" numCol="1" rtlCol="0" anchor="ctr" anchorCtr="0" compatLnSpc="1">
              <a:prstTxWarp prst="textNoShape">
                <a:avLst/>
              </a:prstTxWarp>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28" fontAlgn="base">
                <a:spcBef>
                  <a:spcPct val="0"/>
                </a:spcBef>
                <a:spcAft>
                  <a:spcPct val="0"/>
                </a:spcAft>
                <a:defRPr/>
              </a:pPr>
              <a:endParaRPr lang="en-US" sz="2200">
                <a:gradFill>
                  <a:gsLst>
                    <a:gs pos="0">
                      <a:srgbClr val="FFFFFF"/>
                    </a:gs>
                    <a:gs pos="100000">
                      <a:srgbClr val="FFFFFF"/>
                    </a:gs>
                  </a:gsLst>
                  <a:lin ang="5400000" scaled="0"/>
                </a:gradFill>
                <a:latin typeface="Segoe UI"/>
              </a:endParaRPr>
            </a:p>
          </p:txBody>
        </p:sp>
        <p:sp>
          <p:nvSpPr>
            <p:cNvPr id="79" name="Oval 78">
              <a:extLst>
                <a:ext uri="{FF2B5EF4-FFF2-40B4-BE49-F238E27FC236}">
                  <a16:creationId xmlns:a16="http://schemas.microsoft.com/office/drawing/2014/main" id="{C5C1593B-831D-46FF-A3D0-5BCAC6AF5334}"/>
                </a:ext>
              </a:extLst>
            </p:cNvPr>
            <p:cNvSpPr/>
            <p:nvPr/>
          </p:nvSpPr>
          <p:spPr bwMode="auto">
            <a:xfrm>
              <a:off x="6524624" y="2779521"/>
              <a:ext cx="835025" cy="835025"/>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2" tIns="45712" rIns="91422" bIns="45712" numCol="1" rtlCol="0" anchor="ctr" anchorCtr="0" compatLnSpc="1">
              <a:prstTxWarp prst="textNoShape">
                <a:avLst/>
              </a:prstTxWarp>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28" fontAlgn="base">
                <a:spcBef>
                  <a:spcPct val="0"/>
                </a:spcBef>
                <a:spcAft>
                  <a:spcPct val="0"/>
                </a:spcAft>
                <a:defRPr/>
              </a:pPr>
              <a:endParaRPr lang="en-US" sz="2200">
                <a:gradFill>
                  <a:gsLst>
                    <a:gs pos="0">
                      <a:srgbClr val="FFFFFF"/>
                    </a:gs>
                    <a:gs pos="100000">
                      <a:srgbClr val="FFFFFF"/>
                    </a:gs>
                  </a:gsLst>
                  <a:lin ang="5400000" scaled="0"/>
                </a:gradFill>
                <a:latin typeface="Segoe UI"/>
              </a:endParaRPr>
            </a:p>
          </p:txBody>
        </p:sp>
        <p:sp>
          <p:nvSpPr>
            <p:cNvPr id="80" name="Rounded Rectangle 14">
              <a:extLst>
                <a:ext uri="{FF2B5EF4-FFF2-40B4-BE49-F238E27FC236}">
                  <a16:creationId xmlns:a16="http://schemas.microsoft.com/office/drawing/2014/main" id="{5A0FB91B-30A8-4951-B63B-52B11496D2D9}"/>
                </a:ext>
              </a:extLst>
            </p:cNvPr>
            <p:cNvSpPr/>
            <p:nvPr/>
          </p:nvSpPr>
          <p:spPr bwMode="auto">
            <a:xfrm>
              <a:off x="6740522" y="3829050"/>
              <a:ext cx="869954" cy="874713"/>
            </a:xfrm>
            <a:custGeom>
              <a:avLst/>
              <a:gdLst>
                <a:gd name="connsiteX0" fmla="*/ 744540 w 869954"/>
                <a:gd name="connsiteY0" fmla="*/ 0 h 874713"/>
                <a:gd name="connsiteX1" fmla="*/ 869954 w 869954"/>
                <a:gd name="connsiteY1" fmla="*/ 125414 h 874713"/>
                <a:gd name="connsiteX2" fmla="*/ 869953 w 869954"/>
                <a:gd name="connsiteY2" fmla="*/ 706437 h 874713"/>
                <a:gd name="connsiteX3" fmla="*/ 869952 w 869954"/>
                <a:gd name="connsiteY3" fmla="*/ 749299 h 874713"/>
                <a:gd name="connsiteX4" fmla="*/ 744538 w 869954"/>
                <a:gd name="connsiteY4" fmla="*/ 874713 h 874713"/>
                <a:gd name="connsiteX5" fmla="*/ 125414 w 869954"/>
                <a:gd name="connsiteY5" fmla="*/ 874712 h 874713"/>
                <a:gd name="connsiteX6" fmla="*/ 0 w 869954"/>
                <a:gd name="connsiteY6" fmla="*/ 749298 h 874713"/>
                <a:gd name="connsiteX7" fmla="*/ 1 w 869954"/>
                <a:gd name="connsiteY7" fmla="*/ 749299 h 874713"/>
                <a:gd name="connsiteX8" fmla="*/ 125415 w 869954"/>
                <a:gd name="connsiteY8" fmla="*/ 623885 h 874713"/>
                <a:gd name="connsiteX9" fmla="*/ 619126 w 869954"/>
                <a:gd name="connsiteY9" fmla="*/ 623885 h 874713"/>
                <a:gd name="connsiteX10" fmla="*/ 619126 w 869954"/>
                <a:gd name="connsiteY10" fmla="*/ 125414 h 874713"/>
                <a:gd name="connsiteX11" fmla="*/ 744540 w 869954"/>
                <a:gd name="connsiteY11" fmla="*/ 0 h 87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9954" h="874713">
                  <a:moveTo>
                    <a:pt x="744540" y="0"/>
                  </a:moveTo>
                  <a:cubicBezTo>
                    <a:pt x="813804" y="0"/>
                    <a:pt x="869954" y="56150"/>
                    <a:pt x="869954" y="125414"/>
                  </a:cubicBezTo>
                  <a:cubicBezTo>
                    <a:pt x="869954" y="319088"/>
                    <a:pt x="869953" y="512763"/>
                    <a:pt x="869953" y="706437"/>
                  </a:cubicBezTo>
                  <a:cubicBezTo>
                    <a:pt x="869953" y="720724"/>
                    <a:pt x="869952" y="735012"/>
                    <a:pt x="869952" y="749299"/>
                  </a:cubicBezTo>
                  <a:cubicBezTo>
                    <a:pt x="869952" y="818563"/>
                    <a:pt x="813802" y="874713"/>
                    <a:pt x="744538" y="874713"/>
                  </a:cubicBezTo>
                  <a:lnTo>
                    <a:pt x="125414" y="874712"/>
                  </a:lnTo>
                  <a:cubicBezTo>
                    <a:pt x="56150" y="874712"/>
                    <a:pt x="0" y="818562"/>
                    <a:pt x="0" y="749298"/>
                  </a:cubicBezTo>
                  <a:lnTo>
                    <a:pt x="1" y="749299"/>
                  </a:lnTo>
                  <a:cubicBezTo>
                    <a:pt x="1" y="680035"/>
                    <a:pt x="56151" y="623885"/>
                    <a:pt x="125415" y="623885"/>
                  </a:cubicBezTo>
                  <a:lnTo>
                    <a:pt x="619126" y="623885"/>
                  </a:lnTo>
                  <a:lnTo>
                    <a:pt x="619126" y="125414"/>
                  </a:lnTo>
                  <a:cubicBezTo>
                    <a:pt x="619126" y="56150"/>
                    <a:pt x="675276" y="0"/>
                    <a:pt x="744540"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2" tIns="45712" rIns="91422" bIns="45712" numCol="1" rtlCol="0" anchor="ctr" anchorCtr="0" compatLnSpc="1">
              <a:prstTxWarp prst="textNoShape">
                <a:avLst/>
              </a:prstTxWarp>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28" fontAlgn="base">
                <a:spcBef>
                  <a:spcPct val="0"/>
                </a:spcBef>
                <a:spcAft>
                  <a:spcPct val="0"/>
                </a:spcAft>
                <a:defRPr/>
              </a:pPr>
              <a:endParaRPr lang="en-US" sz="2200">
                <a:gradFill>
                  <a:gsLst>
                    <a:gs pos="0">
                      <a:srgbClr val="FFFFFF"/>
                    </a:gs>
                    <a:gs pos="100000">
                      <a:srgbClr val="FFFFFF"/>
                    </a:gs>
                  </a:gsLst>
                  <a:lin ang="5400000" scaled="0"/>
                </a:gradFill>
                <a:latin typeface="Segoe UI"/>
              </a:endParaRPr>
            </a:p>
          </p:txBody>
        </p:sp>
      </p:grpSp>
      <p:sp>
        <p:nvSpPr>
          <p:cNvPr id="55" name="Round Same Side Corner Rectangle 2">
            <a:extLst>
              <a:ext uri="{FF2B5EF4-FFF2-40B4-BE49-F238E27FC236}">
                <a16:creationId xmlns:a16="http://schemas.microsoft.com/office/drawing/2014/main" id="{B5E4BDC4-60E9-4268-BCD7-B9CCD91C75FC}"/>
              </a:ext>
            </a:extLst>
          </p:cNvPr>
          <p:cNvSpPr/>
          <p:nvPr/>
        </p:nvSpPr>
        <p:spPr>
          <a:xfrm>
            <a:off x="5116950" y="3156131"/>
            <a:ext cx="134316" cy="227400"/>
          </a:xfrm>
          <a:custGeom>
            <a:avLst/>
            <a:gdLst/>
            <a:ahLst/>
            <a:cxnLst/>
            <a:rect l="l" t="t" r="r" b="b"/>
            <a:pathLst>
              <a:path w="1479550" h="2999631">
                <a:moveTo>
                  <a:pt x="739775" y="2723722"/>
                </a:moveTo>
                <a:cubicBezTo>
                  <a:pt x="701170" y="2723722"/>
                  <a:pt x="669874" y="2755018"/>
                  <a:pt x="669874" y="2793623"/>
                </a:cubicBezTo>
                <a:cubicBezTo>
                  <a:pt x="669874" y="2832228"/>
                  <a:pt x="701170" y="2863524"/>
                  <a:pt x="739775" y="2863524"/>
                </a:cubicBezTo>
                <a:cubicBezTo>
                  <a:pt x="778380" y="2863524"/>
                  <a:pt x="809676" y="2832228"/>
                  <a:pt x="809676" y="2793623"/>
                </a:cubicBezTo>
                <a:cubicBezTo>
                  <a:pt x="809676" y="2755018"/>
                  <a:pt x="778380" y="2723722"/>
                  <a:pt x="739775" y="2723722"/>
                </a:cubicBezTo>
                <a:close/>
                <a:moveTo>
                  <a:pt x="201613" y="1629933"/>
                </a:moveTo>
                <a:lnTo>
                  <a:pt x="1123848" y="1629933"/>
                </a:lnTo>
                <a:lnTo>
                  <a:pt x="1123848" y="2058558"/>
                </a:lnTo>
                <a:lnTo>
                  <a:pt x="201613" y="2058558"/>
                </a:lnTo>
                <a:close/>
                <a:moveTo>
                  <a:pt x="685698" y="1155271"/>
                </a:moveTo>
                <a:lnTo>
                  <a:pt x="1123848" y="1155271"/>
                </a:lnTo>
                <a:lnTo>
                  <a:pt x="1123848" y="1583896"/>
                </a:lnTo>
                <a:lnTo>
                  <a:pt x="685698" y="1583896"/>
                </a:lnTo>
                <a:close/>
                <a:moveTo>
                  <a:pt x="201613" y="1155271"/>
                </a:moveTo>
                <a:lnTo>
                  <a:pt x="639763" y="1155271"/>
                </a:lnTo>
                <a:lnTo>
                  <a:pt x="639763" y="1583896"/>
                </a:lnTo>
                <a:lnTo>
                  <a:pt x="201613" y="1583896"/>
                </a:lnTo>
                <a:close/>
                <a:moveTo>
                  <a:pt x="685698" y="680609"/>
                </a:moveTo>
                <a:lnTo>
                  <a:pt x="1123848" y="680609"/>
                </a:lnTo>
                <a:lnTo>
                  <a:pt x="1123848" y="1109234"/>
                </a:lnTo>
                <a:lnTo>
                  <a:pt x="685698" y="1109234"/>
                </a:lnTo>
                <a:close/>
                <a:moveTo>
                  <a:pt x="201613" y="680609"/>
                </a:moveTo>
                <a:lnTo>
                  <a:pt x="639763" y="680609"/>
                </a:lnTo>
                <a:lnTo>
                  <a:pt x="639763" y="1109234"/>
                </a:lnTo>
                <a:lnTo>
                  <a:pt x="201613" y="1109234"/>
                </a:lnTo>
                <a:close/>
                <a:moveTo>
                  <a:pt x="154163" y="413909"/>
                </a:moveTo>
                <a:lnTo>
                  <a:pt x="154163" y="2528459"/>
                </a:lnTo>
                <a:lnTo>
                  <a:pt x="201613" y="2528459"/>
                </a:lnTo>
                <a:lnTo>
                  <a:pt x="201613" y="2104596"/>
                </a:lnTo>
                <a:lnTo>
                  <a:pt x="639763" y="2104596"/>
                </a:lnTo>
                <a:lnTo>
                  <a:pt x="639763" y="2528459"/>
                </a:lnTo>
                <a:lnTo>
                  <a:pt x="685698" y="2528459"/>
                </a:lnTo>
                <a:lnTo>
                  <a:pt x="685698" y="2104596"/>
                </a:lnTo>
                <a:lnTo>
                  <a:pt x="1123848" y="2104596"/>
                </a:lnTo>
                <a:lnTo>
                  <a:pt x="1123848" y="2528459"/>
                </a:lnTo>
                <a:lnTo>
                  <a:pt x="1325388" y="2528459"/>
                </a:lnTo>
                <a:lnTo>
                  <a:pt x="1325388" y="413909"/>
                </a:lnTo>
                <a:close/>
                <a:moveTo>
                  <a:pt x="556419" y="171020"/>
                </a:moveTo>
                <a:cubicBezTo>
                  <a:pt x="543267" y="171020"/>
                  <a:pt x="532606" y="181681"/>
                  <a:pt x="532606" y="194833"/>
                </a:cubicBezTo>
                <a:cubicBezTo>
                  <a:pt x="532606" y="207984"/>
                  <a:pt x="543267" y="218645"/>
                  <a:pt x="556419" y="218645"/>
                </a:cubicBezTo>
                <a:lnTo>
                  <a:pt x="923131" y="218646"/>
                </a:lnTo>
                <a:cubicBezTo>
                  <a:pt x="936283" y="218646"/>
                  <a:pt x="946944" y="207985"/>
                  <a:pt x="946944" y="194833"/>
                </a:cubicBezTo>
                <a:lnTo>
                  <a:pt x="946945" y="194833"/>
                </a:lnTo>
                <a:cubicBezTo>
                  <a:pt x="946945" y="181681"/>
                  <a:pt x="936284" y="171020"/>
                  <a:pt x="923132" y="171020"/>
                </a:cubicBezTo>
                <a:close/>
                <a:moveTo>
                  <a:pt x="725487" y="274"/>
                </a:moveTo>
                <a:cubicBezTo>
                  <a:pt x="1081947" y="-5382"/>
                  <a:pt x="1443170" y="76220"/>
                  <a:pt x="1479550" y="262045"/>
                </a:cubicBezTo>
                <a:lnTo>
                  <a:pt x="1479550" y="1250633"/>
                </a:lnTo>
                <a:lnTo>
                  <a:pt x="1479550" y="1748998"/>
                </a:lnTo>
                <a:lnTo>
                  <a:pt x="1479550" y="2737586"/>
                </a:lnTo>
                <a:cubicBezTo>
                  <a:pt x="1406789" y="3109236"/>
                  <a:pt x="34660" y="3063993"/>
                  <a:pt x="0" y="2737586"/>
                </a:cubicBezTo>
                <a:lnTo>
                  <a:pt x="0" y="1748998"/>
                </a:lnTo>
                <a:lnTo>
                  <a:pt x="0" y="1250633"/>
                </a:lnTo>
                <a:lnTo>
                  <a:pt x="0" y="262045"/>
                </a:lnTo>
                <a:cubicBezTo>
                  <a:pt x="17330" y="98842"/>
                  <a:pt x="369027" y="5929"/>
                  <a:pt x="725487" y="274"/>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03" tIns="91403" rIns="91403" bIns="91403"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88019">
              <a:defRPr/>
            </a:pPr>
            <a:endParaRPr lang="en-US" sz="1200">
              <a:solidFill>
                <a:prstClr val="white"/>
              </a:solidFill>
              <a:latin typeface="Segoe UI"/>
            </a:endParaRPr>
          </a:p>
        </p:txBody>
      </p:sp>
      <p:grpSp>
        <p:nvGrpSpPr>
          <p:cNvPr id="56" name="Group 55">
            <a:extLst>
              <a:ext uri="{FF2B5EF4-FFF2-40B4-BE49-F238E27FC236}">
                <a16:creationId xmlns:a16="http://schemas.microsoft.com/office/drawing/2014/main" id="{4A481C83-953E-4A44-8077-0E191725E69C}"/>
              </a:ext>
            </a:extLst>
          </p:cNvPr>
          <p:cNvGrpSpPr/>
          <p:nvPr/>
        </p:nvGrpSpPr>
        <p:grpSpPr>
          <a:xfrm>
            <a:off x="9205917" y="2603556"/>
            <a:ext cx="357333" cy="460605"/>
            <a:chOff x="10126590" y="4213053"/>
            <a:chExt cx="484346" cy="601882"/>
          </a:xfrm>
          <a:solidFill>
            <a:srgbClr val="7F7F7F"/>
          </a:solidFill>
        </p:grpSpPr>
        <p:grpSp>
          <p:nvGrpSpPr>
            <p:cNvPr id="63" name="Group 62">
              <a:extLst>
                <a:ext uri="{FF2B5EF4-FFF2-40B4-BE49-F238E27FC236}">
                  <a16:creationId xmlns:a16="http://schemas.microsoft.com/office/drawing/2014/main" id="{FDAA0092-2218-426B-95BF-17DCB96DD488}"/>
                </a:ext>
              </a:extLst>
            </p:cNvPr>
            <p:cNvGrpSpPr>
              <a:grpSpLocks noChangeAspect="1"/>
            </p:cNvGrpSpPr>
            <p:nvPr/>
          </p:nvGrpSpPr>
          <p:grpSpPr>
            <a:xfrm>
              <a:off x="10126590" y="4284481"/>
              <a:ext cx="484346" cy="530454"/>
              <a:chOff x="223285" y="2346312"/>
              <a:chExt cx="448468" cy="530454"/>
            </a:xfrm>
            <a:grpFill/>
          </p:grpSpPr>
          <p:sp>
            <p:nvSpPr>
              <p:cNvPr id="71" name="Freeform 11">
                <a:extLst>
                  <a:ext uri="{FF2B5EF4-FFF2-40B4-BE49-F238E27FC236}">
                    <a16:creationId xmlns:a16="http://schemas.microsoft.com/office/drawing/2014/main" id="{7D5148E3-7A4E-475D-978F-C3003DB09496}"/>
                  </a:ext>
                </a:extLst>
              </p:cNvPr>
              <p:cNvSpPr>
                <a:spLocks/>
              </p:cNvSpPr>
              <p:nvPr/>
            </p:nvSpPr>
            <p:spPr bwMode="auto">
              <a:xfrm>
                <a:off x="223285" y="2437817"/>
                <a:ext cx="314654" cy="438949"/>
              </a:xfrm>
              <a:custGeom>
                <a:avLst/>
                <a:gdLst>
                  <a:gd name="T0" fmla="*/ 134 w 522"/>
                  <a:gd name="T1" fmla="*/ 350 h 662"/>
                  <a:gd name="T2" fmla="*/ 134 w 522"/>
                  <a:gd name="T3" fmla="*/ 352 h 662"/>
                  <a:gd name="T4" fmla="*/ 134 w 522"/>
                  <a:gd name="T5" fmla="*/ 338 h 662"/>
                  <a:gd name="T6" fmla="*/ 146 w 522"/>
                  <a:gd name="T7" fmla="*/ 288 h 662"/>
                  <a:gd name="T8" fmla="*/ 166 w 522"/>
                  <a:gd name="T9" fmla="*/ 236 h 662"/>
                  <a:gd name="T10" fmla="*/ 188 w 522"/>
                  <a:gd name="T11" fmla="*/ 198 h 662"/>
                  <a:gd name="T12" fmla="*/ 216 w 522"/>
                  <a:gd name="T13" fmla="*/ 160 h 662"/>
                  <a:gd name="T14" fmla="*/ 260 w 522"/>
                  <a:gd name="T15" fmla="*/ 216 h 662"/>
                  <a:gd name="T16" fmla="*/ 264 w 522"/>
                  <a:gd name="T17" fmla="*/ 224 h 662"/>
                  <a:gd name="T18" fmla="*/ 278 w 522"/>
                  <a:gd name="T19" fmla="*/ 232 h 662"/>
                  <a:gd name="T20" fmla="*/ 494 w 522"/>
                  <a:gd name="T21" fmla="*/ 234 h 662"/>
                  <a:gd name="T22" fmla="*/ 504 w 522"/>
                  <a:gd name="T23" fmla="*/ 232 h 662"/>
                  <a:gd name="T24" fmla="*/ 520 w 522"/>
                  <a:gd name="T25" fmla="*/ 218 h 662"/>
                  <a:gd name="T26" fmla="*/ 522 w 522"/>
                  <a:gd name="T27" fmla="*/ 206 h 662"/>
                  <a:gd name="T28" fmla="*/ 514 w 522"/>
                  <a:gd name="T29" fmla="*/ 186 h 662"/>
                  <a:gd name="T30" fmla="*/ 494 w 522"/>
                  <a:gd name="T31" fmla="*/ 178 h 662"/>
                  <a:gd name="T32" fmla="*/ 252 w 522"/>
                  <a:gd name="T33" fmla="*/ 24 h 662"/>
                  <a:gd name="T34" fmla="*/ 248 w 522"/>
                  <a:gd name="T35" fmla="*/ 20 h 662"/>
                  <a:gd name="T36" fmla="*/ 244 w 522"/>
                  <a:gd name="T37" fmla="*/ 12 h 662"/>
                  <a:gd name="T38" fmla="*/ 240 w 522"/>
                  <a:gd name="T39" fmla="*/ 6 h 662"/>
                  <a:gd name="T40" fmla="*/ 226 w 522"/>
                  <a:gd name="T41" fmla="*/ 0 h 662"/>
                  <a:gd name="T42" fmla="*/ 212 w 522"/>
                  <a:gd name="T43" fmla="*/ 0 h 662"/>
                  <a:gd name="T44" fmla="*/ 198 w 522"/>
                  <a:gd name="T45" fmla="*/ 4 h 662"/>
                  <a:gd name="T46" fmla="*/ 192 w 522"/>
                  <a:gd name="T47" fmla="*/ 8 h 662"/>
                  <a:gd name="T48" fmla="*/ 130 w 522"/>
                  <a:gd name="T49" fmla="*/ 68 h 662"/>
                  <a:gd name="T50" fmla="*/ 84 w 522"/>
                  <a:gd name="T51" fmla="*/ 132 h 662"/>
                  <a:gd name="T52" fmla="*/ 50 w 522"/>
                  <a:gd name="T53" fmla="*/ 194 h 662"/>
                  <a:gd name="T54" fmla="*/ 26 w 522"/>
                  <a:gd name="T55" fmla="*/ 252 h 662"/>
                  <a:gd name="T56" fmla="*/ 12 w 522"/>
                  <a:gd name="T57" fmla="*/ 304 h 662"/>
                  <a:gd name="T58" fmla="*/ 0 w 522"/>
                  <a:gd name="T59" fmla="*/ 374 h 662"/>
                  <a:gd name="T60" fmla="*/ 0 w 522"/>
                  <a:gd name="T61" fmla="*/ 386 h 662"/>
                  <a:gd name="T62" fmla="*/ 2 w 522"/>
                  <a:gd name="T63" fmla="*/ 402 h 662"/>
                  <a:gd name="T64" fmla="*/ 10 w 522"/>
                  <a:gd name="T65" fmla="*/ 414 h 662"/>
                  <a:gd name="T66" fmla="*/ 16 w 522"/>
                  <a:gd name="T67" fmla="*/ 418 h 662"/>
                  <a:gd name="T68" fmla="*/ 30 w 522"/>
                  <a:gd name="T69" fmla="*/ 424 h 662"/>
                  <a:gd name="T70" fmla="*/ 250 w 522"/>
                  <a:gd name="T71" fmla="*/ 424 h 662"/>
                  <a:gd name="T72" fmla="*/ 250 w 522"/>
                  <a:gd name="T73" fmla="*/ 624 h 662"/>
                  <a:gd name="T74" fmla="*/ 252 w 522"/>
                  <a:gd name="T75" fmla="*/ 640 h 662"/>
                  <a:gd name="T76" fmla="*/ 260 w 522"/>
                  <a:gd name="T77" fmla="*/ 650 h 662"/>
                  <a:gd name="T78" fmla="*/ 272 w 522"/>
                  <a:gd name="T79" fmla="*/ 658 h 662"/>
                  <a:gd name="T80" fmla="*/ 286 w 522"/>
                  <a:gd name="T81" fmla="*/ 662 h 662"/>
                  <a:gd name="T82" fmla="*/ 294 w 522"/>
                  <a:gd name="T83" fmla="*/ 660 h 662"/>
                  <a:gd name="T84" fmla="*/ 308 w 522"/>
                  <a:gd name="T85" fmla="*/ 656 h 662"/>
                  <a:gd name="T86" fmla="*/ 318 w 522"/>
                  <a:gd name="T87" fmla="*/ 646 h 662"/>
                  <a:gd name="T88" fmla="*/ 324 w 522"/>
                  <a:gd name="T89" fmla="*/ 632 h 662"/>
                  <a:gd name="T90" fmla="*/ 324 w 522"/>
                  <a:gd name="T91" fmla="*/ 388 h 662"/>
                  <a:gd name="T92" fmla="*/ 324 w 522"/>
                  <a:gd name="T93" fmla="*/ 380 h 662"/>
                  <a:gd name="T94" fmla="*/ 318 w 522"/>
                  <a:gd name="T95" fmla="*/ 366 h 662"/>
                  <a:gd name="T96" fmla="*/ 308 w 522"/>
                  <a:gd name="T97" fmla="*/ 356 h 662"/>
                  <a:gd name="T98" fmla="*/ 294 w 522"/>
                  <a:gd name="T99" fmla="*/ 352 h 662"/>
                  <a:gd name="T100" fmla="*/ 288 w 522"/>
                  <a:gd name="T101" fmla="*/ 350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22" h="662">
                    <a:moveTo>
                      <a:pt x="288" y="350"/>
                    </a:moveTo>
                    <a:lnTo>
                      <a:pt x="134" y="350"/>
                    </a:lnTo>
                    <a:lnTo>
                      <a:pt x="134" y="350"/>
                    </a:lnTo>
                    <a:lnTo>
                      <a:pt x="134" y="352"/>
                    </a:lnTo>
                    <a:lnTo>
                      <a:pt x="132" y="350"/>
                    </a:lnTo>
                    <a:lnTo>
                      <a:pt x="134" y="338"/>
                    </a:lnTo>
                    <a:lnTo>
                      <a:pt x="138" y="316"/>
                    </a:lnTo>
                    <a:lnTo>
                      <a:pt x="146" y="288"/>
                    </a:lnTo>
                    <a:lnTo>
                      <a:pt x="158" y="254"/>
                    </a:lnTo>
                    <a:lnTo>
                      <a:pt x="166" y="236"/>
                    </a:lnTo>
                    <a:lnTo>
                      <a:pt x="176" y="216"/>
                    </a:lnTo>
                    <a:lnTo>
                      <a:pt x="188" y="198"/>
                    </a:lnTo>
                    <a:lnTo>
                      <a:pt x="202" y="178"/>
                    </a:lnTo>
                    <a:lnTo>
                      <a:pt x="216" y="160"/>
                    </a:lnTo>
                    <a:lnTo>
                      <a:pt x="234" y="142"/>
                    </a:lnTo>
                    <a:lnTo>
                      <a:pt x="260" y="216"/>
                    </a:lnTo>
                    <a:lnTo>
                      <a:pt x="260" y="216"/>
                    </a:lnTo>
                    <a:lnTo>
                      <a:pt x="264" y="224"/>
                    </a:lnTo>
                    <a:lnTo>
                      <a:pt x="272" y="230"/>
                    </a:lnTo>
                    <a:lnTo>
                      <a:pt x="278" y="232"/>
                    </a:lnTo>
                    <a:lnTo>
                      <a:pt x="288" y="234"/>
                    </a:lnTo>
                    <a:lnTo>
                      <a:pt x="494" y="234"/>
                    </a:lnTo>
                    <a:lnTo>
                      <a:pt x="494" y="234"/>
                    </a:lnTo>
                    <a:lnTo>
                      <a:pt x="504" y="232"/>
                    </a:lnTo>
                    <a:lnTo>
                      <a:pt x="514" y="226"/>
                    </a:lnTo>
                    <a:lnTo>
                      <a:pt x="520" y="218"/>
                    </a:lnTo>
                    <a:lnTo>
                      <a:pt x="522" y="206"/>
                    </a:lnTo>
                    <a:lnTo>
                      <a:pt x="522" y="206"/>
                    </a:lnTo>
                    <a:lnTo>
                      <a:pt x="520" y="196"/>
                    </a:lnTo>
                    <a:lnTo>
                      <a:pt x="514" y="186"/>
                    </a:lnTo>
                    <a:lnTo>
                      <a:pt x="504" y="180"/>
                    </a:lnTo>
                    <a:lnTo>
                      <a:pt x="494" y="178"/>
                    </a:lnTo>
                    <a:lnTo>
                      <a:pt x="306" y="178"/>
                    </a:lnTo>
                    <a:lnTo>
                      <a:pt x="252" y="24"/>
                    </a:lnTo>
                    <a:lnTo>
                      <a:pt x="252" y="24"/>
                    </a:lnTo>
                    <a:lnTo>
                      <a:pt x="248" y="20"/>
                    </a:lnTo>
                    <a:lnTo>
                      <a:pt x="248" y="20"/>
                    </a:lnTo>
                    <a:lnTo>
                      <a:pt x="244" y="12"/>
                    </a:lnTo>
                    <a:lnTo>
                      <a:pt x="244" y="12"/>
                    </a:lnTo>
                    <a:lnTo>
                      <a:pt x="240" y="6"/>
                    </a:lnTo>
                    <a:lnTo>
                      <a:pt x="232" y="2"/>
                    </a:lnTo>
                    <a:lnTo>
                      <a:pt x="226" y="0"/>
                    </a:lnTo>
                    <a:lnTo>
                      <a:pt x="220" y="0"/>
                    </a:lnTo>
                    <a:lnTo>
                      <a:pt x="212" y="0"/>
                    </a:lnTo>
                    <a:lnTo>
                      <a:pt x="206" y="0"/>
                    </a:lnTo>
                    <a:lnTo>
                      <a:pt x="198" y="4"/>
                    </a:lnTo>
                    <a:lnTo>
                      <a:pt x="192" y="8"/>
                    </a:lnTo>
                    <a:lnTo>
                      <a:pt x="192" y="8"/>
                    </a:lnTo>
                    <a:lnTo>
                      <a:pt x="160" y="38"/>
                    </a:lnTo>
                    <a:lnTo>
                      <a:pt x="130" y="68"/>
                    </a:lnTo>
                    <a:lnTo>
                      <a:pt x="106" y="100"/>
                    </a:lnTo>
                    <a:lnTo>
                      <a:pt x="84" y="132"/>
                    </a:lnTo>
                    <a:lnTo>
                      <a:pt x="66" y="164"/>
                    </a:lnTo>
                    <a:lnTo>
                      <a:pt x="50" y="194"/>
                    </a:lnTo>
                    <a:lnTo>
                      <a:pt x="36" y="224"/>
                    </a:lnTo>
                    <a:lnTo>
                      <a:pt x="26" y="252"/>
                    </a:lnTo>
                    <a:lnTo>
                      <a:pt x="18" y="280"/>
                    </a:lnTo>
                    <a:lnTo>
                      <a:pt x="12" y="304"/>
                    </a:lnTo>
                    <a:lnTo>
                      <a:pt x="4" y="346"/>
                    </a:lnTo>
                    <a:lnTo>
                      <a:pt x="0" y="374"/>
                    </a:lnTo>
                    <a:lnTo>
                      <a:pt x="0" y="386"/>
                    </a:lnTo>
                    <a:lnTo>
                      <a:pt x="0" y="386"/>
                    </a:lnTo>
                    <a:lnTo>
                      <a:pt x="0" y="394"/>
                    </a:lnTo>
                    <a:lnTo>
                      <a:pt x="2" y="402"/>
                    </a:lnTo>
                    <a:lnTo>
                      <a:pt x="6" y="408"/>
                    </a:lnTo>
                    <a:lnTo>
                      <a:pt x="10" y="414"/>
                    </a:lnTo>
                    <a:lnTo>
                      <a:pt x="10" y="414"/>
                    </a:lnTo>
                    <a:lnTo>
                      <a:pt x="16" y="418"/>
                    </a:lnTo>
                    <a:lnTo>
                      <a:pt x="22" y="422"/>
                    </a:lnTo>
                    <a:lnTo>
                      <a:pt x="30" y="424"/>
                    </a:lnTo>
                    <a:lnTo>
                      <a:pt x="38" y="424"/>
                    </a:lnTo>
                    <a:lnTo>
                      <a:pt x="250" y="424"/>
                    </a:lnTo>
                    <a:lnTo>
                      <a:pt x="250" y="624"/>
                    </a:lnTo>
                    <a:lnTo>
                      <a:pt x="250" y="624"/>
                    </a:lnTo>
                    <a:lnTo>
                      <a:pt x="250" y="632"/>
                    </a:lnTo>
                    <a:lnTo>
                      <a:pt x="252" y="640"/>
                    </a:lnTo>
                    <a:lnTo>
                      <a:pt x="256" y="646"/>
                    </a:lnTo>
                    <a:lnTo>
                      <a:pt x="260" y="650"/>
                    </a:lnTo>
                    <a:lnTo>
                      <a:pt x="266" y="656"/>
                    </a:lnTo>
                    <a:lnTo>
                      <a:pt x="272" y="658"/>
                    </a:lnTo>
                    <a:lnTo>
                      <a:pt x="280" y="660"/>
                    </a:lnTo>
                    <a:lnTo>
                      <a:pt x="286" y="662"/>
                    </a:lnTo>
                    <a:lnTo>
                      <a:pt x="286" y="662"/>
                    </a:lnTo>
                    <a:lnTo>
                      <a:pt x="294" y="660"/>
                    </a:lnTo>
                    <a:lnTo>
                      <a:pt x="302" y="658"/>
                    </a:lnTo>
                    <a:lnTo>
                      <a:pt x="308" y="656"/>
                    </a:lnTo>
                    <a:lnTo>
                      <a:pt x="314" y="650"/>
                    </a:lnTo>
                    <a:lnTo>
                      <a:pt x="318" y="646"/>
                    </a:lnTo>
                    <a:lnTo>
                      <a:pt x="322" y="640"/>
                    </a:lnTo>
                    <a:lnTo>
                      <a:pt x="324" y="632"/>
                    </a:lnTo>
                    <a:lnTo>
                      <a:pt x="324" y="624"/>
                    </a:lnTo>
                    <a:lnTo>
                      <a:pt x="324" y="388"/>
                    </a:lnTo>
                    <a:lnTo>
                      <a:pt x="324" y="388"/>
                    </a:lnTo>
                    <a:lnTo>
                      <a:pt x="324" y="380"/>
                    </a:lnTo>
                    <a:lnTo>
                      <a:pt x="322" y="372"/>
                    </a:lnTo>
                    <a:lnTo>
                      <a:pt x="318" y="366"/>
                    </a:lnTo>
                    <a:lnTo>
                      <a:pt x="314" y="362"/>
                    </a:lnTo>
                    <a:lnTo>
                      <a:pt x="308" y="356"/>
                    </a:lnTo>
                    <a:lnTo>
                      <a:pt x="302" y="354"/>
                    </a:lnTo>
                    <a:lnTo>
                      <a:pt x="294" y="352"/>
                    </a:lnTo>
                    <a:lnTo>
                      <a:pt x="288" y="350"/>
                    </a:lnTo>
                    <a:lnTo>
                      <a:pt x="288" y="350"/>
                    </a:lnTo>
                    <a:close/>
                  </a:path>
                </a:pathLst>
              </a:custGeom>
              <a:grpFill/>
              <a:ln>
                <a:noFill/>
              </a:ln>
            </p:spPr>
            <p:txBody>
              <a:bodyPr vert="horz" wrap="square" lIns="91379" tIns="45690" rIns="91379" bIns="4569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80">
                  <a:defRPr/>
                </a:pPr>
                <a:endParaRPr lang="en-US" sz="1798" kern="0">
                  <a:solidFill>
                    <a:srgbClr val="000000"/>
                  </a:solidFill>
                </a:endParaRPr>
              </a:p>
            </p:txBody>
          </p:sp>
          <p:sp>
            <p:nvSpPr>
              <p:cNvPr id="72" name="Freeform 12">
                <a:extLst>
                  <a:ext uri="{FF2B5EF4-FFF2-40B4-BE49-F238E27FC236}">
                    <a16:creationId xmlns:a16="http://schemas.microsoft.com/office/drawing/2014/main" id="{8D464F55-72FA-4E80-BD88-EE4B09A671ED}"/>
                  </a:ext>
                </a:extLst>
              </p:cNvPr>
              <p:cNvSpPr>
                <a:spLocks/>
              </p:cNvSpPr>
              <p:nvPr/>
            </p:nvSpPr>
            <p:spPr bwMode="auto">
              <a:xfrm>
                <a:off x="370360" y="2346312"/>
                <a:ext cx="96446" cy="107417"/>
              </a:xfrm>
              <a:custGeom>
                <a:avLst/>
                <a:gdLst>
                  <a:gd name="T0" fmla="*/ 80 w 160"/>
                  <a:gd name="T1" fmla="*/ 0 h 162"/>
                  <a:gd name="T2" fmla="*/ 80 w 160"/>
                  <a:gd name="T3" fmla="*/ 0 h 162"/>
                  <a:gd name="T4" fmla="*/ 96 w 160"/>
                  <a:gd name="T5" fmla="*/ 2 h 162"/>
                  <a:gd name="T6" fmla="*/ 112 w 160"/>
                  <a:gd name="T7" fmla="*/ 6 h 162"/>
                  <a:gd name="T8" fmla="*/ 126 w 160"/>
                  <a:gd name="T9" fmla="*/ 14 h 162"/>
                  <a:gd name="T10" fmla="*/ 138 w 160"/>
                  <a:gd name="T11" fmla="*/ 24 h 162"/>
                  <a:gd name="T12" fmla="*/ 148 w 160"/>
                  <a:gd name="T13" fmla="*/ 36 h 162"/>
                  <a:gd name="T14" fmla="*/ 154 w 160"/>
                  <a:gd name="T15" fmla="*/ 50 h 162"/>
                  <a:gd name="T16" fmla="*/ 160 w 160"/>
                  <a:gd name="T17" fmla="*/ 64 h 162"/>
                  <a:gd name="T18" fmla="*/ 160 w 160"/>
                  <a:gd name="T19" fmla="*/ 80 h 162"/>
                  <a:gd name="T20" fmla="*/ 160 w 160"/>
                  <a:gd name="T21" fmla="*/ 80 h 162"/>
                  <a:gd name="T22" fmla="*/ 160 w 160"/>
                  <a:gd name="T23" fmla="*/ 96 h 162"/>
                  <a:gd name="T24" fmla="*/ 154 w 160"/>
                  <a:gd name="T25" fmla="*/ 112 h 162"/>
                  <a:gd name="T26" fmla="*/ 148 w 160"/>
                  <a:gd name="T27" fmla="*/ 126 h 162"/>
                  <a:gd name="T28" fmla="*/ 138 w 160"/>
                  <a:gd name="T29" fmla="*/ 138 h 162"/>
                  <a:gd name="T30" fmla="*/ 126 w 160"/>
                  <a:gd name="T31" fmla="*/ 148 h 162"/>
                  <a:gd name="T32" fmla="*/ 112 w 160"/>
                  <a:gd name="T33" fmla="*/ 156 h 162"/>
                  <a:gd name="T34" fmla="*/ 96 w 160"/>
                  <a:gd name="T35" fmla="*/ 160 h 162"/>
                  <a:gd name="T36" fmla="*/ 80 w 160"/>
                  <a:gd name="T37" fmla="*/ 162 h 162"/>
                  <a:gd name="T38" fmla="*/ 80 w 160"/>
                  <a:gd name="T39" fmla="*/ 162 h 162"/>
                  <a:gd name="T40" fmla="*/ 64 w 160"/>
                  <a:gd name="T41" fmla="*/ 160 h 162"/>
                  <a:gd name="T42" fmla="*/ 48 w 160"/>
                  <a:gd name="T43" fmla="*/ 156 h 162"/>
                  <a:gd name="T44" fmla="*/ 34 w 160"/>
                  <a:gd name="T45" fmla="*/ 148 h 162"/>
                  <a:gd name="T46" fmla="*/ 22 w 160"/>
                  <a:gd name="T47" fmla="*/ 138 h 162"/>
                  <a:gd name="T48" fmla="*/ 12 w 160"/>
                  <a:gd name="T49" fmla="*/ 126 h 162"/>
                  <a:gd name="T50" fmla="*/ 6 w 160"/>
                  <a:gd name="T51" fmla="*/ 112 h 162"/>
                  <a:gd name="T52" fmla="*/ 0 w 160"/>
                  <a:gd name="T53" fmla="*/ 96 h 162"/>
                  <a:gd name="T54" fmla="*/ 0 w 160"/>
                  <a:gd name="T55" fmla="*/ 80 h 162"/>
                  <a:gd name="T56" fmla="*/ 0 w 160"/>
                  <a:gd name="T57" fmla="*/ 80 h 162"/>
                  <a:gd name="T58" fmla="*/ 0 w 160"/>
                  <a:gd name="T59" fmla="*/ 64 h 162"/>
                  <a:gd name="T60" fmla="*/ 6 w 160"/>
                  <a:gd name="T61" fmla="*/ 50 h 162"/>
                  <a:gd name="T62" fmla="*/ 12 w 160"/>
                  <a:gd name="T63" fmla="*/ 36 h 162"/>
                  <a:gd name="T64" fmla="*/ 22 w 160"/>
                  <a:gd name="T65" fmla="*/ 24 h 162"/>
                  <a:gd name="T66" fmla="*/ 34 w 160"/>
                  <a:gd name="T67" fmla="*/ 14 h 162"/>
                  <a:gd name="T68" fmla="*/ 48 w 160"/>
                  <a:gd name="T69" fmla="*/ 6 h 162"/>
                  <a:gd name="T70" fmla="*/ 64 w 160"/>
                  <a:gd name="T71" fmla="*/ 2 h 162"/>
                  <a:gd name="T72" fmla="*/ 80 w 160"/>
                  <a:gd name="T73" fmla="*/ 0 h 162"/>
                  <a:gd name="T74" fmla="*/ 80 w 160"/>
                  <a:gd name="T7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162">
                    <a:moveTo>
                      <a:pt x="80" y="0"/>
                    </a:moveTo>
                    <a:lnTo>
                      <a:pt x="80" y="0"/>
                    </a:lnTo>
                    <a:lnTo>
                      <a:pt x="96" y="2"/>
                    </a:lnTo>
                    <a:lnTo>
                      <a:pt x="112" y="6"/>
                    </a:lnTo>
                    <a:lnTo>
                      <a:pt x="126" y="14"/>
                    </a:lnTo>
                    <a:lnTo>
                      <a:pt x="138" y="24"/>
                    </a:lnTo>
                    <a:lnTo>
                      <a:pt x="148" y="36"/>
                    </a:lnTo>
                    <a:lnTo>
                      <a:pt x="154" y="50"/>
                    </a:lnTo>
                    <a:lnTo>
                      <a:pt x="160" y="64"/>
                    </a:lnTo>
                    <a:lnTo>
                      <a:pt x="160" y="80"/>
                    </a:lnTo>
                    <a:lnTo>
                      <a:pt x="160" y="80"/>
                    </a:lnTo>
                    <a:lnTo>
                      <a:pt x="160" y="96"/>
                    </a:lnTo>
                    <a:lnTo>
                      <a:pt x="154" y="112"/>
                    </a:lnTo>
                    <a:lnTo>
                      <a:pt x="148" y="126"/>
                    </a:lnTo>
                    <a:lnTo>
                      <a:pt x="138" y="138"/>
                    </a:lnTo>
                    <a:lnTo>
                      <a:pt x="126" y="148"/>
                    </a:lnTo>
                    <a:lnTo>
                      <a:pt x="112" y="156"/>
                    </a:lnTo>
                    <a:lnTo>
                      <a:pt x="96" y="160"/>
                    </a:lnTo>
                    <a:lnTo>
                      <a:pt x="80" y="162"/>
                    </a:lnTo>
                    <a:lnTo>
                      <a:pt x="80" y="162"/>
                    </a:lnTo>
                    <a:lnTo>
                      <a:pt x="64" y="160"/>
                    </a:lnTo>
                    <a:lnTo>
                      <a:pt x="48" y="156"/>
                    </a:lnTo>
                    <a:lnTo>
                      <a:pt x="34" y="148"/>
                    </a:lnTo>
                    <a:lnTo>
                      <a:pt x="22" y="138"/>
                    </a:lnTo>
                    <a:lnTo>
                      <a:pt x="12" y="126"/>
                    </a:lnTo>
                    <a:lnTo>
                      <a:pt x="6" y="112"/>
                    </a:lnTo>
                    <a:lnTo>
                      <a:pt x="0" y="96"/>
                    </a:lnTo>
                    <a:lnTo>
                      <a:pt x="0" y="80"/>
                    </a:lnTo>
                    <a:lnTo>
                      <a:pt x="0" y="80"/>
                    </a:lnTo>
                    <a:lnTo>
                      <a:pt x="0" y="64"/>
                    </a:lnTo>
                    <a:lnTo>
                      <a:pt x="6" y="50"/>
                    </a:lnTo>
                    <a:lnTo>
                      <a:pt x="12" y="36"/>
                    </a:lnTo>
                    <a:lnTo>
                      <a:pt x="22" y="24"/>
                    </a:lnTo>
                    <a:lnTo>
                      <a:pt x="34" y="14"/>
                    </a:lnTo>
                    <a:lnTo>
                      <a:pt x="48" y="6"/>
                    </a:lnTo>
                    <a:lnTo>
                      <a:pt x="64" y="2"/>
                    </a:lnTo>
                    <a:lnTo>
                      <a:pt x="80" y="0"/>
                    </a:lnTo>
                    <a:lnTo>
                      <a:pt x="80" y="0"/>
                    </a:lnTo>
                    <a:close/>
                  </a:path>
                </a:pathLst>
              </a:custGeom>
              <a:grpFill/>
              <a:ln>
                <a:noFill/>
              </a:ln>
            </p:spPr>
            <p:txBody>
              <a:bodyPr vert="horz" wrap="square" lIns="91379" tIns="45690" rIns="91379" bIns="4569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80">
                  <a:defRPr/>
                </a:pPr>
                <a:endParaRPr lang="en-US" sz="1798" kern="0">
                  <a:solidFill>
                    <a:srgbClr val="000000"/>
                  </a:solidFill>
                </a:endParaRPr>
              </a:p>
            </p:txBody>
          </p:sp>
          <p:sp>
            <p:nvSpPr>
              <p:cNvPr id="73" name="Freeform 13">
                <a:extLst>
                  <a:ext uri="{FF2B5EF4-FFF2-40B4-BE49-F238E27FC236}">
                    <a16:creationId xmlns:a16="http://schemas.microsoft.com/office/drawing/2014/main" id="{B33A3391-5BA9-40A5-A27F-602B080582F8}"/>
                  </a:ext>
                </a:extLst>
              </p:cNvPr>
              <p:cNvSpPr>
                <a:spLocks/>
              </p:cNvSpPr>
              <p:nvPr/>
            </p:nvSpPr>
            <p:spPr bwMode="auto">
              <a:xfrm>
                <a:off x="481273" y="2616843"/>
                <a:ext cx="85596" cy="25197"/>
              </a:xfrm>
              <a:custGeom>
                <a:avLst/>
                <a:gdLst>
                  <a:gd name="T0" fmla="*/ 124 w 142"/>
                  <a:gd name="T1" fmla="*/ 0 h 38"/>
                  <a:gd name="T2" fmla="*/ 18 w 142"/>
                  <a:gd name="T3" fmla="*/ 0 h 38"/>
                  <a:gd name="T4" fmla="*/ 18 w 142"/>
                  <a:gd name="T5" fmla="*/ 0 h 38"/>
                  <a:gd name="T6" fmla="*/ 10 w 142"/>
                  <a:gd name="T7" fmla="*/ 2 h 38"/>
                  <a:gd name="T8" fmla="*/ 4 w 142"/>
                  <a:gd name="T9" fmla="*/ 6 h 38"/>
                  <a:gd name="T10" fmla="*/ 0 w 142"/>
                  <a:gd name="T11" fmla="*/ 12 h 38"/>
                  <a:gd name="T12" fmla="*/ 0 w 142"/>
                  <a:gd name="T13" fmla="*/ 20 h 38"/>
                  <a:gd name="T14" fmla="*/ 0 w 142"/>
                  <a:gd name="T15" fmla="*/ 20 h 38"/>
                  <a:gd name="T16" fmla="*/ 0 w 142"/>
                  <a:gd name="T17" fmla="*/ 26 h 38"/>
                  <a:gd name="T18" fmla="*/ 4 w 142"/>
                  <a:gd name="T19" fmla="*/ 32 h 38"/>
                  <a:gd name="T20" fmla="*/ 10 w 142"/>
                  <a:gd name="T21" fmla="*/ 36 h 38"/>
                  <a:gd name="T22" fmla="*/ 18 w 142"/>
                  <a:gd name="T23" fmla="*/ 38 h 38"/>
                  <a:gd name="T24" fmla="*/ 124 w 142"/>
                  <a:gd name="T25" fmla="*/ 38 h 38"/>
                  <a:gd name="T26" fmla="*/ 124 w 142"/>
                  <a:gd name="T27" fmla="*/ 38 h 38"/>
                  <a:gd name="T28" fmla="*/ 132 w 142"/>
                  <a:gd name="T29" fmla="*/ 36 h 38"/>
                  <a:gd name="T30" fmla="*/ 138 w 142"/>
                  <a:gd name="T31" fmla="*/ 32 h 38"/>
                  <a:gd name="T32" fmla="*/ 142 w 142"/>
                  <a:gd name="T33" fmla="*/ 26 h 38"/>
                  <a:gd name="T34" fmla="*/ 142 w 142"/>
                  <a:gd name="T35" fmla="*/ 20 h 38"/>
                  <a:gd name="T36" fmla="*/ 142 w 142"/>
                  <a:gd name="T37" fmla="*/ 20 h 38"/>
                  <a:gd name="T38" fmla="*/ 142 w 142"/>
                  <a:gd name="T39" fmla="*/ 12 h 38"/>
                  <a:gd name="T40" fmla="*/ 138 w 142"/>
                  <a:gd name="T41" fmla="*/ 6 h 38"/>
                  <a:gd name="T42" fmla="*/ 132 w 142"/>
                  <a:gd name="T43" fmla="*/ 2 h 38"/>
                  <a:gd name="T44" fmla="*/ 124 w 142"/>
                  <a:gd name="T45" fmla="*/ 0 h 38"/>
                  <a:gd name="T46" fmla="*/ 124 w 142"/>
                  <a:gd name="T4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38">
                    <a:moveTo>
                      <a:pt x="124" y="0"/>
                    </a:moveTo>
                    <a:lnTo>
                      <a:pt x="18" y="0"/>
                    </a:lnTo>
                    <a:lnTo>
                      <a:pt x="18" y="0"/>
                    </a:lnTo>
                    <a:lnTo>
                      <a:pt x="10" y="2"/>
                    </a:lnTo>
                    <a:lnTo>
                      <a:pt x="4" y="6"/>
                    </a:lnTo>
                    <a:lnTo>
                      <a:pt x="0" y="12"/>
                    </a:lnTo>
                    <a:lnTo>
                      <a:pt x="0" y="20"/>
                    </a:lnTo>
                    <a:lnTo>
                      <a:pt x="0" y="20"/>
                    </a:lnTo>
                    <a:lnTo>
                      <a:pt x="0" y="26"/>
                    </a:lnTo>
                    <a:lnTo>
                      <a:pt x="4" y="32"/>
                    </a:lnTo>
                    <a:lnTo>
                      <a:pt x="10" y="36"/>
                    </a:lnTo>
                    <a:lnTo>
                      <a:pt x="18" y="38"/>
                    </a:lnTo>
                    <a:lnTo>
                      <a:pt x="124" y="38"/>
                    </a:lnTo>
                    <a:lnTo>
                      <a:pt x="124" y="38"/>
                    </a:lnTo>
                    <a:lnTo>
                      <a:pt x="132" y="36"/>
                    </a:lnTo>
                    <a:lnTo>
                      <a:pt x="138" y="32"/>
                    </a:lnTo>
                    <a:lnTo>
                      <a:pt x="142" y="26"/>
                    </a:lnTo>
                    <a:lnTo>
                      <a:pt x="142" y="20"/>
                    </a:lnTo>
                    <a:lnTo>
                      <a:pt x="142" y="20"/>
                    </a:lnTo>
                    <a:lnTo>
                      <a:pt x="142" y="12"/>
                    </a:lnTo>
                    <a:lnTo>
                      <a:pt x="138" y="6"/>
                    </a:lnTo>
                    <a:lnTo>
                      <a:pt x="132" y="2"/>
                    </a:lnTo>
                    <a:lnTo>
                      <a:pt x="124" y="0"/>
                    </a:lnTo>
                    <a:lnTo>
                      <a:pt x="124" y="0"/>
                    </a:lnTo>
                    <a:close/>
                  </a:path>
                </a:pathLst>
              </a:custGeom>
              <a:grpFill/>
              <a:ln>
                <a:noFill/>
              </a:ln>
            </p:spPr>
            <p:txBody>
              <a:bodyPr vert="horz" wrap="square" lIns="91379" tIns="45690" rIns="91379" bIns="4569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80">
                  <a:defRPr/>
                </a:pPr>
                <a:endParaRPr lang="en-US" sz="1798" kern="0">
                  <a:solidFill>
                    <a:srgbClr val="000000"/>
                  </a:solidFill>
                </a:endParaRPr>
              </a:p>
            </p:txBody>
          </p:sp>
          <p:sp>
            <p:nvSpPr>
              <p:cNvPr id="74" name="Freeform 14">
                <a:extLst>
                  <a:ext uri="{FF2B5EF4-FFF2-40B4-BE49-F238E27FC236}">
                    <a16:creationId xmlns:a16="http://schemas.microsoft.com/office/drawing/2014/main" id="{2D78CEA9-F97D-4B09-B3F3-BB9D3569CE2A}"/>
                  </a:ext>
                </a:extLst>
              </p:cNvPr>
              <p:cNvSpPr>
                <a:spLocks/>
              </p:cNvSpPr>
              <p:nvPr/>
            </p:nvSpPr>
            <p:spPr bwMode="auto">
              <a:xfrm>
                <a:off x="568074" y="2392727"/>
                <a:ext cx="103679" cy="249313"/>
              </a:xfrm>
              <a:custGeom>
                <a:avLst/>
                <a:gdLst>
                  <a:gd name="T0" fmla="*/ 96 w 172"/>
                  <a:gd name="T1" fmla="*/ 224 h 376"/>
                  <a:gd name="T2" fmla="*/ 96 w 172"/>
                  <a:gd name="T3" fmla="*/ 224 h 376"/>
                  <a:gd name="T4" fmla="*/ 94 w 172"/>
                  <a:gd name="T5" fmla="*/ 220 h 376"/>
                  <a:gd name="T6" fmla="*/ 88 w 172"/>
                  <a:gd name="T7" fmla="*/ 218 h 376"/>
                  <a:gd name="T8" fmla="*/ 172 w 172"/>
                  <a:gd name="T9" fmla="*/ 22 h 376"/>
                  <a:gd name="T10" fmla="*/ 122 w 172"/>
                  <a:gd name="T11" fmla="*/ 0 h 376"/>
                  <a:gd name="T12" fmla="*/ 0 w 172"/>
                  <a:gd name="T13" fmla="*/ 282 h 376"/>
                  <a:gd name="T14" fmla="*/ 52 w 172"/>
                  <a:gd name="T15" fmla="*/ 304 h 376"/>
                  <a:gd name="T16" fmla="*/ 72 w 172"/>
                  <a:gd name="T17" fmla="*/ 258 h 376"/>
                  <a:gd name="T18" fmla="*/ 110 w 172"/>
                  <a:gd name="T19" fmla="*/ 338 h 376"/>
                  <a:gd name="T20" fmla="*/ 54 w 172"/>
                  <a:gd name="T21" fmla="*/ 338 h 376"/>
                  <a:gd name="T22" fmla="*/ 54 w 172"/>
                  <a:gd name="T23" fmla="*/ 338 h 376"/>
                  <a:gd name="T24" fmla="*/ 46 w 172"/>
                  <a:gd name="T25" fmla="*/ 340 h 376"/>
                  <a:gd name="T26" fmla="*/ 40 w 172"/>
                  <a:gd name="T27" fmla="*/ 344 h 376"/>
                  <a:gd name="T28" fmla="*/ 38 w 172"/>
                  <a:gd name="T29" fmla="*/ 350 h 376"/>
                  <a:gd name="T30" fmla="*/ 36 w 172"/>
                  <a:gd name="T31" fmla="*/ 358 h 376"/>
                  <a:gd name="T32" fmla="*/ 36 w 172"/>
                  <a:gd name="T33" fmla="*/ 358 h 376"/>
                  <a:gd name="T34" fmla="*/ 38 w 172"/>
                  <a:gd name="T35" fmla="*/ 364 h 376"/>
                  <a:gd name="T36" fmla="*/ 40 w 172"/>
                  <a:gd name="T37" fmla="*/ 370 h 376"/>
                  <a:gd name="T38" fmla="*/ 46 w 172"/>
                  <a:gd name="T39" fmla="*/ 374 h 376"/>
                  <a:gd name="T40" fmla="*/ 54 w 172"/>
                  <a:gd name="T41" fmla="*/ 376 h 376"/>
                  <a:gd name="T42" fmla="*/ 140 w 172"/>
                  <a:gd name="T43" fmla="*/ 376 h 376"/>
                  <a:gd name="T44" fmla="*/ 140 w 172"/>
                  <a:gd name="T45" fmla="*/ 376 h 376"/>
                  <a:gd name="T46" fmla="*/ 148 w 172"/>
                  <a:gd name="T47" fmla="*/ 374 h 376"/>
                  <a:gd name="T48" fmla="*/ 156 w 172"/>
                  <a:gd name="T49" fmla="*/ 368 h 376"/>
                  <a:gd name="T50" fmla="*/ 156 w 172"/>
                  <a:gd name="T51" fmla="*/ 368 h 376"/>
                  <a:gd name="T52" fmla="*/ 158 w 172"/>
                  <a:gd name="T53" fmla="*/ 358 h 376"/>
                  <a:gd name="T54" fmla="*/ 156 w 172"/>
                  <a:gd name="T55" fmla="*/ 350 h 376"/>
                  <a:gd name="T56" fmla="*/ 96 w 172"/>
                  <a:gd name="T57" fmla="*/ 224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2" h="376">
                    <a:moveTo>
                      <a:pt x="96" y="224"/>
                    </a:moveTo>
                    <a:lnTo>
                      <a:pt x="96" y="224"/>
                    </a:lnTo>
                    <a:lnTo>
                      <a:pt x="94" y="220"/>
                    </a:lnTo>
                    <a:lnTo>
                      <a:pt x="88" y="218"/>
                    </a:lnTo>
                    <a:lnTo>
                      <a:pt x="172" y="22"/>
                    </a:lnTo>
                    <a:lnTo>
                      <a:pt x="122" y="0"/>
                    </a:lnTo>
                    <a:lnTo>
                      <a:pt x="0" y="282"/>
                    </a:lnTo>
                    <a:lnTo>
                      <a:pt x="52" y="304"/>
                    </a:lnTo>
                    <a:lnTo>
                      <a:pt x="72" y="258"/>
                    </a:lnTo>
                    <a:lnTo>
                      <a:pt x="110" y="338"/>
                    </a:lnTo>
                    <a:lnTo>
                      <a:pt x="54" y="338"/>
                    </a:lnTo>
                    <a:lnTo>
                      <a:pt x="54" y="338"/>
                    </a:lnTo>
                    <a:lnTo>
                      <a:pt x="46" y="340"/>
                    </a:lnTo>
                    <a:lnTo>
                      <a:pt x="40" y="344"/>
                    </a:lnTo>
                    <a:lnTo>
                      <a:pt x="38" y="350"/>
                    </a:lnTo>
                    <a:lnTo>
                      <a:pt x="36" y="358"/>
                    </a:lnTo>
                    <a:lnTo>
                      <a:pt x="36" y="358"/>
                    </a:lnTo>
                    <a:lnTo>
                      <a:pt x="38" y="364"/>
                    </a:lnTo>
                    <a:lnTo>
                      <a:pt x="40" y="370"/>
                    </a:lnTo>
                    <a:lnTo>
                      <a:pt x="46" y="374"/>
                    </a:lnTo>
                    <a:lnTo>
                      <a:pt x="54" y="376"/>
                    </a:lnTo>
                    <a:lnTo>
                      <a:pt x="140" y="376"/>
                    </a:lnTo>
                    <a:lnTo>
                      <a:pt x="140" y="376"/>
                    </a:lnTo>
                    <a:lnTo>
                      <a:pt x="148" y="374"/>
                    </a:lnTo>
                    <a:lnTo>
                      <a:pt x="156" y="368"/>
                    </a:lnTo>
                    <a:lnTo>
                      <a:pt x="156" y="368"/>
                    </a:lnTo>
                    <a:lnTo>
                      <a:pt x="158" y="358"/>
                    </a:lnTo>
                    <a:lnTo>
                      <a:pt x="156" y="350"/>
                    </a:lnTo>
                    <a:lnTo>
                      <a:pt x="96" y="224"/>
                    </a:lnTo>
                    <a:close/>
                  </a:path>
                </a:pathLst>
              </a:custGeom>
              <a:grpFill/>
              <a:ln>
                <a:noFill/>
              </a:ln>
            </p:spPr>
            <p:txBody>
              <a:bodyPr vert="horz" wrap="square" lIns="91379" tIns="45690" rIns="91379" bIns="4569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80">
                  <a:defRPr/>
                </a:pPr>
                <a:endParaRPr lang="en-US" sz="1798" kern="0">
                  <a:solidFill>
                    <a:srgbClr val="000000"/>
                  </a:solidFill>
                </a:endParaRPr>
              </a:p>
            </p:txBody>
          </p:sp>
          <p:sp>
            <p:nvSpPr>
              <p:cNvPr id="75" name="Rectangle 74">
                <a:extLst>
                  <a:ext uri="{FF2B5EF4-FFF2-40B4-BE49-F238E27FC236}">
                    <a16:creationId xmlns:a16="http://schemas.microsoft.com/office/drawing/2014/main" id="{2B031CBB-BA21-4D1E-813E-122106FA00BC}"/>
                  </a:ext>
                </a:extLst>
              </p:cNvPr>
              <p:cNvSpPr/>
              <p:nvPr/>
            </p:nvSpPr>
            <p:spPr bwMode="auto">
              <a:xfrm>
                <a:off x="446928" y="2662225"/>
                <a:ext cx="221285" cy="170718"/>
              </a:xfrm>
              <a:prstGeom prst="rect">
                <a:avLst/>
              </a:prstGeom>
              <a:grpFill/>
              <a:ln w="9525" cap="flat" cmpd="sng" algn="ctr">
                <a:noFill/>
                <a:prstDash val="solid"/>
                <a:headEnd type="none" w="med" len="med"/>
                <a:tailEnd type="none" w="med" len="med"/>
              </a:ln>
              <a:effectLst/>
            </p:spPr>
            <p:txBody>
              <a:bodyPr rot="0" spcFirstLastPara="0" vert="horz" wrap="square" lIns="91379" tIns="45690" rIns="45690" bIns="91379"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480" fontAlgn="base">
                  <a:spcBef>
                    <a:spcPct val="0"/>
                  </a:spcBef>
                  <a:spcAft>
                    <a:spcPct val="0"/>
                  </a:spcAft>
                  <a:defRPr/>
                </a:pPr>
                <a:endParaRPr lang="en-US" sz="1798" kern="0" spc="-100">
                  <a:ln w="3175">
                    <a:noFill/>
                  </a:ln>
                  <a:gradFill flip="none" rotWithShape="1">
                    <a:gsLst>
                      <a:gs pos="0">
                        <a:srgbClr val="000000">
                          <a:lumMod val="65000"/>
                          <a:lumOff val="35000"/>
                        </a:srgbClr>
                      </a:gs>
                      <a:gs pos="86000">
                        <a:srgbClr val="000000">
                          <a:lumMod val="65000"/>
                          <a:lumOff val="35000"/>
                        </a:srgbClr>
                      </a:gs>
                    </a:gsLst>
                    <a:lin ang="5400000" scaled="0"/>
                    <a:tileRect/>
                  </a:gradFill>
                  <a:cs typeface="Arial" charset="0"/>
                </a:endParaRPr>
              </a:p>
            </p:txBody>
          </p:sp>
        </p:grpSp>
        <p:grpSp>
          <p:nvGrpSpPr>
            <p:cNvPr id="64" name="Group 63">
              <a:extLst>
                <a:ext uri="{FF2B5EF4-FFF2-40B4-BE49-F238E27FC236}">
                  <a16:creationId xmlns:a16="http://schemas.microsoft.com/office/drawing/2014/main" id="{CF68A588-FFCB-4BED-890E-9281258C0698}"/>
                </a:ext>
              </a:extLst>
            </p:cNvPr>
            <p:cNvGrpSpPr/>
            <p:nvPr/>
          </p:nvGrpSpPr>
          <p:grpSpPr>
            <a:xfrm rot="13971796">
              <a:off x="10451170" y="4189429"/>
              <a:ext cx="98572" cy="145820"/>
              <a:chOff x="2687372" y="3149601"/>
              <a:chExt cx="81465" cy="132564"/>
            </a:xfrm>
            <a:grpFill/>
          </p:grpSpPr>
          <p:sp>
            <p:nvSpPr>
              <p:cNvPr id="65" name="Freeform 75">
                <a:extLst>
                  <a:ext uri="{FF2B5EF4-FFF2-40B4-BE49-F238E27FC236}">
                    <a16:creationId xmlns:a16="http://schemas.microsoft.com/office/drawing/2014/main" id="{F6205F0B-BDF1-4537-81AC-7B2B24429100}"/>
                  </a:ext>
                </a:extLst>
              </p:cNvPr>
              <p:cNvSpPr>
                <a:spLocks/>
              </p:cNvSpPr>
              <p:nvPr/>
            </p:nvSpPr>
            <p:spPr bwMode="auto">
              <a:xfrm>
                <a:off x="2687372" y="3189592"/>
                <a:ext cx="19996" cy="52582"/>
              </a:xfrm>
              <a:custGeom>
                <a:avLst/>
                <a:gdLst>
                  <a:gd name="T0" fmla="*/ 53 w 53"/>
                  <a:gd name="T1" fmla="*/ 71 h 142"/>
                  <a:gd name="T2" fmla="*/ 53 w 53"/>
                  <a:gd name="T3" fmla="*/ 71 h 142"/>
                  <a:gd name="T4" fmla="*/ 53 w 53"/>
                  <a:gd name="T5" fmla="*/ 58 h 142"/>
                  <a:gd name="T6" fmla="*/ 49 w 53"/>
                  <a:gd name="T7" fmla="*/ 45 h 142"/>
                  <a:gd name="T8" fmla="*/ 44 w 53"/>
                  <a:gd name="T9" fmla="*/ 33 h 142"/>
                  <a:gd name="T10" fmla="*/ 37 w 53"/>
                  <a:gd name="T11" fmla="*/ 23 h 142"/>
                  <a:gd name="T12" fmla="*/ 29 w 53"/>
                  <a:gd name="T13" fmla="*/ 14 h 142"/>
                  <a:gd name="T14" fmla="*/ 20 w 53"/>
                  <a:gd name="T15" fmla="*/ 7 h 142"/>
                  <a:gd name="T16" fmla="*/ 10 w 53"/>
                  <a:gd name="T17" fmla="*/ 2 h 142"/>
                  <a:gd name="T18" fmla="*/ 0 w 53"/>
                  <a:gd name="T19" fmla="*/ 0 h 142"/>
                  <a:gd name="T20" fmla="*/ 0 w 53"/>
                  <a:gd name="T21" fmla="*/ 0 h 142"/>
                  <a:gd name="T22" fmla="*/ 8 w 53"/>
                  <a:gd name="T23" fmla="*/ 6 h 142"/>
                  <a:gd name="T24" fmla="*/ 13 w 53"/>
                  <a:gd name="T25" fmla="*/ 15 h 142"/>
                  <a:gd name="T26" fmla="*/ 18 w 53"/>
                  <a:gd name="T27" fmla="*/ 23 h 142"/>
                  <a:gd name="T28" fmla="*/ 22 w 53"/>
                  <a:gd name="T29" fmla="*/ 32 h 142"/>
                  <a:gd name="T30" fmla="*/ 26 w 53"/>
                  <a:gd name="T31" fmla="*/ 41 h 142"/>
                  <a:gd name="T32" fmla="*/ 28 w 53"/>
                  <a:gd name="T33" fmla="*/ 51 h 142"/>
                  <a:gd name="T34" fmla="*/ 29 w 53"/>
                  <a:gd name="T35" fmla="*/ 60 h 142"/>
                  <a:gd name="T36" fmla="*/ 29 w 53"/>
                  <a:gd name="T37" fmla="*/ 71 h 142"/>
                  <a:gd name="T38" fmla="*/ 29 w 53"/>
                  <a:gd name="T39" fmla="*/ 81 h 142"/>
                  <a:gd name="T40" fmla="*/ 28 w 53"/>
                  <a:gd name="T41" fmla="*/ 90 h 142"/>
                  <a:gd name="T42" fmla="*/ 26 w 53"/>
                  <a:gd name="T43" fmla="*/ 100 h 142"/>
                  <a:gd name="T44" fmla="*/ 23 w 53"/>
                  <a:gd name="T45" fmla="*/ 109 h 142"/>
                  <a:gd name="T46" fmla="*/ 18 w 53"/>
                  <a:gd name="T47" fmla="*/ 118 h 142"/>
                  <a:gd name="T48" fmla="*/ 14 w 53"/>
                  <a:gd name="T49" fmla="*/ 126 h 142"/>
                  <a:gd name="T50" fmla="*/ 8 w 53"/>
                  <a:gd name="T51" fmla="*/ 134 h 142"/>
                  <a:gd name="T52" fmla="*/ 1 w 53"/>
                  <a:gd name="T53" fmla="*/ 142 h 142"/>
                  <a:gd name="T54" fmla="*/ 1 w 53"/>
                  <a:gd name="T55" fmla="*/ 142 h 142"/>
                  <a:gd name="T56" fmla="*/ 10 w 53"/>
                  <a:gd name="T57" fmla="*/ 139 h 142"/>
                  <a:gd name="T58" fmla="*/ 20 w 53"/>
                  <a:gd name="T59" fmla="*/ 134 h 142"/>
                  <a:gd name="T60" fmla="*/ 29 w 53"/>
                  <a:gd name="T61" fmla="*/ 126 h 142"/>
                  <a:gd name="T62" fmla="*/ 37 w 53"/>
                  <a:gd name="T63" fmla="*/ 117 h 142"/>
                  <a:gd name="T64" fmla="*/ 44 w 53"/>
                  <a:gd name="T65" fmla="*/ 108 h 142"/>
                  <a:gd name="T66" fmla="*/ 49 w 53"/>
                  <a:gd name="T67" fmla="*/ 96 h 142"/>
                  <a:gd name="T68" fmla="*/ 53 w 53"/>
                  <a:gd name="T69" fmla="*/ 84 h 142"/>
                  <a:gd name="T70" fmla="*/ 53 w 53"/>
                  <a:gd name="T71"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 h="142">
                    <a:moveTo>
                      <a:pt x="53" y="71"/>
                    </a:moveTo>
                    <a:lnTo>
                      <a:pt x="53" y="71"/>
                    </a:lnTo>
                    <a:lnTo>
                      <a:pt x="53" y="58"/>
                    </a:lnTo>
                    <a:lnTo>
                      <a:pt x="49" y="45"/>
                    </a:lnTo>
                    <a:lnTo>
                      <a:pt x="44" y="33"/>
                    </a:lnTo>
                    <a:lnTo>
                      <a:pt x="37" y="23"/>
                    </a:lnTo>
                    <a:lnTo>
                      <a:pt x="29" y="14"/>
                    </a:lnTo>
                    <a:lnTo>
                      <a:pt x="20" y="7"/>
                    </a:lnTo>
                    <a:lnTo>
                      <a:pt x="10" y="2"/>
                    </a:lnTo>
                    <a:lnTo>
                      <a:pt x="0" y="0"/>
                    </a:lnTo>
                    <a:lnTo>
                      <a:pt x="0" y="0"/>
                    </a:lnTo>
                    <a:lnTo>
                      <a:pt x="8" y="6"/>
                    </a:lnTo>
                    <a:lnTo>
                      <a:pt x="13" y="15"/>
                    </a:lnTo>
                    <a:lnTo>
                      <a:pt x="18" y="23"/>
                    </a:lnTo>
                    <a:lnTo>
                      <a:pt x="22" y="32"/>
                    </a:lnTo>
                    <a:lnTo>
                      <a:pt x="26" y="41"/>
                    </a:lnTo>
                    <a:lnTo>
                      <a:pt x="28" y="51"/>
                    </a:lnTo>
                    <a:lnTo>
                      <a:pt x="29" y="60"/>
                    </a:lnTo>
                    <a:lnTo>
                      <a:pt x="29" y="71"/>
                    </a:lnTo>
                    <a:lnTo>
                      <a:pt x="29" y="81"/>
                    </a:lnTo>
                    <a:lnTo>
                      <a:pt x="28" y="90"/>
                    </a:lnTo>
                    <a:lnTo>
                      <a:pt x="26" y="100"/>
                    </a:lnTo>
                    <a:lnTo>
                      <a:pt x="23" y="109"/>
                    </a:lnTo>
                    <a:lnTo>
                      <a:pt x="18" y="118"/>
                    </a:lnTo>
                    <a:lnTo>
                      <a:pt x="14" y="126"/>
                    </a:lnTo>
                    <a:lnTo>
                      <a:pt x="8" y="134"/>
                    </a:lnTo>
                    <a:lnTo>
                      <a:pt x="1" y="142"/>
                    </a:lnTo>
                    <a:lnTo>
                      <a:pt x="1" y="142"/>
                    </a:lnTo>
                    <a:lnTo>
                      <a:pt x="10" y="139"/>
                    </a:lnTo>
                    <a:lnTo>
                      <a:pt x="20" y="134"/>
                    </a:lnTo>
                    <a:lnTo>
                      <a:pt x="29" y="126"/>
                    </a:lnTo>
                    <a:lnTo>
                      <a:pt x="37" y="117"/>
                    </a:lnTo>
                    <a:lnTo>
                      <a:pt x="44" y="108"/>
                    </a:lnTo>
                    <a:lnTo>
                      <a:pt x="49" y="96"/>
                    </a:lnTo>
                    <a:lnTo>
                      <a:pt x="53" y="84"/>
                    </a:lnTo>
                    <a:lnTo>
                      <a:pt x="53" y="71"/>
                    </a:lnTo>
                    <a:close/>
                  </a:path>
                </a:pathLst>
              </a:custGeom>
              <a:grpFill/>
              <a:ln w="9525" cap="flat" cmpd="sng" algn="ctr">
                <a:noFill/>
                <a:prstDash val="solid"/>
                <a:headEnd type="none" w="med" len="med"/>
                <a:tailEnd type="none" w="med" len="med"/>
              </a:ln>
              <a:effectLst/>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rot="0" spcFirstLastPara="0" vert="horz" wrap="square" lIns="91379" tIns="45690" rIns="45690" bIns="91379"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480" fontAlgn="base">
                  <a:spcBef>
                    <a:spcPct val="0"/>
                  </a:spcBef>
                  <a:spcAft>
                    <a:spcPct val="0"/>
                  </a:spcAft>
                  <a:defRPr/>
                </a:pPr>
                <a:endParaRPr lang="en-US" sz="1998" kern="0" spc="-100">
                  <a:ln w="3175">
                    <a:noFill/>
                  </a:ln>
                  <a:gradFill flip="none" rotWithShape="1">
                    <a:gsLst>
                      <a:gs pos="0">
                        <a:srgbClr val="000000">
                          <a:lumMod val="65000"/>
                          <a:lumOff val="35000"/>
                        </a:srgbClr>
                      </a:gs>
                      <a:gs pos="86000">
                        <a:srgbClr val="000000">
                          <a:lumMod val="65000"/>
                          <a:lumOff val="35000"/>
                        </a:srgbClr>
                      </a:gs>
                    </a:gsLst>
                    <a:lin ang="5400000" scaled="0"/>
                    <a:tileRect/>
                  </a:gradFill>
                  <a:cs typeface="Arial" charset="0"/>
                </a:endParaRPr>
              </a:p>
            </p:txBody>
          </p:sp>
          <p:sp>
            <p:nvSpPr>
              <p:cNvPr id="66" name="Freeform 76">
                <a:extLst>
                  <a:ext uri="{FF2B5EF4-FFF2-40B4-BE49-F238E27FC236}">
                    <a16:creationId xmlns:a16="http://schemas.microsoft.com/office/drawing/2014/main" id="{F56ACC14-B82B-4C41-B715-F34470437497}"/>
                  </a:ext>
                </a:extLst>
              </p:cNvPr>
              <p:cNvSpPr>
                <a:spLocks/>
              </p:cNvSpPr>
              <p:nvPr/>
            </p:nvSpPr>
            <p:spPr bwMode="auto">
              <a:xfrm>
                <a:off x="2687372" y="3189592"/>
                <a:ext cx="19996" cy="52582"/>
              </a:xfrm>
              <a:custGeom>
                <a:avLst/>
                <a:gdLst>
                  <a:gd name="T0" fmla="*/ 53 w 53"/>
                  <a:gd name="T1" fmla="*/ 71 h 142"/>
                  <a:gd name="T2" fmla="*/ 53 w 53"/>
                  <a:gd name="T3" fmla="*/ 71 h 142"/>
                  <a:gd name="T4" fmla="*/ 53 w 53"/>
                  <a:gd name="T5" fmla="*/ 58 h 142"/>
                  <a:gd name="T6" fmla="*/ 49 w 53"/>
                  <a:gd name="T7" fmla="*/ 45 h 142"/>
                  <a:gd name="T8" fmla="*/ 44 w 53"/>
                  <a:gd name="T9" fmla="*/ 33 h 142"/>
                  <a:gd name="T10" fmla="*/ 37 w 53"/>
                  <a:gd name="T11" fmla="*/ 23 h 142"/>
                  <a:gd name="T12" fmla="*/ 29 w 53"/>
                  <a:gd name="T13" fmla="*/ 14 h 142"/>
                  <a:gd name="T14" fmla="*/ 20 w 53"/>
                  <a:gd name="T15" fmla="*/ 7 h 142"/>
                  <a:gd name="T16" fmla="*/ 10 w 53"/>
                  <a:gd name="T17" fmla="*/ 2 h 142"/>
                  <a:gd name="T18" fmla="*/ 0 w 53"/>
                  <a:gd name="T19" fmla="*/ 0 h 142"/>
                  <a:gd name="T20" fmla="*/ 0 w 53"/>
                  <a:gd name="T21" fmla="*/ 0 h 142"/>
                  <a:gd name="T22" fmla="*/ 8 w 53"/>
                  <a:gd name="T23" fmla="*/ 6 h 142"/>
                  <a:gd name="T24" fmla="*/ 13 w 53"/>
                  <a:gd name="T25" fmla="*/ 15 h 142"/>
                  <a:gd name="T26" fmla="*/ 18 w 53"/>
                  <a:gd name="T27" fmla="*/ 23 h 142"/>
                  <a:gd name="T28" fmla="*/ 22 w 53"/>
                  <a:gd name="T29" fmla="*/ 32 h 142"/>
                  <a:gd name="T30" fmla="*/ 26 w 53"/>
                  <a:gd name="T31" fmla="*/ 41 h 142"/>
                  <a:gd name="T32" fmla="*/ 28 w 53"/>
                  <a:gd name="T33" fmla="*/ 51 h 142"/>
                  <a:gd name="T34" fmla="*/ 29 w 53"/>
                  <a:gd name="T35" fmla="*/ 60 h 142"/>
                  <a:gd name="T36" fmla="*/ 29 w 53"/>
                  <a:gd name="T37" fmla="*/ 71 h 142"/>
                  <a:gd name="T38" fmla="*/ 29 w 53"/>
                  <a:gd name="T39" fmla="*/ 81 h 142"/>
                  <a:gd name="T40" fmla="*/ 28 w 53"/>
                  <a:gd name="T41" fmla="*/ 90 h 142"/>
                  <a:gd name="T42" fmla="*/ 26 w 53"/>
                  <a:gd name="T43" fmla="*/ 100 h 142"/>
                  <a:gd name="T44" fmla="*/ 23 w 53"/>
                  <a:gd name="T45" fmla="*/ 109 h 142"/>
                  <a:gd name="T46" fmla="*/ 18 w 53"/>
                  <a:gd name="T47" fmla="*/ 118 h 142"/>
                  <a:gd name="T48" fmla="*/ 14 w 53"/>
                  <a:gd name="T49" fmla="*/ 126 h 142"/>
                  <a:gd name="T50" fmla="*/ 8 w 53"/>
                  <a:gd name="T51" fmla="*/ 134 h 142"/>
                  <a:gd name="T52" fmla="*/ 1 w 53"/>
                  <a:gd name="T53" fmla="*/ 142 h 142"/>
                  <a:gd name="T54" fmla="*/ 1 w 53"/>
                  <a:gd name="T55" fmla="*/ 142 h 142"/>
                  <a:gd name="T56" fmla="*/ 10 w 53"/>
                  <a:gd name="T57" fmla="*/ 139 h 142"/>
                  <a:gd name="T58" fmla="*/ 20 w 53"/>
                  <a:gd name="T59" fmla="*/ 134 h 142"/>
                  <a:gd name="T60" fmla="*/ 29 w 53"/>
                  <a:gd name="T61" fmla="*/ 126 h 142"/>
                  <a:gd name="T62" fmla="*/ 37 w 53"/>
                  <a:gd name="T63" fmla="*/ 117 h 142"/>
                  <a:gd name="T64" fmla="*/ 44 w 53"/>
                  <a:gd name="T65" fmla="*/ 108 h 142"/>
                  <a:gd name="T66" fmla="*/ 49 w 53"/>
                  <a:gd name="T67" fmla="*/ 96 h 142"/>
                  <a:gd name="T68" fmla="*/ 53 w 53"/>
                  <a:gd name="T69" fmla="*/ 84 h 142"/>
                  <a:gd name="T70" fmla="*/ 53 w 53"/>
                  <a:gd name="T71"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 h="142">
                    <a:moveTo>
                      <a:pt x="53" y="71"/>
                    </a:moveTo>
                    <a:lnTo>
                      <a:pt x="53" y="71"/>
                    </a:lnTo>
                    <a:lnTo>
                      <a:pt x="53" y="58"/>
                    </a:lnTo>
                    <a:lnTo>
                      <a:pt x="49" y="45"/>
                    </a:lnTo>
                    <a:lnTo>
                      <a:pt x="44" y="33"/>
                    </a:lnTo>
                    <a:lnTo>
                      <a:pt x="37" y="23"/>
                    </a:lnTo>
                    <a:lnTo>
                      <a:pt x="29" y="14"/>
                    </a:lnTo>
                    <a:lnTo>
                      <a:pt x="20" y="7"/>
                    </a:lnTo>
                    <a:lnTo>
                      <a:pt x="10" y="2"/>
                    </a:lnTo>
                    <a:lnTo>
                      <a:pt x="0" y="0"/>
                    </a:lnTo>
                    <a:lnTo>
                      <a:pt x="0" y="0"/>
                    </a:lnTo>
                    <a:lnTo>
                      <a:pt x="8" y="6"/>
                    </a:lnTo>
                    <a:lnTo>
                      <a:pt x="13" y="15"/>
                    </a:lnTo>
                    <a:lnTo>
                      <a:pt x="18" y="23"/>
                    </a:lnTo>
                    <a:lnTo>
                      <a:pt x="22" y="32"/>
                    </a:lnTo>
                    <a:lnTo>
                      <a:pt x="26" y="41"/>
                    </a:lnTo>
                    <a:lnTo>
                      <a:pt x="28" y="51"/>
                    </a:lnTo>
                    <a:lnTo>
                      <a:pt x="29" y="60"/>
                    </a:lnTo>
                    <a:lnTo>
                      <a:pt x="29" y="71"/>
                    </a:lnTo>
                    <a:lnTo>
                      <a:pt x="29" y="81"/>
                    </a:lnTo>
                    <a:lnTo>
                      <a:pt x="28" y="90"/>
                    </a:lnTo>
                    <a:lnTo>
                      <a:pt x="26" y="100"/>
                    </a:lnTo>
                    <a:lnTo>
                      <a:pt x="23" y="109"/>
                    </a:lnTo>
                    <a:lnTo>
                      <a:pt x="18" y="118"/>
                    </a:lnTo>
                    <a:lnTo>
                      <a:pt x="14" y="126"/>
                    </a:lnTo>
                    <a:lnTo>
                      <a:pt x="8" y="134"/>
                    </a:lnTo>
                    <a:lnTo>
                      <a:pt x="1" y="142"/>
                    </a:lnTo>
                    <a:lnTo>
                      <a:pt x="1" y="142"/>
                    </a:lnTo>
                    <a:lnTo>
                      <a:pt x="10" y="139"/>
                    </a:lnTo>
                    <a:lnTo>
                      <a:pt x="20" y="134"/>
                    </a:lnTo>
                    <a:lnTo>
                      <a:pt x="29" y="126"/>
                    </a:lnTo>
                    <a:lnTo>
                      <a:pt x="37" y="117"/>
                    </a:lnTo>
                    <a:lnTo>
                      <a:pt x="44" y="108"/>
                    </a:lnTo>
                    <a:lnTo>
                      <a:pt x="49" y="96"/>
                    </a:lnTo>
                    <a:lnTo>
                      <a:pt x="53" y="84"/>
                    </a:lnTo>
                    <a:lnTo>
                      <a:pt x="53" y="71"/>
                    </a:lnTo>
                  </a:path>
                </a:pathLst>
              </a:custGeom>
              <a:grpFill/>
              <a:ln w="9525" cap="flat" cmpd="sng" algn="ctr">
                <a:noFill/>
                <a:prstDash val="solid"/>
                <a:headEnd type="none" w="med" len="med"/>
                <a:tailEnd type="none" w="med" len="med"/>
              </a:ln>
              <a:effectLst/>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rot="0" spcFirstLastPara="0" vert="horz" wrap="square" lIns="91379" tIns="45690" rIns="45690" bIns="91379"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480" fontAlgn="base">
                  <a:spcBef>
                    <a:spcPct val="0"/>
                  </a:spcBef>
                  <a:spcAft>
                    <a:spcPct val="0"/>
                  </a:spcAft>
                  <a:defRPr/>
                </a:pPr>
                <a:endParaRPr lang="en-US" sz="1998" kern="0" spc="-100">
                  <a:ln w="3175">
                    <a:noFill/>
                  </a:ln>
                  <a:gradFill flip="none" rotWithShape="1">
                    <a:gsLst>
                      <a:gs pos="0">
                        <a:srgbClr val="000000">
                          <a:lumMod val="65000"/>
                          <a:lumOff val="35000"/>
                        </a:srgbClr>
                      </a:gs>
                      <a:gs pos="86000">
                        <a:srgbClr val="000000">
                          <a:lumMod val="65000"/>
                          <a:lumOff val="35000"/>
                        </a:srgbClr>
                      </a:gs>
                    </a:gsLst>
                    <a:lin ang="5400000" scaled="0"/>
                    <a:tileRect/>
                  </a:gradFill>
                  <a:cs typeface="Arial" charset="0"/>
                </a:endParaRPr>
              </a:p>
            </p:txBody>
          </p:sp>
          <p:sp>
            <p:nvSpPr>
              <p:cNvPr id="67" name="Freeform 77">
                <a:extLst>
                  <a:ext uri="{FF2B5EF4-FFF2-40B4-BE49-F238E27FC236}">
                    <a16:creationId xmlns:a16="http://schemas.microsoft.com/office/drawing/2014/main" id="{2385D33F-BD2E-46F7-B422-5E4C8061E1CA}"/>
                  </a:ext>
                </a:extLst>
              </p:cNvPr>
              <p:cNvSpPr>
                <a:spLocks/>
              </p:cNvSpPr>
              <p:nvPr/>
            </p:nvSpPr>
            <p:spPr bwMode="auto">
              <a:xfrm>
                <a:off x="2705147" y="3170337"/>
                <a:ext cx="30364" cy="91091"/>
              </a:xfrm>
              <a:custGeom>
                <a:avLst/>
                <a:gdLst>
                  <a:gd name="T0" fmla="*/ 1 w 81"/>
                  <a:gd name="T1" fmla="*/ 245 h 245"/>
                  <a:gd name="T2" fmla="*/ 1 w 81"/>
                  <a:gd name="T3" fmla="*/ 245 h 245"/>
                  <a:gd name="T4" fmla="*/ 16 w 81"/>
                  <a:gd name="T5" fmla="*/ 238 h 245"/>
                  <a:gd name="T6" fmla="*/ 31 w 81"/>
                  <a:gd name="T7" fmla="*/ 227 h 245"/>
                  <a:gd name="T8" fmla="*/ 43 w 81"/>
                  <a:gd name="T9" fmla="*/ 216 h 245"/>
                  <a:gd name="T10" fmla="*/ 56 w 81"/>
                  <a:gd name="T11" fmla="*/ 200 h 245"/>
                  <a:gd name="T12" fmla="*/ 67 w 81"/>
                  <a:gd name="T13" fmla="*/ 183 h 245"/>
                  <a:gd name="T14" fmla="*/ 71 w 81"/>
                  <a:gd name="T15" fmla="*/ 174 h 245"/>
                  <a:gd name="T16" fmla="*/ 74 w 81"/>
                  <a:gd name="T17" fmla="*/ 164 h 245"/>
                  <a:gd name="T18" fmla="*/ 77 w 81"/>
                  <a:gd name="T19" fmla="*/ 155 h 245"/>
                  <a:gd name="T20" fmla="*/ 80 w 81"/>
                  <a:gd name="T21" fmla="*/ 145 h 245"/>
                  <a:gd name="T22" fmla="*/ 81 w 81"/>
                  <a:gd name="T23" fmla="*/ 133 h 245"/>
                  <a:gd name="T24" fmla="*/ 81 w 81"/>
                  <a:gd name="T25" fmla="*/ 123 h 245"/>
                  <a:gd name="T26" fmla="*/ 81 w 81"/>
                  <a:gd name="T27" fmla="*/ 123 h 245"/>
                  <a:gd name="T28" fmla="*/ 81 w 81"/>
                  <a:gd name="T29" fmla="*/ 111 h 245"/>
                  <a:gd name="T30" fmla="*/ 80 w 81"/>
                  <a:gd name="T31" fmla="*/ 101 h 245"/>
                  <a:gd name="T32" fmla="*/ 77 w 81"/>
                  <a:gd name="T33" fmla="*/ 89 h 245"/>
                  <a:gd name="T34" fmla="*/ 74 w 81"/>
                  <a:gd name="T35" fmla="*/ 80 h 245"/>
                  <a:gd name="T36" fmla="*/ 71 w 81"/>
                  <a:gd name="T37" fmla="*/ 70 h 245"/>
                  <a:gd name="T38" fmla="*/ 67 w 81"/>
                  <a:gd name="T39" fmla="*/ 61 h 245"/>
                  <a:gd name="T40" fmla="*/ 56 w 81"/>
                  <a:gd name="T41" fmla="*/ 44 h 245"/>
                  <a:gd name="T42" fmla="*/ 43 w 81"/>
                  <a:gd name="T43" fmla="*/ 30 h 245"/>
                  <a:gd name="T44" fmla="*/ 29 w 81"/>
                  <a:gd name="T45" fmla="*/ 17 h 245"/>
                  <a:gd name="T46" fmla="*/ 15 w 81"/>
                  <a:gd name="T47" fmla="*/ 6 h 245"/>
                  <a:gd name="T48" fmla="*/ 0 w 81"/>
                  <a:gd name="T49" fmla="*/ 0 h 245"/>
                  <a:gd name="T50" fmla="*/ 0 w 81"/>
                  <a:gd name="T51" fmla="*/ 0 h 245"/>
                  <a:gd name="T52" fmla="*/ 11 w 81"/>
                  <a:gd name="T53" fmla="*/ 13 h 245"/>
                  <a:gd name="T54" fmla="*/ 23 w 81"/>
                  <a:gd name="T55" fmla="*/ 26 h 245"/>
                  <a:gd name="T56" fmla="*/ 32 w 81"/>
                  <a:gd name="T57" fmla="*/ 41 h 245"/>
                  <a:gd name="T58" fmla="*/ 40 w 81"/>
                  <a:gd name="T59" fmla="*/ 56 h 245"/>
                  <a:gd name="T60" fmla="*/ 46 w 81"/>
                  <a:gd name="T61" fmla="*/ 72 h 245"/>
                  <a:gd name="T62" fmla="*/ 50 w 81"/>
                  <a:gd name="T63" fmla="*/ 88 h 245"/>
                  <a:gd name="T64" fmla="*/ 54 w 81"/>
                  <a:gd name="T65" fmla="*/ 105 h 245"/>
                  <a:gd name="T66" fmla="*/ 54 w 81"/>
                  <a:gd name="T67" fmla="*/ 123 h 245"/>
                  <a:gd name="T68" fmla="*/ 54 w 81"/>
                  <a:gd name="T69" fmla="*/ 123 h 245"/>
                  <a:gd name="T70" fmla="*/ 54 w 81"/>
                  <a:gd name="T71" fmla="*/ 139 h 245"/>
                  <a:gd name="T72" fmla="*/ 51 w 81"/>
                  <a:gd name="T73" fmla="*/ 156 h 245"/>
                  <a:gd name="T74" fmla="*/ 46 w 81"/>
                  <a:gd name="T75" fmla="*/ 172 h 245"/>
                  <a:gd name="T76" fmla="*/ 40 w 81"/>
                  <a:gd name="T77" fmla="*/ 189 h 245"/>
                  <a:gd name="T78" fmla="*/ 32 w 81"/>
                  <a:gd name="T79" fmla="*/ 204 h 245"/>
                  <a:gd name="T80" fmla="*/ 23 w 81"/>
                  <a:gd name="T81" fmla="*/ 218 h 245"/>
                  <a:gd name="T82" fmla="*/ 12 w 81"/>
                  <a:gd name="T83" fmla="*/ 232 h 245"/>
                  <a:gd name="T84" fmla="*/ 1 w 81"/>
                  <a:gd name="T85"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1" h="245">
                    <a:moveTo>
                      <a:pt x="1" y="245"/>
                    </a:moveTo>
                    <a:lnTo>
                      <a:pt x="1" y="245"/>
                    </a:lnTo>
                    <a:lnTo>
                      <a:pt x="16" y="238"/>
                    </a:lnTo>
                    <a:lnTo>
                      <a:pt x="31" y="227"/>
                    </a:lnTo>
                    <a:lnTo>
                      <a:pt x="43" y="216"/>
                    </a:lnTo>
                    <a:lnTo>
                      <a:pt x="56" y="200"/>
                    </a:lnTo>
                    <a:lnTo>
                      <a:pt x="67" y="183"/>
                    </a:lnTo>
                    <a:lnTo>
                      <a:pt x="71" y="174"/>
                    </a:lnTo>
                    <a:lnTo>
                      <a:pt x="74" y="164"/>
                    </a:lnTo>
                    <a:lnTo>
                      <a:pt x="77" y="155"/>
                    </a:lnTo>
                    <a:lnTo>
                      <a:pt x="80" y="145"/>
                    </a:lnTo>
                    <a:lnTo>
                      <a:pt x="81" y="133"/>
                    </a:lnTo>
                    <a:lnTo>
                      <a:pt x="81" y="123"/>
                    </a:lnTo>
                    <a:lnTo>
                      <a:pt x="81" y="123"/>
                    </a:lnTo>
                    <a:lnTo>
                      <a:pt x="81" y="111"/>
                    </a:lnTo>
                    <a:lnTo>
                      <a:pt x="80" y="101"/>
                    </a:lnTo>
                    <a:lnTo>
                      <a:pt x="77" y="89"/>
                    </a:lnTo>
                    <a:lnTo>
                      <a:pt x="74" y="80"/>
                    </a:lnTo>
                    <a:lnTo>
                      <a:pt x="71" y="70"/>
                    </a:lnTo>
                    <a:lnTo>
                      <a:pt x="67" y="61"/>
                    </a:lnTo>
                    <a:lnTo>
                      <a:pt x="56" y="44"/>
                    </a:lnTo>
                    <a:lnTo>
                      <a:pt x="43" y="30"/>
                    </a:lnTo>
                    <a:lnTo>
                      <a:pt x="29" y="17"/>
                    </a:lnTo>
                    <a:lnTo>
                      <a:pt x="15" y="6"/>
                    </a:lnTo>
                    <a:lnTo>
                      <a:pt x="0" y="0"/>
                    </a:lnTo>
                    <a:lnTo>
                      <a:pt x="0" y="0"/>
                    </a:lnTo>
                    <a:lnTo>
                      <a:pt x="11" y="13"/>
                    </a:lnTo>
                    <a:lnTo>
                      <a:pt x="23" y="26"/>
                    </a:lnTo>
                    <a:lnTo>
                      <a:pt x="32" y="41"/>
                    </a:lnTo>
                    <a:lnTo>
                      <a:pt x="40" y="56"/>
                    </a:lnTo>
                    <a:lnTo>
                      <a:pt x="46" y="72"/>
                    </a:lnTo>
                    <a:lnTo>
                      <a:pt x="50" y="88"/>
                    </a:lnTo>
                    <a:lnTo>
                      <a:pt x="54" y="105"/>
                    </a:lnTo>
                    <a:lnTo>
                      <a:pt x="54" y="123"/>
                    </a:lnTo>
                    <a:lnTo>
                      <a:pt x="54" y="123"/>
                    </a:lnTo>
                    <a:lnTo>
                      <a:pt x="54" y="139"/>
                    </a:lnTo>
                    <a:lnTo>
                      <a:pt x="51" y="156"/>
                    </a:lnTo>
                    <a:lnTo>
                      <a:pt x="46" y="172"/>
                    </a:lnTo>
                    <a:lnTo>
                      <a:pt x="40" y="189"/>
                    </a:lnTo>
                    <a:lnTo>
                      <a:pt x="32" y="204"/>
                    </a:lnTo>
                    <a:lnTo>
                      <a:pt x="23" y="218"/>
                    </a:lnTo>
                    <a:lnTo>
                      <a:pt x="12" y="232"/>
                    </a:lnTo>
                    <a:lnTo>
                      <a:pt x="1" y="245"/>
                    </a:lnTo>
                    <a:close/>
                  </a:path>
                </a:pathLst>
              </a:custGeom>
              <a:grpFill/>
              <a:ln w="9525" cap="flat" cmpd="sng" algn="ctr">
                <a:noFill/>
                <a:prstDash val="solid"/>
                <a:headEnd type="none" w="med" len="med"/>
                <a:tailEnd type="none" w="med" len="med"/>
              </a:ln>
              <a:effectLst/>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rot="0" spcFirstLastPara="0" vert="horz" wrap="square" lIns="91379" tIns="45690" rIns="45690" bIns="91379"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480" fontAlgn="base">
                  <a:spcBef>
                    <a:spcPct val="0"/>
                  </a:spcBef>
                  <a:spcAft>
                    <a:spcPct val="0"/>
                  </a:spcAft>
                  <a:defRPr/>
                </a:pPr>
                <a:endParaRPr lang="en-US" sz="1998" kern="0" spc="-100">
                  <a:ln w="3175">
                    <a:noFill/>
                  </a:ln>
                  <a:gradFill flip="none" rotWithShape="1">
                    <a:gsLst>
                      <a:gs pos="0">
                        <a:srgbClr val="000000">
                          <a:lumMod val="65000"/>
                          <a:lumOff val="35000"/>
                        </a:srgbClr>
                      </a:gs>
                      <a:gs pos="86000">
                        <a:srgbClr val="000000">
                          <a:lumMod val="65000"/>
                          <a:lumOff val="35000"/>
                        </a:srgbClr>
                      </a:gs>
                    </a:gsLst>
                    <a:lin ang="5400000" scaled="0"/>
                    <a:tileRect/>
                  </a:gradFill>
                  <a:cs typeface="Arial" charset="0"/>
                </a:endParaRPr>
              </a:p>
            </p:txBody>
          </p:sp>
          <p:sp>
            <p:nvSpPr>
              <p:cNvPr id="68" name="Freeform 78">
                <a:extLst>
                  <a:ext uri="{FF2B5EF4-FFF2-40B4-BE49-F238E27FC236}">
                    <a16:creationId xmlns:a16="http://schemas.microsoft.com/office/drawing/2014/main" id="{06A5EFEE-23B7-4F46-B915-4735BCF9C97A}"/>
                  </a:ext>
                </a:extLst>
              </p:cNvPr>
              <p:cNvSpPr>
                <a:spLocks/>
              </p:cNvSpPr>
              <p:nvPr/>
            </p:nvSpPr>
            <p:spPr bwMode="auto">
              <a:xfrm>
                <a:off x="2705147" y="3170337"/>
                <a:ext cx="30364" cy="91091"/>
              </a:xfrm>
              <a:custGeom>
                <a:avLst/>
                <a:gdLst>
                  <a:gd name="T0" fmla="*/ 1 w 81"/>
                  <a:gd name="T1" fmla="*/ 245 h 245"/>
                  <a:gd name="T2" fmla="*/ 1 w 81"/>
                  <a:gd name="T3" fmla="*/ 245 h 245"/>
                  <a:gd name="T4" fmla="*/ 16 w 81"/>
                  <a:gd name="T5" fmla="*/ 238 h 245"/>
                  <a:gd name="T6" fmla="*/ 31 w 81"/>
                  <a:gd name="T7" fmla="*/ 227 h 245"/>
                  <a:gd name="T8" fmla="*/ 43 w 81"/>
                  <a:gd name="T9" fmla="*/ 216 h 245"/>
                  <a:gd name="T10" fmla="*/ 56 w 81"/>
                  <a:gd name="T11" fmla="*/ 200 h 245"/>
                  <a:gd name="T12" fmla="*/ 67 w 81"/>
                  <a:gd name="T13" fmla="*/ 183 h 245"/>
                  <a:gd name="T14" fmla="*/ 71 w 81"/>
                  <a:gd name="T15" fmla="*/ 174 h 245"/>
                  <a:gd name="T16" fmla="*/ 74 w 81"/>
                  <a:gd name="T17" fmla="*/ 164 h 245"/>
                  <a:gd name="T18" fmla="*/ 77 w 81"/>
                  <a:gd name="T19" fmla="*/ 155 h 245"/>
                  <a:gd name="T20" fmla="*/ 80 w 81"/>
                  <a:gd name="T21" fmla="*/ 145 h 245"/>
                  <a:gd name="T22" fmla="*/ 81 w 81"/>
                  <a:gd name="T23" fmla="*/ 133 h 245"/>
                  <a:gd name="T24" fmla="*/ 81 w 81"/>
                  <a:gd name="T25" fmla="*/ 123 h 245"/>
                  <a:gd name="T26" fmla="*/ 81 w 81"/>
                  <a:gd name="T27" fmla="*/ 123 h 245"/>
                  <a:gd name="T28" fmla="*/ 81 w 81"/>
                  <a:gd name="T29" fmla="*/ 111 h 245"/>
                  <a:gd name="T30" fmla="*/ 80 w 81"/>
                  <a:gd name="T31" fmla="*/ 101 h 245"/>
                  <a:gd name="T32" fmla="*/ 77 w 81"/>
                  <a:gd name="T33" fmla="*/ 89 h 245"/>
                  <a:gd name="T34" fmla="*/ 74 w 81"/>
                  <a:gd name="T35" fmla="*/ 80 h 245"/>
                  <a:gd name="T36" fmla="*/ 71 w 81"/>
                  <a:gd name="T37" fmla="*/ 70 h 245"/>
                  <a:gd name="T38" fmla="*/ 67 w 81"/>
                  <a:gd name="T39" fmla="*/ 61 h 245"/>
                  <a:gd name="T40" fmla="*/ 56 w 81"/>
                  <a:gd name="T41" fmla="*/ 44 h 245"/>
                  <a:gd name="T42" fmla="*/ 43 w 81"/>
                  <a:gd name="T43" fmla="*/ 30 h 245"/>
                  <a:gd name="T44" fmla="*/ 29 w 81"/>
                  <a:gd name="T45" fmla="*/ 17 h 245"/>
                  <a:gd name="T46" fmla="*/ 15 w 81"/>
                  <a:gd name="T47" fmla="*/ 6 h 245"/>
                  <a:gd name="T48" fmla="*/ 0 w 81"/>
                  <a:gd name="T49" fmla="*/ 0 h 245"/>
                  <a:gd name="T50" fmla="*/ 0 w 81"/>
                  <a:gd name="T51" fmla="*/ 0 h 245"/>
                  <a:gd name="T52" fmla="*/ 11 w 81"/>
                  <a:gd name="T53" fmla="*/ 13 h 245"/>
                  <a:gd name="T54" fmla="*/ 23 w 81"/>
                  <a:gd name="T55" fmla="*/ 26 h 245"/>
                  <a:gd name="T56" fmla="*/ 32 w 81"/>
                  <a:gd name="T57" fmla="*/ 41 h 245"/>
                  <a:gd name="T58" fmla="*/ 40 w 81"/>
                  <a:gd name="T59" fmla="*/ 56 h 245"/>
                  <a:gd name="T60" fmla="*/ 46 w 81"/>
                  <a:gd name="T61" fmla="*/ 72 h 245"/>
                  <a:gd name="T62" fmla="*/ 50 w 81"/>
                  <a:gd name="T63" fmla="*/ 88 h 245"/>
                  <a:gd name="T64" fmla="*/ 54 w 81"/>
                  <a:gd name="T65" fmla="*/ 105 h 245"/>
                  <a:gd name="T66" fmla="*/ 54 w 81"/>
                  <a:gd name="T67" fmla="*/ 123 h 245"/>
                  <a:gd name="T68" fmla="*/ 54 w 81"/>
                  <a:gd name="T69" fmla="*/ 123 h 245"/>
                  <a:gd name="T70" fmla="*/ 54 w 81"/>
                  <a:gd name="T71" fmla="*/ 139 h 245"/>
                  <a:gd name="T72" fmla="*/ 51 w 81"/>
                  <a:gd name="T73" fmla="*/ 156 h 245"/>
                  <a:gd name="T74" fmla="*/ 46 w 81"/>
                  <a:gd name="T75" fmla="*/ 172 h 245"/>
                  <a:gd name="T76" fmla="*/ 40 w 81"/>
                  <a:gd name="T77" fmla="*/ 189 h 245"/>
                  <a:gd name="T78" fmla="*/ 32 w 81"/>
                  <a:gd name="T79" fmla="*/ 204 h 245"/>
                  <a:gd name="T80" fmla="*/ 23 w 81"/>
                  <a:gd name="T81" fmla="*/ 218 h 245"/>
                  <a:gd name="T82" fmla="*/ 12 w 81"/>
                  <a:gd name="T83" fmla="*/ 232 h 245"/>
                  <a:gd name="T84" fmla="*/ 1 w 81"/>
                  <a:gd name="T85"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1" h="245">
                    <a:moveTo>
                      <a:pt x="1" y="245"/>
                    </a:moveTo>
                    <a:lnTo>
                      <a:pt x="1" y="245"/>
                    </a:lnTo>
                    <a:lnTo>
                      <a:pt x="16" y="238"/>
                    </a:lnTo>
                    <a:lnTo>
                      <a:pt x="31" y="227"/>
                    </a:lnTo>
                    <a:lnTo>
                      <a:pt x="43" y="216"/>
                    </a:lnTo>
                    <a:lnTo>
                      <a:pt x="56" y="200"/>
                    </a:lnTo>
                    <a:lnTo>
                      <a:pt x="67" y="183"/>
                    </a:lnTo>
                    <a:lnTo>
                      <a:pt x="71" y="174"/>
                    </a:lnTo>
                    <a:lnTo>
                      <a:pt x="74" y="164"/>
                    </a:lnTo>
                    <a:lnTo>
                      <a:pt x="77" y="155"/>
                    </a:lnTo>
                    <a:lnTo>
                      <a:pt x="80" y="145"/>
                    </a:lnTo>
                    <a:lnTo>
                      <a:pt x="81" y="133"/>
                    </a:lnTo>
                    <a:lnTo>
                      <a:pt x="81" y="123"/>
                    </a:lnTo>
                    <a:lnTo>
                      <a:pt x="81" y="123"/>
                    </a:lnTo>
                    <a:lnTo>
                      <a:pt x="81" y="111"/>
                    </a:lnTo>
                    <a:lnTo>
                      <a:pt x="80" y="101"/>
                    </a:lnTo>
                    <a:lnTo>
                      <a:pt x="77" y="89"/>
                    </a:lnTo>
                    <a:lnTo>
                      <a:pt x="74" y="80"/>
                    </a:lnTo>
                    <a:lnTo>
                      <a:pt x="71" y="70"/>
                    </a:lnTo>
                    <a:lnTo>
                      <a:pt x="67" y="61"/>
                    </a:lnTo>
                    <a:lnTo>
                      <a:pt x="56" y="44"/>
                    </a:lnTo>
                    <a:lnTo>
                      <a:pt x="43" y="30"/>
                    </a:lnTo>
                    <a:lnTo>
                      <a:pt x="29" y="17"/>
                    </a:lnTo>
                    <a:lnTo>
                      <a:pt x="15" y="6"/>
                    </a:lnTo>
                    <a:lnTo>
                      <a:pt x="0" y="0"/>
                    </a:lnTo>
                    <a:lnTo>
                      <a:pt x="0" y="0"/>
                    </a:lnTo>
                    <a:lnTo>
                      <a:pt x="11" y="13"/>
                    </a:lnTo>
                    <a:lnTo>
                      <a:pt x="23" y="26"/>
                    </a:lnTo>
                    <a:lnTo>
                      <a:pt x="32" y="41"/>
                    </a:lnTo>
                    <a:lnTo>
                      <a:pt x="40" y="56"/>
                    </a:lnTo>
                    <a:lnTo>
                      <a:pt x="46" y="72"/>
                    </a:lnTo>
                    <a:lnTo>
                      <a:pt x="50" y="88"/>
                    </a:lnTo>
                    <a:lnTo>
                      <a:pt x="54" y="105"/>
                    </a:lnTo>
                    <a:lnTo>
                      <a:pt x="54" y="123"/>
                    </a:lnTo>
                    <a:lnTo>
                      <a:pt x="54" y="123"/>
                    </a:lnTo>
                    <a:lnTo>
                      <a:pt x="54" y="139"/>
                    </a:lnTo>
                    <a:lnTo>
                      <a:pt x="51" y="156"/>
                    </a:lnTo>
                    <a:lnTo>
                      <a:pt x="46" y="172"/>
                    </a:lnTo>
                    <a:lnTo>
                      <a:pt x="40" y="189"/>
                    </a:lnTo>
                    <a:lnTo>
                      <a:pt x="32" y="204"/>
                    </a:lnTo>
                    <a:lnTo>
                      <a:pt x="23" y="218"/>
                    </a:lnTo>
                    <a:lnTo>
                      <a:pt x="12" y="232"/>
                    </a:lnTo>
                    <a:lnTo>
                      <a:pt x="1" y="245"/>
                    </a:lnTo>
                  </a:path>
                </a:pathLst>
              </a:custGeom>
              <a:grpFill/>
              <a:ln w="9525" cap="flat" cmpd="sng" algn="ctr">
                <a:noFill/>
                <a:prstDash val="solid"/>
                <a:headEnd type="none" w="med" len="med"/>
                <a:tailEnd type="none" w="med" len="med"/>
              </a:ln>
              <a:effectLst/>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rot="0" spcFirstLastPara="0" vert="horz" wrap="square" lIns="91379" tIns="45690" rIns="45690" bIns="91379"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480" fontAlgn="base">
                  <a:spcBef>
                    <a:spcPct val="0"/>
                  </a:spcBef>
                  <a:spcAft>
                    <a:spcPct val="0"/>
                  </a:spcAft>
                  <a:defRPr/>
                </a:pPr>
                <a:endParaRPr lang="en-US" sz="1998" kern="0" spc="-100">
                  <a:ln w="3175">
                    <a:noFill/>
                  </a:ln>
                  <a:gradFill flip="none" rotWithShape="1">
                    <a:gsLst>
                      <a:gs pos="0">
                        <a:srgbClr val="000000">
                          <a:lumMod val="65000"/>
                          <a:lumOff val="35000"/>
                        </a:srgbClr>
                      </a:gs>
                      <a:gs pos="86000">
                        <a:srgbClr val="000000">
                          <a:lumMod val="65000"/>
                          <a:lumOff val="35000"/>
                        </a:srgbClr>
                      </a:gs>
                    </a:gsLst>
                    <a:lin ang="5400000" scaled="0"/>
                    <a:tileRect/>
                  </a:gradFill>
                  <a:cs typeface="Arial" charset="0"/>
                </a:endParaRPr>
              </a:p>
            </p:txBody>
          </p:sp>
          <p:sp>
            <p:nvSpPr>
              <p:cNvPr id="69" name="Freeform 79">
                <a:extLst>
                  <a:ext uri="{FF2B5EF4-FFF2-40B4-BE49-F238E27FC236}">
                    <a16:creationId xmlns:a16="http://schemas.microsoft.com/office/drawing/2014/main" id="{7CA27AAA-9B0D-428F-B939-0F45368F2C76}"/>
                  </a:ext>
                </a:extLst>
              </p:cNvPr>
              <p:cNvSpPr>
                <a:spLocks/>
              </p:cNvSpPr>
              <p:nvPr/>
            </p:nvSpPr>
            <p:spPr bwMode="auto">
              <a:xfrm>
                <a:off x="2729586" y="3149601"/>
                <a:ext cx="39251" cy="132564"/>
              </a:xfrm>
              <a:custGeom>
                <a:avLst/>
                <a:gdLst>
                  <a:gd name="T0" fmla="*/ 0 w 106"/>
                  <a:gd name="T1" fmla="*/ 0 h 358"/>
                  <a:gd name="T2" fmla="*/ 0 w 106"/>
                  <a:gd name="T3" fmla="*/ 0 h 358"/>
                  <a:gd name="T4" fmla="*/ 17 w 106"/>
                  <a:gd name="T5" fmla="*/ 18 h 358"/>
                  <a:gd name="T6" fmla="*/ 31 w 106"/>
                  <a:gd name="T7" fmla="*/ 38 h 358"/>
                  <a:gd name="T8" fmla="*/ 44 w 106"/>
                  <a:gd name="T9" fmla="*/ 60 h 358"/>
                  <a:gd name="T10" fmla="*/ 55 w 106"/>
                  <a:gd name="T11" fmla="*/ 82 h 358"/>
                  <a:gd name="T12" fmla="*/ 64 w 106"/>
                  <a:gd name="T13" fmla="*/ 106 h 358"/>
                  <a:gd name="T14" fmla="*/ 70 w 106"/>
                  <a:gd name="T15" fmla="*/ 129 h 358"/>
                  <a:gd name="T16" fmla="*/ 74 w 106"/>
                  <a:gd name="T17" fmla="*/ 154 h 358"/>
                  <a:gd name="T18" fmla="*/ 75 w 106"/>
                  <a:gd name="T19" fmla="*/ 180 h 358"/>
                  <a:gd name="T20" fmla="*/ 75 w 106"/>
                  <a:gd name="T21" fmla="*/ 180 h 358"/>
                  <a:gd name="T22" fmla="*/ 74 w 106"/>
                  <a:gd name="T23" fmla="*/ 204 h 358"/>
                  <a:gd name="T24" fmla="*/ 70 w 106"/>
                  <a:gd name="T25" fmla="*/ 229 h 358"/>
                  <a:gd name="T26" fmla="*/ 64 w 106"/>
                  <a:gd name="T27" fmla="*/ 252 h 358"/>
                  <a:gd name="T28" fmla="*/ 56 w 106"/>
                  <a:gd name="T29" fmla="*/ 277 h 358"/>
                  <a:gd name="T30" fmla="*/ 46 w 106"/>
                  <a:gd name="T31" fmla="*/ 298 h 358"/>
                  <a:gd name="T32" fmla="*/ 33 w 106"/>
                  <a:gd name="T33" fmla="*/ 319 h 358"/>
                  <a:gd name="T34" fmla="*/ 19 w 106"/>
                  <a:gd name="T35" fmla="*/ 340 h 358"/>
                  <a:gd name="T36" fmla="*/ 2 w 106"/>
                  <a:gd name="T37" fmla="*/ 358 h 358"/>
                  <a:gd name="T38" fmla="*/ 2 w 106"/>
                  <a:gd name="T39" fmla="*/ 358 h 358"/>
                  <a:gd name="T40" fmla="*/ 12 w 106"/>
                  <a:gd name="T41" fmla="*/ 353 h 358"/>
                  <a:gd name="T42" fmla="*/ 21 w 106"/>
                  <a:gd name="T43" fmla="*/ 346 h 358"/>
                  <a:gd name="T44" fmla="*/ 31 w 106"/>
                  <a:gd name="T45" fmla="*/ 340 h 358"/>
                  <a:gd name="T46" fmla="*/ 40 w 106"/>
                  <a:gd name="T47" fmla="*/ 331 h 358"/>
                  <a:gd name="T48" fmla="*/ 50 w 106"/>
                  <a:gd name="T49" fmla="*/ 322 h 358"/>
                  <a:gd name="T50" fmla="*/ 59 w 106"/>
                  <a:gd name="T51" fmla="*/ 313 h 358"/>
                  <a:gd name="T52" fmla="*/ 66 w 106"/>
                  <a:gd name="T53" fmla="*/ 301 h 358"/>
                  <a:gd name="T54" fmla="*/ 74 w 106"/>
                  <a:gd name="T55" fmla="*/ 291 h 358"/>
                  <a:gd name="T56" fmla="*/ 82 w 106"/>
                  <a:gd name="T57" fmla="*/ 278 h 358"/>
                  <a:gd name="T58" fmla="*/ 87 w 106"/>
                  <a:gd name="T59" fmla="*/ 265 h 358"/>
                  <a:gd name="T60" fmla="*/ 93 w 106"/>
                  <a:gd name="T61" fmla="*/ 252 h 358"/>
                  <a:gd name="T62" fmla="*/ 97 w 106"/>
                  <a:gd name="T63" fmla="*/ 239 h 358"/>
                  <a:gd name="T64" fmla="*/ 101 w 106"/>
                  <a:gd name="T65" fmla="*/ 224 h 358"/>
                  <a:gd name="T66" fmla="*/ 104 w 106"/>
                  <a:gd name="T67" fmla="*/ 209 h 358"/>
                  <a:gd name="T68" fmla="*/ 105 w 106"/>
                  <a:gd name="T69" fmla="*/ 194 h 358"/>
                  <a:gd name="T70" fmla="*/ 106 w 106"/>
                  <a:gd name="T71" fmla="*/ 178 h 358"/>
                  <a:gd name="T72" fmla="*/ 106 w 106"/>
                  <a:gd name="T73" fmla="*/ 178 h 358"/>
                  <a:gd name="T74" fmla="*/ 105 w 106"/>
                  <a:gd name="T75" fmla="*/ 163 h 358"/>
                  <a:gd name="T76" fmla="*/ 104 w 106"/>
                  <a:gd name="T77" fmla="*/ 149 h 358"/>
                  <a:gd name="T78" fmla="*/ 101 w 106"/>
                  <a:gd name="T79" fmla="*/ 133 h 358"/>
                  <a:gd name="T80" fmla="*/ 97 w 106"/>
                  <a:gd name="T81" fmla="*/ 119 h 358"/>
                  <a:gd name="T82" fmla="*/ 92 w 106"/>
                  <a:gd name="T83" fmla="*/ 106 h 358"/>
                  <a:gd name="T84" fmla="*/ 87 w 106"/>
                  <a:gd name="T85" fmla="*/ 92 h 358"/>
                  <a:gd name="T86" fmla="*/ 81 w 106"/>
                  <a:gd name="T87" fmla="*/ 80 h 358"/>
                  <a:gd name="T88" fmla="*/ 74 w 106"/>
                  <a:gd name="T89" fmla="*/ 67 h 358"/>
                  <a:gd name="T90" fmla="*/ 66 w 106"/>
                  <a:gd name="T91" fmla="*/ 56 h 358"/>
                  <a:gd name="T92" fmla="*/ 57 w 106"/>
                  <a:gd name="T93" fmla="*/ 45 h 358"/>
                  <a:gd name="T94" fmla="*/ 50 w 106"/>
                  <a:gd name="T95" fmla="*/ 36 h 358"/>
                  <a:gd name="T96" fmla="*/ 40 w 106"/>
                  <a:gd name="T97" fmla="*/ 27 h 358"/>
                  <a:gd name="T98" fmla="*/ 30 w 106"/>
                  <a:gd name="T99" fmla="*/ 18 h 358"/>
                  <a:gd name="T100" fmla="*/ 20 w 106"/>
                  <a:gd name="T101" fmla="*/ 12 h 358"/>
                  <a:gd name="T102" fmla="*/ 11 w 106"/>
                  <a:gd name="T103" fmla="*/ 5 h 358"/>
                  <a:gd name="T104" fmla="*/ 0 w 106"/>
                  <a:gd name="T105" fmla="*/ 0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6" h="358">
                    <a:moveTo>
                      <a:pt x="0" y="0"/>
                    </a:moveTo>
                    <a:lnTo>
                      <a:pt x="0" y="0"/>
                    </a:lnTo>
                    <a:lnTo>
                      <a:pt x="17" y="18"/>
                    </a:lnTo>
                    <a:lnTo>
                      <a:pt x="31" y="38"/>
                    </a:lnTo>
                    <a:lnTo>
                      <a:pt x="44" y="60"/>
                    </a:lnTo>
                    <a:lnTo>
                      <a:pt x="55" y="82"/>
                    </a:lnTo>
                    <a:lnTo>
                      <a:pt x="64" y="106"/>
                    </a:lnTo>
                    <a:lnTo>
                      <a:pt x="70" y="129"/>
                    </a:lnTo>
                    <a:lnTo>
                      <a:pt x="74" y="154"/>
                    </a:lnTo>
                    <a:lnTo>
                      <a:pt x="75" y="180"/>
                    </a:lnTo>
                    <a:lnTo>
                      <a:pt x="75" y="180"/>
                    </a:lnTo>
                    <a:lnTo>
                      <a:pt x="74" y="204"/>
                    </a:lnTo>
                    <a:lnTo>
                      <a:pt x="70" y="229"/>
                    </a:lnTo>
                    <a:lnTo>
                      <a:pt x="64" y="252"/>
                    </a:lnTo>
                    <a:lnTo>
                      <a:pt x="56" y="277"/>
                    </a:lnTo>
                    <a:lnTo>
                      <a:pt x="46" y="298"/>
                    </a:lnTo>
                    <a:lnTo>
                      <a:pt x="33" y="319"/>
                    </a:lnTo>
                    <a:lnTo>
                      <a:pt x="19" y="340"/>
                    </a:lnTo>
                    <a:lnTo>
                      <a:pt x="2" y="358"/>
                    </a:lnTo>
                    <a:lnTo>
                      <a:pt x="2" y="358"/>
                    </a:lnTo>
                    <a:lnTo>
                      <a:pt x="12" y="353"/>
                    </a:lnTo>
                    <a:lnTo>
                      <a:pt x="21" y="346"/>
                    </a:lnTo>
                    <a:lnTo>
                      <a:pt x="31" y="340"/>
                    </a:lnTo>
                    <a:lnTo>
                      <a:pt x="40" y="331"/>
                    </a:lnTo>
                    <a:lnTo>
                      <a:pt x="50" y="322"/>
                    </a:lnTo>
                    <a:lnTo>
                      <a:pt x="59" y="313"/>
                    </a:lnTo>
                    <a:lnTo>
                      <a:pt x="66" y="301"/>
                    </a:lnTo>
                    <a:lnTo>
                      <a:pt x="74" y="291"/>
                    </a:lnTo>
                    <a:lnTo>
                      <a:pt x="82" y="278"/>
                    </a:lnTo>
                    <a:lnTo>
                      <a:pt x="87" y="265"/>
                    </a:lnTo>
                    <a:lnTo>
                      <a:pt x="93" y="252"/>
                    </a:lnTo>
                    <a:lnTo>
                      <a:pt x="97" y="239"/>
                    </a:lnTo>
                    <a:lnTo>
                      <a:pt x="101" y="224"/>
                    </a:lnTo>
                    <a:lnTo>
                      <a:pt x="104" y="209"/>
                    </a:lnTo>
                    <a:lnTo>
                      <a:pt x="105" y="194"/>
                    </a:lnTo>
                    <a:lnTo>
                      <a:pt x="106" y="178"/>
                    </a:lnTo>
                    <a:lnTo>
                      <a:pt x="106" y="178"/>
                    </a:lnTo>
                    <a:lnTo>
                      <a:pt x="105" y="163"/>
                    </a:lnTo>
                    <a:lnTo>
                      <a:pt x="104" y="149"/>
                    </a:lnTo>
                    <a:lnTo>
                      <a:pt x="101" y="133"/>
                    </a:lnTo>
                    <a:lnTo>
                      <a:pt x="97" y="119"/>
                    </a:lnTo>
                    <a:lnTo>
                      <a:pt x="92" y="106"/>
                    </a:lnTo>
                    <a:lnTo>
                      <a:pt x="87" y="92"/>
                    </a:lnTo>
                    <a:lnTo>
                      <a:pt x="81" y="80"/>
                    </a:lnTo>
                    <a:lnTo>
                      <a:pt x="74" y="67"/>
                    </a:lnTo>
                    <a:lnTo>
                      <a:pt x="66" y="56"/>
                    </a:lnTo>
                    <a:lnTo>
                      <a:pt x="57" y="45"/>
                    </a:lnTo>
                    <a:lnTo>
                      <a:pt x="50" y="36"/>
                    </a:lnTo>
                    <a:lnTo>
                      <a:pt x="40" y="27"/>
                    </a:lnTo>
                    <a:lnTo>
                      <a:pt x="30" y="18"/>
                    </a:lnTo>
                    <a:lnTo>
                      <a:pt x="20" y="12"/>
                    </a:lnTo>
                    <a:lnTo>
                      <a:pt x="11" y="5"/>
                    </a:lnTo>
                    <a:lnTo>
                      <a:pt x="0" y="0"/>
                    </a:lnTo>
                    <a:close/>
                  </a:path>
                </a:pathLst>
              </a:custGeom>
              <a:grpFill/>
              <a:ln w="9525" cap="flat" cmpd="sng" algn="ctr">
                <a:noFill/>
                <a:prstDash val="solid"/>
                <a:headEnd type="none" w="med" len="med"/>
                <a:tailEnd type="none" w="med" len="med"/>
              </a:ln>
              <a:effectLst/>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rot="0" spcFirstLastPara="0" vert="horz" wrap="square" lIns="91379" tIns="45690" rIns="45690" bIns="91379"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480" fontAlgn="base">
                  <a:spcBef>
                    <a:spcPct val="0"/>
                  </a:spcBef>
                  <a:spcAft>
                    <a:spcPct val="0"/>
                  </a:spcAft>
                  <a:defRPr/>
                </a:pPr>
                <a:endParaRPr lang="en-US" sz="1998" kern="0" spc="-100">
                  <a:ln w="3175">
                    <a:noFill/>
                  </a:ln>
                  <a:gradFill flip="none" rotWithShape="1">
                    <a:gsLst>
                      <a:gs pos="0">
                        <a:srgbClr val="000000">
                          <a:lumMod val="65000"/>
                          <a:lumOff val="35000"/>
                        </a:srgbClr>
                      </a:gs>
                      <a:gs pos="86000">
                        <a:srgbClr val="000000">
                          <a:lumMod val="65000"/>
                          <a:lumOff val="35000"/>
                        </a:srgbClr>
                      </a:gs>
                    </a:gsLst>
                    <a:lin ang="5400000" scaled="0"/>
                    <a:tileRect/>
                  </a:gradFill>
                  <a:cs typeface="Arial" charset="0"/>
                </a:endParaRPr>
              </a:p>
            </p:txBody>
          </p:sp>
          <p:sp>
            <p:nvSpPr>
              <p:cNvPr id="70" name="Freeform 80">
                <a:extLst>
                  <a:ext uri="{FF2B5EF4-FFF2-40B4-BE49-F238E27FC236}">
                    <a16:creationId xmlns:a16="http://schemas.microsoft.com/office/drawing/2014/main" id="{9024DEDF-D35F-4E94-94AF-6D966D34BCB5}"/>
                  </a:ext>
                </a:extLst>
              </p:cNvPr>
              <p:cNvSpPr>
                <a:spLocks/>
              </p:cNvSpPr>
              <p:nvPr/>
            </p:nvSpPr>
            <p:spPr bwMode="auto">
              <a:xfrm>
                <a:off x="2729586" y="3149601"/>
                <a:ext cx="39251" cy="132564"/>
              </a:xfrm>
              <a:custGeom>
                <a:avLst/>
                <a:gdLst>
                  <a:gd name="T0" fmla="*/ 0 w 106"/>
                  <a:gd name="T1" fmla="*/ 0 h 358"/>
                  <a:gd name="T2" fmla="*/ 0 w 106"/>
                  <a:gd name="T3" fmla="*/ 0 h 358"/>
                  <a:gd name="T4" fmla="*/ 17 w 106"/>
                  <a:gd name="T5" fmla="*/ 18 h 358"/>
                  <a:gd name="T6" fmla="*/ 31 w 106"/>
                  <a:gd name="T7" fmla="*/ 38 h 358"/>
                  <a:gd name="T8" fmla="*/ 44 w 106"/>
                  <a:gd name="T9" fmla="*/ 60 h 358"/>
                  <a:gd name="T10" fmla="*/ 55 w 106"/>
                  <a:gd name="T11" fmla="*/ 82 h 358"/>
                  <a:gd name="T12" fmla="*/ 64 w 106"/>
                  <a:gd name="T13" fmla="*/ 106 h 358"/>
                  <a:gd name="T14" fmla="*/ 70 w 106"/>
                  <a:gd name="T15" fmla="*/ 129 h 358"/>
                  <a:gd name="T16" fmla="*/ 74 w 106"/>
                  <a:gd name="T17" fmla="*/ 154 h 358"/>
                  <a:gd name="T18" fmla="*/ 75 w 106"/>
                  <a:gd name="T19" fmla="*/ 180 h 358"/>
                  <a:gd name="T20" fmla="*/ 75 w 106"/>
                  <a:gd name="T21" fmla="*/ 180 h 358"/>
                  <a:gd name="T22" fmla="*/ 74 w 106"/>
                  <a:gd name="T23" fmla="*/ 204 h 358"/>
                  <a:gd name="T24" fmla="*/ 70 w 106"/>
                  <a:gd name="T25" fmla="*/ 229 h 358"/>
                  <a:gd name="T26" fmla="*/ 64 w 106"/>
                  <a:gd name="T27" fmla="*/ 252 h 358"/>
                  <a:gd name="T28" fmla="*/ 56 w 106"/>
                  <a:gd name="T29" fmla="*/ 277 h 358"/>
                  <a:gd name="T30" fmla="*/ 46 w 106"/>
                  <a:gd name="T31" fmla="*/ 298 h 358"/>
                  <a:gd name="T32" fmla="*/ 33 w 106"/>
                  <a:gd name="T33" fmla="*/ 319 h 358"/>
                  <a:gd name="T34" fmla="*/ 19 w 106"/>
                  <a:gd name="T35" fmla="*/ 340 h 358"/>
                  <a:gd name="T36" fmla="*/ 2 w 106"/>
                  <a:gd name="T37" fmla="*/ 358 h 358"/>
                  <a:gd name="T38" fmla="*/ 2 w 106"/>
                  <a:gd name="T39" fmla="*/ 358 h 358"/>
                  <a:gd name="T40" fmla="*/ 12 w 106"/>
                  <a:gd name="T41" fmla="*/ 353 h 358"/>
                  <a:gd name="T42" fmla="*/ 21 w 106"/>
                  <a:gd name="T43" fmla="*/ 346 h 358"/>
                  <a:gd name="T44" fmla="*/ 31 w 106"/>
                  <a:gd name="T45" fmla="*/ 340 h 358"/>
                  <a:gd name="T46" fmla="*/ 40 w 106"/>
                  <a:gd name="T47" fmla="*/ 331 h 358"/>
                  <a:gd name="T48" fmla="*/ 50 w 106"/>
                  <a:gd name="T49" fmla="*/ 322 h 358"/>
                  <a:gd name="T50" fmla="*/ 59 w 106"/>
                  <a:gd name="T51" fmla="*/ 313 h 358"/>
                  <a:gd name="T52" fmla="*/ 66 w 106"/>
                  <a:gd name="T53" fmla="*/ 301 h 358"/>
                  <a:gd name="T54" fmla="*/ 74 w 106"/>
                  <a:gd name="T55" fmla="*/ 291 h 358"/>
                  <a:gd name="T56" fmla="*/ 82 w 106"/>
                  <a:gd name="T57" fmla="*/ 278 h 358"/>
                  <a:gd name="T58" fmla="*/ 87 w 106"/>
                  <a:gd name="T59" fmla="*/ 265 h 358"/>
                  <a:gd name="T60" fmla="*/ 93 w 106"/>
                  <a:gd name="T61" fmla="*/ 252 h 358"/>
                  <a:gd name="T62" fmla="*/ 97 w 106"/>
                  <a:gd name="T63" fmla="*/ 239 h 358"/>
                  <a:gd name="T64" fmla="*/ 101 w 106"/>
                  <a:gd name="T65" fmla="*/ 224 h 358"/>
                  <a:gd name="T66" fmla="*/ 104 w 106"/>
                  <a:gd name="T67" fmla="*/ 209 h 358"/>
                  <a:gd name="T68" fmla="*/ 105 w 106"/>
                  <a:gd name="T69" fmla="*/ 194 h 358"/>
                  <a:gd name="T70" fmla="*/ 106 w 106"/>
                  <a:gd name="T71" fmla="*/ 178 h 358"/>
                  <a:gd name="T72" fmla="*/ 106 w 106"/>
                  <a:gd name="T73" fmla="*/ 178 h 358"/>
                  <a:gd name="T74" fmla="*/ 105 w 106"/>
                  <a:gd name="T75" fmla="*/ 163 h 358"/>
                  <a:gd name="T76" fmla="*/ 104 w 106"/>
                  <a:gd name="T77" fmla="*/ 149 h 358"/>
                  <a:gd name="T78" fmla="*/ 101 w 106"/>
                  <a:gd name="T79" fmla="*/ 133 h 358"/>
                  <a:gd name="T80" fmla="*/ 97 w 106"/>
                  <a:gd name="T81" fmla="*/ 119 h 358"/>
                  <a:gd name="T82" fmla="*/ 92 w 106"/>
                  <a:gd name="T83" fmla="*/ 106 h 358"/>
                  <a:gd name="T84" fmla="*/ 87 w 106"/>
                  <a:gd name="T85" fmla="*/ 92 h 358"/>
                  <a:gd name="T86" fmla="*/ 81 w 106"/>
                  <a:gd name="T87" fmla="*/ 80 h 358"/>
                  <a:gd name="T88" fmla="*/ 74 w 106"/>
                  <a:gd name="T89" fmla="*/ 67 h 358"/>
                  <a:gd name="T90" fmla="*/ 66 w 106"/>
                  <a:gd name="T91" fmla="*/ 56 h 358"/>
                  <a:gd name="T92" fmla="*/ 57 w 106"/>
                  <a:gd name="T93" fmla="*/ 45 h 358"/>
                  <a:gd name="T94" fmla="*/ 50 w 106"/>
                  <a:gd name="T95" fmla="*/ 36 h 358"/>
                  <a:gd name="T96" fmla="*/ 40 w 106"/>
                  <a:gd name="T97" fmla="*/ 27 h 358"/>
                  <a:gd name="T98" fmla="*/ 30 w 106"/>
                  <a:gd name="T99" fmla="*/ 18 h 358"/>
                  <a:gd name="T100" fmla="*/ 20 w 106"/>
                  <a:gd name="T101" fmla="*/ 12 h 358"/>
                  <a:gd name="T102" fmla="*/ 11 w 106"/>
                  <a:gd name="T103" fmla="*/ 5 h 358"/>
                  <a:gd name="T104" fmla="*/ 0 w 106"/>
                  <a:gd name="T105" fmla="*/ 0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6" h="358">
                    <a:moveTo>
                      <a:pt x="0" y="0"/>
                    </a:moveTo>
                    <a:lnTo>
                      <a:pt x="0" y="0"/>
                    </a:lnTo>
                    <a:lnTo>
                      <a:pt x="17" y="18"/>
                    </a:lnTo>
                    <a:lnTo>
                      <a:pt x="31" y="38"/>
                    </a:lnTo>
                    <a:lnTo>
                      <a:pt x="44" y="60"/>
                    </a:lnTo>
                    <a:lnTo>
                      <a:pt x="55" y="82"/>
                    </a:lnTo>
                    <a:lnTo>
                      <a:pt x="64" y="106"/>
                    </a:lnTo>
                    <a:lnTo>
                      <a:pt x="70" y="129"/>
                    </a:lnTo>
                    <a:lnTo>
                      <a:pt x="74" y="154"/>
                    </a:lnTo>
                    <a:lnTo>
                      <a:pt x="75" y="180"/>
                    </a:lnTo>
                    <a:lnTo>
                      <a:pt x="75" y="180"/>
                    </a:lnTo>
                    <a:lnTo>
                      <a:pt x="74" y="204"/>
                    </a:lnTo>
                    <a:lnTo>
                      <a:pt x="70" y="229"/>
                    </a:lnTo>
                    <a:lnTo>
                      <a:pt x="64" y="252"/>
                    </a:lnTo>
                    <a:lnTo>
                      <a:pt x="56" y="277"/>
                    </a:lnTo>
                    <a:lnTo>
                      <a:pt x="46" y="298"/>
                    </a:lnTo>
                    <a:lnTo>
                      <a:pt x="33" y="319"/>
                    </a:lnTo>
                    <a:lnTo>
                      <a:pt x="19" y="340"/>
                    </a:lnTo>
                    <a:lnTo>
                      <a:pt x="2" y="358"/>
                    </a:lnTo>
                    <a:lnTo>
                      <a:pt x="2" y="358"/>
                    </a:lnTo>
                    <a:lnTo>
                      <a:pt x="12" y="353"/>
                    </a:lnTo>
                    <a:lnTo>
                      <a:pt x="21" y="346"/>
                    </a:lnTo>
                    <a:lnTo>
                      <a:pt x="31" y="340"/>
                    </a:lnTo>
                    <a:lnTo>
                      <a:pt x="40" y="331"/>
                    </a:lnTo>
                    <a:lnTo>
                      <a:pt x="50" y="322"/>
                    </a:lnTo>
                    <a:lnTo>
                      <a:pt x="59" y="313"/>
                    </a:lnTo>
                    <a:lnTo>
                      <a:pt x="66" y="301"/>
                    </a:lnTo>
                    <a:lnTo>
                      <a:pt x="74" y="291"/>
                    </a:lnTo>
                    <a:lnTo>
                      <a:pt x="82" y="278"/>
                    </a:lnTo>
                    <a:lnTo>
                      <a:pt x="87" y="265"/>
                    </a:lnTo>
                    <a:lnTo>
                      <a:pt x="93" y="252"/>
                    </a:lnTo>
                    <a:lnTo>
                      <a:pt x="97" y="239"/>
                    </a:lnTo>
                    <a:lnTo>
                      <a:pt x="101" y="224"/>
                    </a:lnTo>
                    <a:lnTo>
                      <a:pt x="104" y="209"/>
                    </a:lnTo>
                    <a:lnTo>
                      <a:pt x="105" y="194"/>
                    </a:lnTo>
                    <a:lnTo>
                      <a:pt x="106" y="178"/>
                    </a:lnTo>
                    <a:lnTo>
                      <a:pt x="106" y="178"/>
                    </a:lnTo>
                    <a:lnTo>
                      <a:pt x="105" y="163"/>
                    </a:lnTo>
                    <a:lnTo>
                      <a:pt x="104" y="149"/>
                    </a:lnTo>
                    <a:lnTo>
                      <a:pt x="101" y="133"/>
                    </a:lnTo>
                    <a:lnTo>
                      <a:pt x="97" y="119"/>
                    </a:lnTo>
                    <a:lnTo>
                      <a:pt x="92" y="106"/>
                    </a:lnTo>
                    <a:lnTo>
                      <a:pt x="87" y="92"/>
                    </a:lnTo>
                    <a:lnTo>
                      <a:pt x="81" y="80"/>
                    </a:lnTo>
                    <a:lnTo>
                      <a:pt x="74" y="67"/>
                    </a:lnTo>
                    <a:lnTo>
                      <a:pt x="66" y="56"/>
                    </a:lnTo>
                    <a:lnTo>
                      <a:pt x="57" y="45"/>
                    </a:lnTo>
                    <a:lnTo>
                      <a:pt x="50" y="36"/>
                    </a:lnTo>
                    <a:lnTo>
                      <a:pt x="40" y="27"/>
                    </a:lnTo>
                    <a:lnTo>
                      <a:pt x="30" y="18"/>
                    </a:lnTo>
                    <a:lnTo>
                      <a:pt x="20" y="12"/>
                    </a:lnTo>
                    <a:lnTo>
                      <a:pt x="11" y="5"/>
                    </a:lnTo>
                    <a:lnTo>
                      <a:pt x="0" y="0"/>
                    </a:lnTo>
                  </a:path>
                </a:pathLst>
              </a:custGeom>
              <a:grpFill/>
              <a:ln w="9525" cap="flat" cmpd="sng" algn="ctr">
                <a:noFill/>
                <a:prstDash val="solid"/>
                <a:headEnd type="none" w="med" len="med"/>
                <a:tailEnd type="none" w="med" len="med"/>
              </a:ln>
              <a:effectLst/>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rot="0" spcFirstLastPara="0" vert="horz" wrap="square" lIns="91379" tIns="45690" rIns="45690" bIns="91379"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480" fontAlgn="base">
                  <a:spcBef>
                    <a:spcPct val="0"/>
                  </a:spcBef>
                  <a:spcAft>
                    <a:spcPct val="0"/>
                  </a:spcAft>
                  <a:defRPr/>
                </a:pPr>
                <a:endParaRPr lang="en-US" sz="1998" kern="0" spc="-100">
                  <a:ln w="3175">
                    <a:noFill/>
                  </a:ln>
                  <a:gradFill flip="none" rotWithShape="1">
                    <a:gsLst>
                      <a:gs pos="0">
                        <a:srgbClr val="000000">
                          <a:lumMod val="65000"/>
                          <a:lumOff val="35000"/>
                        </a:srgbClr>
                      </a:gs>
                      <a:gs pos="86000">
                        <a:srgbClr val="000000">
                          <a:lumMod val="65000"/>
                          <a:lumOff val="35000"/>
                        </a:srgbClr>
                      </a:gs>
                    </a:gsLst>
                    <a:lin ang="5400000" scaled="0"/>
                    <a:tileRect/>
                  </a:gradFill>
                  <a:cs typeface="Arial" charset="0"/>
                </a:endParaRPr>
              </a:p>
            </p:txBody>
          </p:sp>
        </p:grpSp>
      </p:grpSp>
      <p:sp>
        <p:nvSpPr>
          <p:cNvPr id="57" name="Man's Body">
            <a:extLst>
              <a:ext uri="{FF2B5EF4-FFF2-40B4-BE49-F238E27FC236}">
                <a16:creationId xmlns:a16="http://schemas.microsoft.com/office/drawing/2014/main" id="{BB4851D7-1201-4535-B9D0-FF192AE08747}"/>
              </a:ext>
            </a:extLst>
          </p:cNvPr>
          <p:cNvSpPr>
            <a:spLocks noChangeAspect="1"/>
          </p:cNvSpPr>
          <p:nvPr/>
        </p:nvSpPr>
        <p:spPr bwMode="auto">
          <a:xfrm flipH="1">
            <a:off x="2880132" y="1442832"/>
            <a:ext cx="269722" cy="343657"/>
          </a:xfrm>
          <a:custGeom>
            <a:avLst/>
            <a:gdLst>
              <a:gd name="connsiteX0" fmla="*/ 452684 w 673603"/>
              <a:gd name="connsiteY0" fmla="*/ 499119 h 858249"/>
              <a:gd name="connsiteX1" fmla="*/ 364244 w 673603"/>
              <a:gd name="connsiteY1" fmla="*/ 552651 h 858249"/>
              <a:gd name="connsiteX2" fmla="*/ 310399 w 673603"/>
              <a:gd name="connsiteY2" fmla="*/ 763544 h 858249"/>
              <a:gd name="connsiteX3" fmla="*/ 343737 w 673603"/>
              <a:gd name="connsiteY3" fmla="*/ 794501 h 858249"/>
              <a:gd name="connsiteX4" fmla="*/ 367549 w 673603"/>
              <a:gd name="connsiteY4" fmla="*/ 777832 h 858249"/>
              <a:gd name="connsiteX5" fmla="*/ 362787 w 673603"/>
              <a:gd name="connsiteY5" fmla="*/ 754019 h 858249"/>
              <a:gd name="connsiteX6" fmla="*/ 386599 w 673603"/>
              <a:gd name="connsiteY6" fmla="*/ 746876 h 858249"/>
              <a:gd name="connsiteX7" fmla="*/ 398506 w 673603"/>
              <a:gd name="connsiteY7" fmla="*/ 777832 h 858249"/>
              <a:gd name="connsiteX8" fmla="*/ 343737 w 673603"/>
              <a:gd name="connsiteY8" fmla="*/ 815932 h 858249"/>
              <a:gd name="connsiteX9" fmla="*/ 279443 w 673603"/>
              <a:gd name="connsiteY9" fmla="*/ 773069 h 858249"/>
              <a:gd name="connsiteX10" fmla="*/ 331831 w 673603"/>
              <a:gd name="connsiteY10" fmla="*/ 577807 h 858249"/>
              <a:gd name="connsiteX11" fmla="*/ 305637 w 673603"/>
              <a:gd name="connsiteY11" fmla="*/ 563519 h 858249"/>
              <a:gd name="connsiteX12" fmla="*/ 311779 w 673603"/>
              <a:gd name="connsiteY12" fmla="*/ 547549 h 858249"/>
              <a:gd name="connsiteX13" fmla="*/ 237741 w 673603"/>
              <a:gd name="connsiteY13" fmla="*/ 500485 h 858249"/>
              <a:gd name="connsiteX14" fmla="*/ 224038 w 673603"/>
              <a:gd name="connsiteY14" fmla="*/ 528452 h 858249"/>
              <a:gd name="connsiteX15" fmla="*/ 153447 w 673603"/>
              <a:gd name="connsiteY15" fmla="*/ 578809 h 858249"/>
              <a:gd name="connsiteX16" fmla="*/ 8401 w 673603"/>
              <a:gd name="connsiteY16" fmla="*/ 653033 h 858249"/>
              <a:gd name="connsiteX17" fmla="*/ 67793 w 673603"/>
              <a:gd name="connsiteY17" fmla="*/ 850206 h 858249"/>
              <a:gd name="connsiteX18" fmla="*/ 124357 w 673603"/>
              <a:gd name="connsiteY18" fmla="*/ 749115 h 858249"/>
              <a:gd name="connsiteX19" fmla="*/ 100924 w 673603"/>
              <a:gd name="connsiteY19" fmla="*/ 852938 h 858249"/>
              <a:gd name="connsiteX20" fmla="*/ 488320 w 673603"/>
              <a:gd name="connsiteY20" fmla="*/ 858165 h 858249"/>
              <a:gd name="connsiteX21" fmla="*/ 488345 w 673603"/>
              <a:gd name="connsiteY21" fmla="*/ 858249 h 858249"/>
              <a:gd name="connsiteX22" fmla="*/ 489349 w 673603"/>
              <a:gd name="connsiteY22" fmla="*/ 858186 h 858249"/>
              <a:gd name="connsiteX23" fmla="*/ 492440 w 673603"/>
              <a:gd name="connsiteY23" fmla="*/ 858249 h 858249"/>
              <a:gd name="connsiteX24" fmla="*/ 492755 w 673603"/>
              <a:gd name="connsiteY24" fmla="*/ 857971 h 858249"/>
              <a:gd name="connsiteX25" fmla="*/ 572680 w 673603"/>
              <a:gd name="connsiteY25" fmla="*/ 852938 h 858249"/>
              <a:gd name="connsiteX26" fmla="*/ 549247 w 673603"/>
              <a:gd name="connsiteY26" fmla="*/ 749115 h 858249"/>
              <a:gd name="connsiteX27" fmla="*/ 605811 w 673603"/>
              <a:gd name="connsiteY27" fmla="*/ 850206 h 858249"/>
              <a:gd name="connsiteX28" fmla="*/ 665203 w 673603"/>
              <a:gd name="connsiteY28" fmla="*/ 653033 h 858249"/>
              <a:gd name="connsiteX29" fmla="*/ 520157 w 673603"/>
              <a:gd name="connsiteY29" fmla="*/ 578809 h 858249"/>
              <a:gd name="connsiteX30" fmla="*/ 416545 w 673603"/>
              <a:gd name="connsiteY30" fmla="*/ 619374 h 858249"/>
              <a:gd name="connsiteX31" fmla="*/ 402735 w 673603"/>
              <a:gd name="connsiteY31" fmla="*/ 611762 h 858249"/>
              <a:gd name="connsiteX32" fmla="*/ 480966 w 673603"/>
              <a:gd name="connsiteY32" fmla="*/ 558317 h 858249"/>
              <a:gd name="connsiteX33" fmla="*/ 452684 w 673603"/>
              <a:gd name="connsiteY33" fmla="*/ 499119 h 858249"/>
              <a:gd name="connsiteX34" fmla="*/ 360713 w 673603"/>
              <a:gd name="connsiteY34" fmla="*/ 167 h 858249"/>
              <a:gd name="connsiteX35" fmla="*/ 241395 w 673603"/>
              <a:gd name="connsiteY35" fmla="*/ 59839 h 858249"/>
              <a:gd name="connsiteX36" fmla="*/ 169081 w 673603"/>
              <a:gd name="connsiteY36" fmla="*/ 160974 h 858249"/>
              <a:gd name="connsiteX37" fmla="*/ 192109 w 673603"/>
              <a:gd name="connsiteY37" fmla="*/ 186030 h 858249"/>
              <a:gd name="connsiteX38" fmla="*/ 209480 w 673603"/>
              <a:gd name="connsiteY38" fmla="*/ 168263 h 858249"/>
              <a:gd name="connsiteX39" fmla="*/ 352895 w 673603"/>
              <a:gd name="connsiteY39" fmla="*/ 122251 h 858249"/>
              <a:gd name="connsiteX40" fmla="*/ 205036 w 673603"/>
              <a:gd name="connsiteY40" fmla="*/ 213819 h 858249"/>
              <a:gd name="connsiteX41" fmla="*/ 205036 w 673603"/>
              <a:gd name="connsiteY41" fmla="*/ 254364 h 858249"/>
              <a:gd name="connsiteX42" fmla="*/ 186453 w 673603"/>
              <a:gd name="connsiteY42" fmla="*/ 269397 h 858249"/>
              <a:gd name="connsiteX43" fmla="*/ 206248 w 673603"/>
              <a:gd name="connsiteY43" fmla="*/ 358232 h 858249"/>
              <a:gd name="connsiteX44" fmla="*/ 217560 w 673603"/>
              <a:gd name="connsiteY44" fmla="*/ 365976 h 858249"/>
              <a:gd name="connsiteX45" fmla="*/ 265230 w 673603"/>
              <a:gd name="connsiteY45" fmla="*/ 473033 h 858249"/>
              <a:gd name="connsiteX46" fmla="*/ 352895 w 673603"/>
              <a:gd name="connsiteY46" fmla="*/ 522690 h 858249"/>
              <a:gd name="connsiteX47" fmla="*/ 447024 w 673603"/>
              <a:gd name="connsiteY47" fmla="*/ 460733 h 858249"/>
              <a:gd name="connsiteX48" fmla="*/ 488231 w 673603"/>
              <a:gd name="connsiteY48" fmla="*/ 361421 h 858249"/>
              <a:gd name="connsiteX49" fmla="*/ 521357 w 673603"/>
              <a:gd name="connsiteY49" fmla="*/ 283520 h 858249"/>
              <a:gd name="connsiteX50" fmla="*/ 508430 w 673603"/>
              <a:gd name="connsiteY50" fmla="*/ 261653 h 858249"/>
              <a:gd name="connsiteX51" fmla="*/ 535901 w 673603"/>
              <a:gd name="connsiteY51" fmla="*/ 181930 h 858249"/>
              <a:gd name="connsiteX52" fmla="*/ 426016 w 673603"/>
              <a:gd name="connsiteY52" fmla="*/ 17472 h 858249"/>
              <a:gd name="connsiteX53" fmla="*/ 360713 w 673603"/>
              <a:gd name="connsiteY53" fmla="*/ 167 h 858249"/>
              <a:gd name="connsiteX0" fmla="*/ 452684 w 673603"/>
              <a:gd name="connsiteY0" fmla="*/ 499119 h 858249"/>
              <a:gd name="connsiteX1" fmla="*/ 364244 w 673603"/>
              <a:gd name="connsiteY1" fmla="*/ 552651 h 858249"/>
              <a:gd name="connsiteX2" fmla="*/ 303255 w 673603"/>
              <a:gd name="connsiteY2" fmla="*/ 763544 h 858249"/>
              <a:gd name="connsiteX3" fmla="*/ 343737 w 673603"/>
              <a:gd name="connsiteY3" fmla="*/ 794501 h 858249"/>
              <a:gd name="connsiteX4" fmla="*/ 367549 w 673603"/>
              <a:gd name="connsiteY4" fmla="*/ 777832 h 858249"/>
              <a:gd name="connsiteX5" fmla="*/ 362787 w 673603"/>
              <a:gd name="connsiteY5" fmla="*/ 754019 h 858249"/>
              <a:gd name="connsiteX6" fmla="*/ 386599 w 673603"/>
              <a:gd name="connsiteY6" fmla="*/ 746876 h 858249"/>
              <a:gd name="connsiteX7" fmla="*/ 398506 w 673603"/>
              <a:gd name="connsiteY7" fmla="*/ 777832 h 858249"/>
              <a:gd name="connsiteX8" fmla="*/ 343737 w 673603"/>
              <a:gd name="connsiteY8" fmla="*/ 815932 h 858249"/>
              <a:gd name="connsiteX9" fmla="*/ 279443 w 673603"/>
              <a:gd name="connsiteY9" fmla="*/ 773069 h 858249"/>
              <a:gd name="connsiteX10" fmla="*/ 331831 w 673603"/>
              <a:gd name="connsiteY10" fmla="*/ 577807 h 858249"/>
              <a:gd name="connsiteX11" fmla="*/ 305637 w 673603"/>
              <a:gd name="connsiteY11" fmla="*/ 563519 h 858249"/>
              <a:gd name="connsiteX12" fmla="*/ 311779 w 673603"/>
              <a:gd name="connsiteY12" fmla="*/ 547549 h 858249"/>
              <a:gd name="connsiteX13" fmla="*/ 237741 w 673603"/>
              <a:gd name="connsiteY13" fmla="*/ 500485 h 858249"/>
              <a:gd name="connsiteX14" fmla="*/ 224038 w 673603"/>
              <a:gd name="connsiteY14" fmla="*/ 528452 h 858249"/>
              <a:gd name="connsiteX15" fmla="*/ 153447 w 673603"/>
              <a:gd name="connsiteY15" fmla="*/ 578809 h 858249"/>
              <a:gd name="connsiteX16" fmla="*/ 8401 w 673603"/>
              <a:gd name="connsiteY16" fmla="*/ 653033 h 858249"/>
              <a:gd name="connsiteX17" fmla="*/ 67793 w 673603"/>
              <a:gd name="connsiteY17" fmla="*/ 850206 h 858249"/>
              <a:gd name="connsiteX18" fmla="*/ 124357 w 673603"/>
              <a:gd name="connsiteY18" fmla="*/ 749115 h 858249"/>
              <a:gd name="connsiteX19" fmla="*/ 100924 w 673603"/>
              <a:gd name="connsiteY19" fmla="*/ 852938 h 858249"/>
              <a:gd name="connsiteX20" fmla="*/ 488320 w 673603"/>
              <a:gd name="connsiteY20" fmla="*/ 858165 h 858249"/>
              <a:gd name="connsiteX21" fmla="*/ 488345 w 673603"/>
              <a:gd name="connsiteY21" fmla="*/ 858249 h 858249"/>
              <a:gd name="connsiteX22" fmla="*/ 489349 w 673603"/>
              <a:gd name="connsiteY22" fmla="*/ 858186 h 858249"/>
              <a:gd name="connsiteX23" fmla="*/ 492440 w 673603"/>
              <a:gd name="connsiteY23" fmla="*/ 858249 h 858249"/>
              <a:gd name="connsiteX24" fmla="*/ 492755 w 673603"/>
              <a:gd name="connsiteY24" fmla="*/ 857971 h 858249"/>
              <a:gd name="connsiteX25" fmla="*/ 572680 w 673603"/>
              <a:gd name="connsiteY25" fmla="*/ 852938 h 858249"/>
              <a:gd name="connsiteX26" fmla="*/ 549247 w 673603"/>
              <a:gd name="connsiteY26" fmla="*/ 749115 h 858249"/>
              <a:gd name="connsiteX27" fmla="*/ 605811 w 673603"/>
              <a:gd name="connsiteY27" fmla="*/ 850206 h 858249"/>
              <a:gd name="connsiteX28" fmla="*/ 665203 w 673603"/>
              <a:gd name="connsiteY28" fmla="*/ 653033 h 858249"/>
              <a:gd name="connsiteX29" fmla="*/ 520157 w 673603"/>
              <a:gd name="connsiteY29" fmla="*/ 578809 h 858249"/>
              <a:gd name="connsiteX30" fmla="*/ 416545 w 673603"/>
              <a:gd name="connsiteY30" fmla="*/ 619374 h 858249"/>
              <a:gd name="connsiteX31" fmla="*/ 402735 w 673603"/>
              <a:gd name="connsiteY31" fmla="*/ 611762 h 858249"/>
              <a:gd name="connsiteX32" fmla="*/ 480966 w 673603"/>
              <a:gd name="connsiteY32" fmla="*/ 558317 h 858249"/>
              <a:gd name="connsiteX33" fmla="*/ 452684 w 673603"/>
              <a:gd name="connsiteY33" fmla="*/ 499119 h 858249"/>
              <a:gd name="connsiteX34" fmla="*/ 360713 w 673603"/>
              <a:gd name="connsiteY34" fmla="*/ 167 h 858249"/>
              <a:gd name="connsiteX35" fmla="*/ 241395 w 673603"/>
              <a:gd name="connsiteY35" fmla="*/ 59839 h 858249"/>
              <a:gd name="connsiteX36" fmla="*/ 169081 w 673603"/>
              <a:gd name="connsiteY36" fmla="*/ 160974 h 858249"/>
              <a:gd name="connsiteX37" fmla="*/ 192109 w 673603"/>
              <a:gd name="connsiteY37" fmla="*/ 186030 h 858249"/>
              <a:gd name="connsiteX38" fmla="*/ 209480 w 673603"/>
              <a:gd name="connsiteY38" fmla="*/ 168263 h 858249"/>
              <a:gd name="connsiteX39" fmla="*/ 352895 w 673603"/>
              <a:gd name="connsiteY39" fmla="*/ 122251 h 858249"/>
              <a:gd name="connsiteX40" fmla="*/ 205036 w 673603"/>
              <a:gd name="connsiteY40" fmla="*/ 213819 h 858249"/>
              <a:gd name="connsiteX41" fmla="*/ 205036 w 673603"/>
              <a:gd name="connsiteY41" fmla="*/ 254364 h 858249"/>
              <a:gd name="connsiteX42" fmla="*/ 186453 w 673603"/>
              <a:gd name="connsiteY42" fmla="*/ 269397 h 858249"/>
              <a:gd name="connsiteX43" fmla="*/ 206248 w 673603"/>
              <a:gd name="connsiteY43" fmla="*/ 358232 h 858249"/>
              <a:gd name="connsiteX44" fmla="*/ 217560 w 673603"/>
              <a:gd name="connsiteY44" fmla="*/ 365976 h 858249"/>
              <a:gd name="connsiteX45" fmla="*/ 265230 w 673603"/>
              <a:gd name="connsiteY45" fmla="*/ 473033 h 858249"/>
              <a:gd name="connsiteX46" fmla="*/ 352895 w 673603"/>
              <a:gd name="connsiteY46" fmla="*/ 522690 h 858249"/>
              <a:gd name="connsiteX47" fmla="*/ 447024 w 673603"/>
              <a:gd name="connsiteY47" fmla="*/ 460733 h 858249"/>
              <a:gd name="connsiteX48" fmla="*/ 488231 w 673603"/>
              <a:gd name="connsiteY48" fmla="*/ 361421 h 858249"/>
              <a:gd name="connsiteX49" fmla="*/ 521357 w 673603"/>
              <a:gd name="connsiteY49" fmla="*/ 283520 h 858249"/>
              <a:gd name="connsiteX50" fmla="*/ 508430 w 673603"/>
              <a:gd name="connsiteY50" fmla="*/ 261653 h 858249"/>
              <a:gd name="connsiteX51" fmla="*/ 535901 w 673603"/>
              <a:gd name="connsiteY51" fmla="*/ 181930 h 858249"/>
              <a:gd name="connsiteX52" fmla="*/ 426016 w 673603"/>
              <a:gd name="connsiteY52" fmla="*/ 17472 h 858249"/>
              <a:gd name="connsiteX53" fmla="*/ 360713 w 673603"/>
              <a:gd name="connsiteY53" fmla="*/ 167 h 858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73603" h="858249">
                <a:moveTo>
                  <a:pt x="452684" y="499119"/>
                </a:moveTo>
                <a:cubicBezTo>
                  <a:pt x="445971" y="497526"/>
                  <a:pt x="395679" y="543306"/>
                  <a:pt x="364244" y="552651"/>
                </a:cubicBezTo>
                <a:lnTo>
                  <a:pt x="303255" y="763544"/>
                </a:lnTo>
                <a:lnTo>
                  <a:pt x="343737" y="794501"/>
                </a:lnTo>
                <a:lnTo>
                  <a:pt x="367549" y="777832"/>
                </a:lnTo>
                <a:lnTo>
                  <a:pt x="362787" y="754019"/>
                </a:lnTo>
                <a:lnTo>
                  <a:pt x="386599" y="746876"/>
                </a:lnTo>
                <a:lnTo>
                  <a:pt x="398506" y="777832"/>
                </a:lnTo>
                <a:lnTo>
                  <a:pt x="343737" y="815932"/>
                </a:lnTo>
                <a:lnTo>
                  <a:pt x="279443" y="773069"/>
                </a:lnTo>
                <a:lnTo>
                  <a:pt x="331831" y="577807"/>
                </a:lnTo>
                <a:lnTo>
                  <a:pt x="305637" y="563519"/>
                </a:lnTo>
                <a:lnTo>
                  <a:pt x="311779" y="547549"/>
                </a:lnTo>
                <a:cubicBezTo>
                  <a:pt x="265856" y="532518"/>
                  <a:pt x="243484" y="498328"/>
                  <a:pt x="237741" y="500485"/>
                </a:cubicBezTo>
                <a:cubicBezTo>
                  <a:pt x="234382" y="501482"/>
                  <a:pt x="229709" y="514159"/>
                  <a:pt x="224038" y="528452"/>
                </a:cubicBezTo>
                <a:cubicBezTo>
                  <a:pt x="205457" y="548836"/>
                  <a:pt x="184781" y="572298"/>
                  <a:pt x="153447" y="578809"/>
                </a:cubicBezTo>
                <a:cubicBezTo>
                  <a:pt x="143751" y="576532"/>
                  <a:pt x="24966" y="624345"/>
                  <a:pt x="8401" y="653033"/>
                </a:cubicBezTo>
                <a:cubicBezTo>
                  <a:pt x="-8568" y="682176"/>
                  <a:pt x="-4932" y="756856"/>
                  <a:pt x="67793" y="850206"/>
                </a:cubicBezTo>
                <a:cubicBezTo>
                  <a:pt x="75470" y="796473"/>
                  <a:pt x="115065" y="755035"/>
                  <a:pt x="124357" y="749115"/>
                </a:cubicBezTo>
                <a:cubicBezTo>
                  <a:pt x="112236" y="775071"/>
                  <a:pt x="101328" y="823340"/>
                  <a:pt x="100924" y="852938"/>
                </a:cubicBezTo>
                <a:cubicBezTo>
                  <a:pt x="129463" y="855236"/>
                  <a:pt x="441914" y="856925"/>
                  <a:pt x="488320" y="858165"/>
                </a:cubicBezTo>
                <a:cubicBezTo>
                  <a:pt x="488326" y="858194"/>
                  <a:pt x="488336" y="858221"/>
                  <a:pt x="488345" y="858249"/>
                </a:cubicBezTo>
                <a:lnTo>
                  <a:pt x="489349" y="858186"/>
                </a:lnTo>
                <a:lnTo>
                  <a:pt x="492440" y="858249"/>
                </a:lnTo>
                <a:cubicBezTo>
                  <a:pt x="492562" y="858190"/>
                  <a:pt x="492684" y="858130"/>
                  <a:pt x="492755" y="857971"/>
                </a:cubicBezTo>
                <a:cubicBezTo>
                  <a:pt x="517797" y="856858"/>
                  <a:pt x="544705" y="855190"/>
                  <a:pt x="572680" y="852938"/>
                </a:cubicBezTo>
                <a:cubicBezTo>
                  <a:pt x="572277" y="823340"/>
                  <a:pt x="561368" y="775071"/>
                  <a:pt x="549247" y="749115"/>
                </a:cubicBezTo>
                <a:cubicBezTo>
                  <a:pt x="558539" y="755035"/>
                  <a:pt x="598134" y="796473"/>
                  <a:pt x="605811" y="850206"/>
                </a:cubicBezTo>
                <a:cubicBezTo>
                  <a:pt x="678536" y="756856"/>
                  <a:pt x="682172" y="682176"/>
                  <a:pt x="665203" y="653033"/>
                </a:cubicBezTo>
                <a:cubicBezTo>
                  <a:pt x="648638" y="624345"/>
                  <a:pt x="529853" y="576532"/>
                  <a:pt x="520157" y="578809"/>
                </a:cubicBezTo>
                <a:cubicBezTo>
                  <a:pt x="513668" y="580027"/>
                  <a:pt x="471919" y="609413"/>
                  <a:pt x="416545" y="619374"/>
                </a:cubicBezTo>
                <a:cubicBezTo>
                  <a:pt x="412236" y="616547"/>
                  <a:pt x="407719" y="613840"/>
                  <a:pt x="402735" y="611762"/>
                </a:cubicBezTo>
                <a:cubicBezTo>
                  <a:pt x="445434" y="596908"/>
                  <a:pt x="480070" y="566055"/>
                  <a:pt x="480966" y="558317"/>
                </a:cubicBezTo>
                <a:cubicBezTo>
                  <a:pt x="482178" y="547388"/>
                  <a:pt x="460765" y="500485"/>
                  <a:pt x="452684" y="499119"/>
                </a:cubicBezTo>
                <a:close/>
                <a:moveTo>
                  <a:pt x="360713" y="167"/>
                </a:moveTo>
                <a:cubicBezTo>
                  <a:pt x="320835" y="2218"/>
                  <a:pt x="277249" y="23109"/>
                  <a:pt x="241395" y="59839"/>
                </a:cubicBezTo>
                <a:cubicBezTo>
                  <a:pt x="184029" y="118607"/>
                  <a:pt x="167869" y="149129"/>
                  <a:pt x="169081" y="160974"/>
                </a:cubicBezTo>
                <a:cubicBezTo>
                  <a:pt x="170294" y="172363"/>
                  <a:pt x="182009" y="188307"/>
                  <a:pt x="192109" y="186030"/>
                </a:cubicBezTo>
                <a:cubicBezTo>
                  <a:pt x="202612" y="183752"/>
                  <a:pt x="203824" y="173729"/>
                  <a:pt x="209480" y="168263"/>
                </a:cubicBezTo>
                <a:cubicBezTo>
                  <a:pt x="276542" y="104484"/>
                  <a:pt x="330676" y="114506"/>
                  <a:pt x="352895" y="122251"/>
                </a:cubicBezTo>
                <a:cubicBezTo>
                  <a:pt x="266442" y="130451"/>
                  <a:pt x="209480" y="202430"/>
                  <a:pt x="205036" y="213819"/>
                </a:cubicBezTo>
                <a:cubicBezTo>
                  <a:pt x="200593" y="224750"/>
                  <a:pt x="205034" y="254351"/>
                  <a:pt x="205036" y="254364"/>
                </a:cubicBezTo>
                <a:cubicBezTo>
                  <a:pt x="205007" y="254367"/>
                  <a:pt x="186453" y="255741"/>
                  <a:pt x="186453" y="269397"/>
                </a:cubicBezTo>
                <a:cubicBezTo>
                  <a:pt x="186453" y="283062"/>
                  <a:pt x="206241" y="358204"/>
                  <a:pt x="206248" y="358232"/>
                </a:cubicBezTo>
                <a:cubicBezTo>
                  <a:pt x="206263" y="358257"/>
                  <a:pt x="211509" y="367342"/>
                  <a:pt x="217560" y="365976"/>
                </a:cubicBezTo>
                <a:cubicBezTo>
                  <a:pt x="224023" y="421555"/>
                  <a:pt x="246243" y="456178"/>
                  <a:pt x="265230" y="473033"/>
                </a:cubicBezTo>
                <a:cubicBezTo>
                  <a:pt x="283813" y="489434"/>
                  <a:pt x="327040" y="522690"/>
                  <a:pt x="352895" y="522690"/>
                </a:cubicBezTo>
                <a:cubicBezTo>
                  <a:pt x="378750" y="522690"/>
                  <a:pt x="442176" y="469844"/>
                  <a:pt x="447024" y="460733"/>
                </a:cubicBezTo>
                <a:cubicBezTo>
                  <a:pt x="452275" y="451622"/>
                  <a:pt x="487018" y="411077"/>
                  <a:pt x="488231" y="361421"/>
                </a:cubicBezTo>
                <a:cubicBezTo>
                  <a:pt x="505198" y="360054"/>
                  <a:pt x="514894" y="309942"/>
                  <a:pt x="521357" y="283520"/>
                </a:cubicBezTo>
                <a:cubicBezTo>
                  <a:pt x="526607" y="261206"/>
                  <a:pt x="508444" y="261652"/>
                  <a:pt x="508430" y="261653"/>
                </a:cubicBezTo>
                <a:cubicBezTo>
                  <a:pt x="508448" y="261603"/>
                  <a:pt x="533882" y="191493"/>
                  <a:pt x="535901" y="181930"/>
                </a:cubicBezTo>
                <a:cubicBezTo>
                  <a:pt x="537517" y="172818"/>
                  <a:pt x="554484" y="11549"/>
                  <a:pt x="426016" y="17472"/>
                </a:cubicBezTo>
                <a:cubicBezTo>
                  <a:pt x="407231" y="4488"/>
                  <a:pt x="384639" y="-1064"/>
                  <a:pt x="360713" y="167"/>
                </a:cubicBezTo>
                <a:close/>
              </a:path>
            </a:pathLst>
          </a:custGeom>
          <a:solidFill>
            <a:srgbClr val="7F7F7F"/>
          </a:solidFill>
          <a:ln w="25400" cap="flat" cmpd="sng" algn="ctr">
            <a:noFill/>
            <a:prstDash val="solid"/>
          </a:ln>
          <a:effectLst/>
        </p:spPr>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168">
              <a:defRPr/>
            </a:pPr>
            <a:endParaRPr lang="en-US" sz="1200" kern="0">
              <a:solidFill>
                <a:srgbClr val="FFFFFF"/>
              </a:solidFill>
              <a:latin typeface="Segoe UI"/>
            </a:endParaRPr>
          </a:p>
        </p:txBody>
      </p:sp>
      <p:sp>
        <p:nvSpPr>
          <p:cNvPr id="58" name="Rounded Rectangle 24">
            <a:extLst>
              <a:ext uri="{FF2B5EF4-FFF2-40B4-BE49-F238E27FC236}">
                <a16:creationId xmlns:a16="http://schemas.microsoft.com/office/drawing/2014/main" id="{D559906E-7FC4-4D76-B8D3-E403F314D056}"/>
              </a:ext>
            </a:extLst>
          </p:cNvPr>
          <p:cNvSpPr>
            <a:spLocks noChangeAspect="1"/>
          </p:cNvSpPr>
          <p:nvPr/>
        </p:nvSpPr>
        <p:spPr>
          <a:xfrm>
            <a:off x="1114711" y="1944000"/>
            <a:ext cx="404070" cy="396584"/>
          </a:xfrm>
          <a:custGeom>
            <a:avLst/>
            <a:gdLst/>
            <a:ahLst/>
            <a:cxnLst/>
            <a:rect l="l" t="t" r="r" b="b"/>
            <a:pathLst>
              <a:path w="3822882" h="3752059">
                <a:moveTo>
                  <a:pt x="2604943" y="2461449"/>
                </a:moveTo>
                <a:lnTo>
                  <a:pt x="2630879" y="2470525"/>
                </a:lnTo>
                <a:lnTo>
                  <a:pt x="2894956" y="2554885"/>
                </a:lnTo>
                <a:lnTo>
                  <a:pt x="3410638" y="2728005"/>
                </a:lnTo>
                <a:cubicBezTo>
                  <a:pt x="3419198" y="2761012"/>
                  <a:pt x="3557344" y="2838035"/>
                  <a:pt x="3577150" y="2920925"/>
                </a:cubicBezTo>
                <a:cubicBezTo>
                  <a:pt x="3656617" y="3048682"/>
                  <a:pt x="3706860" y="3281093"/>
                  <a:pt x="3822882" y="3570839"/>
                </a:cubicBezTo>
                <a:cubicBezTo>
                  <a:pt x="3805767" y="3641748"/>
                  <a:pt x="3080550" y="3625614"/>
                  <a:pt x="3058543" y="3679407"/>
                </a:cubicBezTo>
                <a:cubicBezTo>
                  <a:pt x="3022354" y="3635396"/>
                  <a:pt x="3009638" y="3556178"/>
                  <a:pt x="2949975" y="3547376"/>
                </a:cubicBezTo>
                <a:lnTo>
                  <a:pt x="2994719" y="3677943"/>
                </a:lnTo>
                <a:cubicBezTo>
                  <a:pt x="2182996" y="3772392"/>
                  <a:pt x="1751312" y="3776865"/>
                  <a:pt x="816080" y="3689680"/>
                </a:cubicBezTo>
                <a:lnTo>
                  <a:pt x="776278" y="3679175"/>
                </a:lnTo>
                <a:cubicBezTo>
                  <a:pt x="760130" y="3663903"/>
                  <a:pt x="805875" y="3632123"/>
                  <a:pt x="831814" y="3564035"/>
                </a:cubicBezTo>
                <a:cubicBezTo>
                  <a:pt x="732053" y="3577727"/>
                  <a:pt x="767263" y="3644235"/>
                  <a:pt x="702710" y="3681400"/>
                </a:cubicBezTo>
                <a:lnTo>
                  <a:pt x="1119" y="3652995"/>
                </a:lnTo>
                <a:cubicBezTo>
                  <a:pt x="-13552" y="3579639"/>
                  <a:pt x="119464" y="3256395"/>
                  <a:pt x="197708" y="3016286"/>
                </a:cubicBezTo>
                <a:cubicBezTo>
                  <a:pt x="194039" y="2969828"/>
                  <a:pt x="311651" y="2866151"/>
                  <a:pt x="327543" y="2834366"/>
                </a:cubicBezTo>
                <a:lnTo>
                  <a:pt x="548340" y="2730937"/>
                </a:lnTo>
                <a:lnTo>
                  <a:pt x="778672" y="2657580"/>
                </a:lnTo>
                <a:lnTo>
                  <a:pt x="1086761" y="2536545"/>
                </a:lnTo>
                <a:lnTo>
                  <a:pt x="1169485" y="2505031"/>
                </a:lnTo>
                <a:cubicBezTo>
                  <a:pt x="1272474" y="2674804"/>
                  <a:pt x="1481574" y="2992820"/>
                  <a:pt x="1618157" y="3135652"/>
                </a:cubicBezTo>
                <a:cubicBezTo>
                  <a:pt x="1767799" y="3292139"/>
                  <a:pt x="1921350" y="3411461"/>
                  <a:pt x="2040672" y="3399726"/>
                </a:cubicBezTo>
                <a:cubicBezTo>
                  <a:pt x="2159994" y="3387991"/>
                  <a:pt x="2226503" y="3257907"/>
                  <a:pt x="2334086" y="3065233"/>
                </a:cubicBezTo>
                <a:cubicBezTo>
                  <a:pt x="2407845" y="2933141"/>
                  <a:pt x="2524811" y="2664523"/>
                  <a:pt x="2604943" y="2461449"/>
                </a:cubicBezTo>
                <a:close/>
                <a:moveTo>
                  <a:pt x="2267850" y="2101353"/>
                </a:moveTo>
                <a:cubicBezTo>
                  <a:pt x="2269703" y="2150001"/>
                  <a:pt x="2247364" y="2261996"/>
                  <a:pt x="2256770" y="2275399"/>
                </a:cubicBezTo>
                <a:cubicBezTo>
                  <a:pt x="2320188" y="2359599"/>
                  <a:pt x="2448156" y="2355777"/>
                  <a:pt x="2523310" y="2410636"/>
                </a:cubicBezTo>
                <a:cubicBezTo>
                  <a:pt x="2468874" y="2575788"/>
                  <a:pt x="2403443" y="2783807"/>
                  <a:pt x="2339954" y="2900922"/>
                </a:cubicBezTo>
                <a:cubicBezTo>
                  <a:pt x="2239216" y="3086749"/>
                  <a:pt x="2134567" y="3299966"/>
                  <a:pt x="1999596" y="3305833"/>
                </a:cubicBezTo>
                <a:cubicBezTo>
                  <a:pt x="1864625" y="3311701"/>
                  <a:pt x="1682710" y="3119028"/>
                  <a:pt x="1530135" y="2936132"/>
                </a:cubicBezTo>
                <a:cubicBezTo>
                  <a:pt x="1443963" y="2832838"/>
                  <a:pt x="1333459" y="2639383"/>
                  <a:pt x="1242021" y="2476255"/>
                </a:cubicBezTo>
                <a:cubicBezTo>
                  <a:pt x="1271310" y="2451589"/>
                  <a:pt x="1478555" y="2354846"/>
                  <a:pt x="1518086" y="2295208"/>
                </a:cubicBezTo>
                <a:cubicBezTo>
                  <a:pt x="1520752" y="2238782"/>
                  <a:pt x="1523195" y="2205155"/>
                  <a:pt x="1514557" y="2115191"/>
                </a:cubicBezTo>
                <a:cubicBezTo>
                  <a:pt x="1572565" y="2150194"/>
                  <a:pt x="1615563" y="2196830"/>
                  <a:pt x="1688578" y="2220200"/>
                </a:cubicBezTo>
                <a:cubicBezTo>
                  <a:pt x="1761595" y="2243569"/>
                  <a:pt x="1870497" y="2266169"/>
                  <a:pt x="1952653" y="2255411"/>
                </a:cubicBezTo>
                <a:cubicBezTo>
                  <a:pt x="2034807" y="2244654"/>
                  <a:pt x="2128980" y="2181327"/>
                  <a:pt x="2181513" y="2155651"/>
                </a:cubicBezTo>
                <a:cubicBezTo>
                  <a:pt x="2234046" y="2129975"/>
                  <a:pt x="2241173" y="2107598"/>
                  <a:pt x="2267850" y="2101353"/>
                </a:cubicBezTo>
                <a:close/>
                <a:moveTo>
                  <a:pt x="864552" y="1475582"/>
                </a:moveTo>
                <a:lnTo>
                  <a:pt x="914366" y="1565290"/>
                </a:lnTo>
                <a:cubicBezTo>
                  <a:pt x="1025722" y="1673305"/>
                  <a:pt x="1079954" y="1706803"/>
                  <a:pt x="1205720" y="1714301"/>
                </a:cubicBezTo>
                <a:cubicBezTo>
                  <a:pt x="1203848" y="1728293"/>
                  <a:pt x="1191911" y="1750231"/>
                  <a:pt x="1213910" y="1795664"/>
                </a:cubicBezTo>
                <a:cubicBezTo>
                  <a:pt x="1235909" y="1841097"/>
                  <a:pt x="1315706" y="1937993"/>
                  <a:pt x="1337712" y="1986896"/>
                </a:cubicBezTo>
                <a:cubicBezTo>
                  <a:pt x="1359717" y="2035799"/>
                  <a:pt x="1362506" y="2067160"/>
                  <a:pt x="1345948" y="2089081"/>
                </a:cubicBezTo>
                <a:cubicBezTo>
                  <a:pt x="1329390" y="2111002"/>
                  <a:pt x="1282372" y="2110274"/>
                  <a:pt x="1238362" y="2118424"/>
                </a:cubicBezTo>
                <a:cubicBezTo>
                  <a:pt x="1194348" y="2126574"/>
                  <a:pt x="1131589" y="2140431"/>
                  <a:pt x="1081872" y="2137984"/>
                </a:cubicBezTo>
                <a:cubicBezTo>
                  <a:pt x="1032153" y="2135540"/>
                  <a:pt x="974285" y="2127389"/>
                  <a:pt x="940053" y="2103754"/>
                </a:cubicBezTo>
                <a:cubicBezTo>
                  <a:pt x="905821" y="2080116"/>
                  <a:pt x="891963" y="2045883"/>
                  <a:pt x="876477" y="1996165"/>
                </a:cubicBezTo>
                <a:cubicBezTo>
                  <a:pt x="860991" y="1946449"/>
                  <a:pt x="850398" y="1878799"/>
                  <a:pt x="847137" y="1805442"/>
                </a:cubicBezTo>
                <a:cubicBezTo>
                  <a:pt x="843876" y="1732089"/>
                  <a:pt x="854015" y="1611013"/>
                  <a:pt x="856917" y="1556036"/>
                </a:cubicBezTo>
                <a:cubicBezTo>
                  <a:pt x="859820" y="1501060"/>
                  <a:pt x="858522" y="1527380"/>
                  <a:pt x="864552" y="1475582"/>
                </a:cubicBezTo>
                <a:close/>
                <a:moveTo>
                  <a:pt x="2887321" y="1462498"/>
                </a:moveTo>
                <a:cubicBezTo>
                  <a:pt x="2900003" y="1567686"/>
                  <a:pt x="2894907" y="1656391"/>
                  <a:pt x="2894956" y="1736980"/>
                </a:cubicBezTo>
                <a:cubicBezTo>
                  <a:pt x="2895006" y="1817570"/>
                  <a:pt x="2899234" y="1886133"/>
                  <a:pt x="2887619" y="1946039"/>
                </a:cubicBezTo>
                <a:cubicBezTo>
                  <a:pt x="2876005" y="2005948"/>
                  <a:pt x="2854609" y="2067688"/>
                  <a:pt x="2825269" y="2096417"/>
                </a:cubicBezTo>
                <a:cubicBezTo>
                  <a:pt x="2795926" y="2125147"/>
                  <a:pt x="2760473" y="2117202"/>
                  <a:pt x="2711568" y="2118424"/>
                </a:cubicBezTo>
                <a:cubicBezTo>
                  <a:pt x="2662665" y="2119646"/>
                  <a:pt x="2584419" y="2114146"/>
                  <a:pt x="2531850" y="2103754"/>
                </a:cubicBezTo>
                <a:cubicBezTo>
                  <a:pt x="2479279" y="2093362"/>
                  <a:pt x="2415707" y="2072577"/>
                  <a:pt x="2396144" y="2056073"/>
                </a:cubicBezTo>
                <a:cubicBezTo>
                  <a:pt x="2376582" y="2039567"/>
                  <a:pt x="2399200" y="2029787"/>
                  <a:pt x="2414481" y="2004724"/>
                </a:cubicBezTo>
                <a:cubicBezTo>
                  <a:pt x="2429764" y="1979661"/>
                  <a:pt x="2465065" y="1955513"/>
                  <a:pt x="2487836" y="1905695"/>
                </a:cubicBezTo>
                <a:cubicBezTo>
                  <a:pt x="2510607" y="1855878"/>
                  <a:pt x="2536106" y="1748272"/>
                  <a:pt x="2551107" y="1705821"/>
                </a:cubicBezTo>
                <a:cubicBezTo>
                  <a:pt x="2674231" y="1695933"/>
                  <a:pt x="2790473" y="1647787"/>
                  <a:pt x="2850919" y="1511681"/>
                </a:cubicBezTo>
                <a:close/>
                <a:moveTo>
                  <a:pt x="2725207" y="774572"/>
                </a:moveTo>
                <a:lnTo>
                  <a:pt x="2740910" y="790703"/>
                </a:lnTo>
                <a:cubicBezTo>
                  <a:pt x="2757236" y="822871"/>
                  <a:pt x="2775069" y="904440"/>
                  <a:pt x="2792635" y="987426"/>
                </a:cubicBezTo>
                <a:cubicBezTo>
                  <a:pt x="2752116" y="934386"/>
                  <a:pt x="2701043" y="894859"/>
                  <a:pt x="2644236" y="872837"/>
                </a:cubicBezTo>
                <a:cubicBezTo>
                  <a:pt x="2643982" y="869631"/>
                  <a:pt x="2644720" y="866757"/>
                  <a:pt x="2645550" y="864058"/>
                </a:cubicBezTo>
                <a:cubicBezTo>
                  <a:pt x="2652886" y="840218"/>
                  <a:pt x="2666335" y="821270"/>
                  <a:pt x="2682228" y="809043"/>
                </a:cubicBezTo>
                <a:cubicBezTo>
                  <a:pt x="2694147" y="799873"/>
                  <a:pt x="2709504" y="771104"/>
                  <a:pt x="2725207" y="774572"/>
                </a:cubicBezTo>
                <a:close/>
                <a:moveTo>
                  <a:pt x="2521733" y="389743"/>
                </a:moveTo>
                <a:cubicBezTo>
                  <a:pt x="2566478" y="443277"/>
                  <a:pt x="2609083" y="497174"/>
                  <a:pt x="2636991" y="533961"/>
                </a:cubicBezTo>
                <a:cubicBezTo>
                  <a:pt x="2690784" y="604871"/>
                  <a:pt x="2716865" y="640734"/>
                  <a:pt x="2725015" y="680672"/>
                </a:cubicBezTo>
                <a:cubicBezTo>
                  <a:pt x="2733165" y="720609"/>
                  <a:pt x="2706270" y="750767"/>
                  <a:pt x="2685894" y="773586"/>
                </a:cubicBezTo>
                <a:cubicBezTo>
                  <a:pt x="2672847" y="788201"/>
                  <a:pt x="2652111" y="802480"/>
                  <a:pt x="2632455" y="810122"/>
                </a:cubicBezTo>
                <a:cubicBezTo>
                  <a:pt x="2624524" y="643811"/>
                  <a:pt x="2584245" y="503902"/>
                  <a:pt x="2521733" y="389743"/>
                </a:cubicBezTo>
                <a:close/>
                <a:moveTo>
                  <a:pt x="1743075" y="297656"/>
                </a:moveTo>
                <a:cubicBezTo>
                  <a:pt x="1852613" y="544512"/>
                  <a:pt x="2371725" y="517526"/>
                  <a:pt x="2471738" y="916781"/>
                </a:cubicBezTo>
                <a:cubicBezTo>
                  <a:pt x="2386013" y="474662"/>
                  <a:pt x="1912144" y="534987"/>
                  <a:pt x="1743075" y="297656"/>
                </a:cubicBezTo>
                <a:close/>
                <a:moveTo>
                  <a:pt x="1676846" y="236727"/>
                </a:moveTo>
                <a:cubicBezTo>
                  <a:pt x="1864628" y="706186"/>
                  <a:pt x="1406907" y="817686"/>
                  <a:pt x="1412774" y="1064151"/>
                </a:cubicBezTo>
                <a:cubicBezTo>
                  <a:pt x="1477326" y="759005"/>
                  <a:pt x="1841158" y="735526"/>
                  <a:pt x="1770738" y="453849"/>
                </a:cubicBezTo>
                <a:close/>
                <a:moveTo>
                  <a:pt x="1472593" y="96505"/>
                </a:moveTo>
                <a:cubicBezTo>
                  <a:pt x="1244666" y="225442"/>
                  <a:pt x="1081525" y="478905"/>
                  <a:pt x="1105095" y="846218"/>
                </a:cubicBezTo>
                <a:lnTo>
                  <a:pt x="1106315" y="873140"/>
                </a:lnTo>
                <a:cubicBezTo>
                  <a:pt x="1038208" y="901745"/>
                  <a:pt x="978198" y="954650"/>
                  <a:pt x="934614" y="1025702"/>
                </a:cubicBezTo>
                <a:cubicBezTo>
                  <a:pt x="934731" y="1024782"/>
                  <a:pt x="934945" y="1023887"/>
                  <a:pt x="935162" y="1022993"/>
                </a:cubicBezTo>
                <a:cubicBezTo>
                  <a:pt x="978359" y="843683"/>
                  <a:pt x="1060678" y="612207"/>
                  <a:pt x="1116102" y="480168"/>
                </a:cubicBezTo>
                <a:cubicBezTo>
                  <a:pt x="1171528" y="348131"/>
                  <a:pt x="1217986" y="292705"/>
                  <a:pt x="1267702" y="230764"/>
                </a:cubicBezTo>
                <a:cubicBezTo>
                  <a:pt x="1317421" y="168818"/>
                  <a:pt x="1367955" y="132141"/>
                  <a:pt x="1414413" y="108503"/>
                </a:cubicBezTo>
                <a:cubicBezTo>
                  <a:pt x="1434160" y="98457"/>
                  <a:pt x="1453614" y="96362"/>
                  <a:pt x="1472593" y="96505"/>
                </a:cubicBezTo>
                <a:close/>
                <a:moveTo>
                  <a:pt x="1825923" y="91201"/>
                </a:moveTo>
                <a:cubicBezTo>
                  <a:pt x="2135956" y="87199"/>
                  <a:pt x="2458209" y="314634"/>
                  <a:pt x="2508361" y="706119"/>
                </a:cubicBezTo>
                <a:lnTo>
                  <a:pt x="2509839" y="707231"/>
                </a:lnTo>
                <a:lnTo>
                  <a:pt x="2510597" y="717679"/>
                </a:lnTo>
                <a:cubicBezTo>
                  <a:pt x="2512640" y="723049"/>
                  <a:pt x="2513245" y="728616"/>
                  <a:pt x="2513795" y="734215"/>
                </a:cubicBezTo>
                <a:lnTo>
                  <a:pt x="2511610" y="731650"/>
                </a:lnTo>
                <a:cubicBezTo>
                  <a:pt x="2513320" y="753373"/>
                  <a:pt x="2514497" y="771732"/>
                  <a:pt x="2515051" y="789484"/>
                </a:cubicBezTo>
                <a:cubicBezTo>
                  <a:pt x="2515942" y="790378"/>
                  <a:pt x="2516777" y="791315"/>
                  <a:pt x="2517609" y="792251"/>
                </a:cubicBezTo>
                <a:cubicBezTo>
                  <a:pt x="2517932" y="809950"/>
                  <a:pt x="2518255" y="827651"/>
                  <a:pt x="2518578" y="845350"/>
                </a:cubicBezTo>
                <a:cubicBezTo>
                  <a:pt x="2518506" y="846580"/>
                  <a:pt x="2518434" y="847809"/>
                  <a:pt x="2518362" y="849038"/>
                </a:cubicBezTo>
                <a:lnTo>
                  <a:pt x="2516075" y="848928"/>
                </a:lnTo>
                <a:cubicBezTo>
                  <a:pt x="2515937" y="865978"/>
                  <a:pt x="2515432" y="884823"/>
                  <a:pt x="2514601" y="907256"/>
                </a:cubicBezTo>
                <a:lnTo>
                  <a:pt x="2512918" y="906169"/>
                </a:lnTo>
                <a:lnTo>
                  <a:pt x="2508589" y="1016247"/>
                </a:lnTo>
                <a:lnTo>
                  <a:pt x="2470675" y="1664816"/>
                </a:lnTo>
                <a:cubicBezTo>
                  <a:pt x="2472968" y="1666152"/>
                  <a:pt x="2475192" y="1667415"/>
                  <a:pt x="2477521" y="1668311"/>
                </a:cubicBezTo>
                <a:lnTo>
                  <a:pt x="2471891" y="1688712"/>
                </a:lnTo>
                <a:cubicBezTo>
                  <a:pt x="2326817" y="1810204"/>
                  <a:pt x="2143990" y="1903249"/>
                  <a:pt x="2037270" y="1929145"/>
                </a:cubicBezTo>
                <a:lnTo>
                  <a:pt x="2034920" y="1922197"/>
                </a:lnTo>
                <a:cubicBezTo>
                  <a:pt x="2026869" y="1898414"/>
                  <a:pt x="2001060" y="1885659"/>
                  <a:pt x="1977277" y="1893710"/>
                </a:cubicBezTo>
                <a:lnTo>
                  <a:pt x="1785695" y="1958561"/>
                </a:lnTo>
                <a:cubicBezTo>
                  <a:pt x="1761911" y="1966612"/>
                  <a:pt x="1749156" y="1992419"/>
                  <a:pt x="1757207" y="2016203"/>
                </a:cubicBezTo>
                <a:lnTo>
                  <a:pt x="1778033" y="2077723"/>
                </a:lnTo>
                <a:cubicBezTo>
                  <a:pt x="1786084" y="2101508"/>
                  <a:pt x="1811890" y="2114262"/>
                  <a:pt x="1835675" y="2106211"/>
                </a:cubicBezTo>
                <a:lnTo>
                  <a:pt x="2027257" y="2041359"/>
                </a:lnTo>
                <a:cubicBezTo>
                  <a:pt x="2051041" y="2033309"/>
                  <a:pt x="2063795" y="2007502"/>
                  <a:pt x="2055744" y="1983718"/>
                </a:cubicBezTo>
                <a:lnTo>
                  <a:pt x="2053617" y="1977433"/>
                </a:lnTo>
                <a:cubicBezTo>
                  <a:pt x="2219167" y="1921374"/>
                  <a:pt x="2336955" y="1853107"/>
                  <a:pt x="2449571" y="1759626"/>
                </a:cubicBezTo>
                <a:cubicBezTo>
                  <a:pt x="2393537" y="1905843"/>
                  <a:pt x="2294866" y="1993793"/>
                  <a:pt x="2239957" y="2053707"/>
                </a:cubicBezTo>
                <a:cubicBezTo>
                  <a:pt x="2147337" y="2147552"/>
                  <a:pt x="2079757" y="2177782"/>
                  <a:pt x="2005466" y="2202597"/>
                </a:cubicBezTo>
                <a:cubicBezTo>
                  <a:pt x="1931175" y="2227412"/>
                  <a:pt x="1879141" y="2232093"/>
                  <a:pt x="1794209" y="2202597"/>
                </a:cubicBezTo>
                <a:cubicBezTo>
                  <a:pt x="1709278" y="2173101"/>
                  <a:pt x="1583436" y="2128314"/>
                  <a:pt x="1495871" y="2025623"/>
                </a:cubicBezTo>
                <a:cubicBezTo>
                  <a:pt x="1472168" y="1985334"/>
                  <a:pt x="1274277" y="1806037"/>
                  <a:pt x="1268806" y="1586454"/>
                </a:cubicBezTo>
                <a:lnTo>
                  <a:pt x="1267622" y="1585942"/>
                </a:lnTo>
                <a:lnTo>
                  <a:pt x="1238626" y="848883"/>
                </a:lnTo>
                <a:lnTo>
                  <a:pt x="1214876" y="849628"/>
                </a:lnTo>
                <a:lnTo>
                  <a:pt x="1214341" y="837692"/>
                </a:lnTo>
                <a:cubicBezTo>
                  <a:pt x="1228424" y="322534"/>
                  <a:pt x="1521273" y="95133"/>
                  <a:pt x="1825923" y="91201"/>
                </a:cubicBezTo>
                <a:close/>
                <a:moveTo>
                  <a:pt x="1905282" y="5199"/>
                </a:moveTo>
                <a:cubicBezTo>
                  <a:pt x="2312327" y="29922"/>
                  <a:pt x="2628640" y="447901"/>
                  <a:pt x="2603911" y="853166"/>
                </a:cubicBezTo>
                <a:lnTo>
                  <a:pt x="2600905" y="920993"/>
                </a:lnTo>
                <a:cubicBezTo>
                  <a:pt x="2712585" y="938794"/>
                  <a:pt x="2810054" y="1018284"/>
                  <a:pt x="2858389" y="1134307"/>
                </a:cubicBezTo>
                <a:cubicBezTo>
                  <a:pt x="2906511" y="1249815"/>
                  <a:pt x="2898731" y="1384615"/>
                  <a:pt x="2837727" y="1492317"/>
                </a:cubicBezTo>
                <a:cubicBezTo>
                  <a:pt x="2768709" y="1614166"/>
                  <a:pt x="2643368" y="1680939"/>
                  <a:pt x="2515534" y="1664359"/>
                </a:cubicBezTo>
                <a:lnTo>
                  <a:pt x="2540726" y="1668803"/>
                </a:lnTo>
                <a:cubicBezTo>
                  <a:pt x="2391386" y="1816870"/>
                  <a:pt x="2108017" y="1963020"/>
                  <a:pt x="2031430" y="1961743"/>
                </a:cubicBezTo>
                <a:lnTo>
                  <a:pt x="2028761" y="1955738"/>
                </a:lnTo>
                <a:lnTo>
                  <a:pt x="2037609" y="1981874"/>
                </a:lnTo>
                <a:cubicBezTo>
                  <a:pt x="2043938" y="2000572"/>
                  <a:pt x="2033912" y="2020859"/>
                  <a:pt x="2015215" y="2027188"/>
                </a:cubicBezTo>
                <a:lnTo>
                  <a:pt x="1838934" y="2086860"/>
                </a:lnTo>
                <a:cubicBezTo>
                  <a:pt x="1820236" y="2093188"/>
                  <a:pt x="1799949" y="2083163"/>
                  <a:pt x="1793620" y="2064465"/>
                </a:cubicBezTo>
                <a:lnTo>
                  <a:pt x="1777250" y="2016105"/>
                </a:lnTo>
                <a:cubicBezTo>
                  <a:pt x="1770922" y="1997408"/>
                  <a:pt x="1780947" y="1977121"/>
                  <a:pt x="1799645" y="1970791"/>
                </a:cubicBezTo>
                <a:lnTo>
                  <a:pt x="1975926" y="1911120"/>
                </a:lnTo>
                <a:cubicBezTo>
                  <a:pt x="1980600" y="1909538"/>
                  <a:pt x="1985373" y="1908978"/>
                  <a:pt x="1990003" y="1909320"/>
                </a:cubicBezTo>
                <a:cubicBezTo>
                  <a:pt x="2003895" y="1910346"/>
                  <a:pt x="2016493" y="1919491"/>
                  <a:pt x="2021239" y="1933515"/>
                </a:cubicBezTo>
                <a:lnTo>
                  <a:pt x="2024847" y="1944172"/>
                </a:lnTo>
                <a:cubicBezTo>
                  <a:pt x="2213660" y="1894300"/>
                  <a:pt x="2451303" y="1742341"/>
                  <a:pt x="2507587" y="1663724"/>
                </a:cubicBezTo>
                <a:cubicBezTo>
                  <a:pt x="2506384" y="1663812"/>
                  <a:pt x="2505220" y="1663630"/>
                  <a:pt x="2504057" y="1663441"/>
                </a:cubicBezTo>
                <a:lnTo>
                  <a:pt x="2513198" y="1528561"/>
                </a:lnTo>
                <a:lnTo>
                  <a:pt x="2542642" y="914436"/>
                </a:lnTo>
                <a:cubicBezTo>
                  <a:pt x="2561363" y="574055"/>
                  <a:pt x="2404788" y="129007"/>
                  <a:pt x="1884006" y="56678"/>
                </a:cubicBezTo>
                <a:cubicBezTo>
                  <a:pt x="1189629" y="66038"/>
                  <a:pt x="1180269" y="757860"/>
                  <a:pt x="1194736" y="909329"/>
                </a:cubicBezTo>
                <a:lnTo>
                  <a:pt x="1211177" y="1211447"/>
                </a:lnTo>
                <a:lnTo>
                  <a:pt x="1243376" y="1663441"/>
                </a:lnTo>
                <a:lnTo>
                  <a:pt x="1194310" y="1667373"/>
                </a:lnTo>
                <a:lnTo>
                  <a:pt x="1179418" y="1670080"/>
                </a:lnTo>
                <a:lnTo>
                  <a:pt x="1179145" y="1666144"/>
                </a:lnTo>
                <a:cubicBezTo>
                  <a:pt x="1070665" y="1661389"/>
                  <a:pt x="969621" y="1597582"/>
                  <a:pt x="910103" y="1493017"/>
                </a:cubicBezTo>
                <a:cubicBezTo>
                  <a:pt x="849020" y="1385701"/>
                  <a:pt x="840867" y="1251257"/>
                  <a:pt x="888437" y="1135772"/>
                </a:cubicBezTo>
                <a:cubicBezTo>
                  <a:pt x="933813" y="1025611"/>
                  <a:pt x="1023453" y="948016"/>
                  <a:pt x="1127888" y="925245"/>
                </a:cubicBezTo>
                <a:lnTo>
                  <a:pt x="1123255" y="858272"/>
                </a:lnTo>
                <a:cubicBezTo>
                  <a:pt x="1105385" y="260905"/>
                  <a:pt x="1524904" y="1364"/>
                  <a:pt x="1822737" y="5619"/>
                </a:cubicBezTo>
                <a:cubicBezTo>
                  <a:pt x="1850606" y="3652"/>
                  <a:pt x="1878146" y="3552"/>
                  <a:pt x="1905282" y="5199"/>
                </a:cubicBezTo>
                <a:close/>
                <a:moveTo>
                  <a:pt x="1764375" y="0"/>
                </a:moveTo>
                <a:lnTo>
                  <a:pt x="1784561" y="169"/>
                </a:lnTo>
                <a:cubicBezTo>
                  <a:pt x="1727259" y="4527"/>
                  <a:pt x="1670664" y="15855"/>
                  <a:pt x="1616014" y="33313"/>
                </a:cubicBezTo>
                <a:cubicBezTo>
                  <a:pt x="1627407" y="23458"/>
                  <a:pt x="1641157" y="15402"/>
                  <a:pt x="1658927" y="10698"/>
                </a:cubicBezTo>
                <a:cubicBezTo>
                  <a:pt x="1686640" y="3364"/>
                  <a:pt x="1725153" y="715"/>
                  <a:pt x="1764375" y="0"/>
                </a:cubicBezTo>
                <a:close/>
              </a:path>
            </a:pathLst>
          </a:cu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45714" rIns="91427" bIns="4571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9" name="Freeform 129">
            <a:extLst>
              <a:ext uri="{FF2B5EF4-FFF2-40B4-BE49-F238E27FC236}">
                <a16:creationId xmlns:a16="http://schemas.microsoft.com/office/drawing/2014/main" id="{159865B4-11B6-4FFF-9D0E-A2F85CF6328A}"/>
              </a:ext>
            </a:extLst>
          </p:cNvPr>
          <p:cNvSpPr/>
          <p:nvPr/>
        </p:nvSpPr>
        <p:spPr>
          <a:xfrm>
            <a:off x="2956792" y="1590128"/>
            <a:ext cx="418985" cy="303972"/>
          </a:xfrm>
          <a:custGeom>
            <a:avLst/>
            <a:gdLst>
              <a:gd name="connsiteX0" fmla="*/ 1599875 w 4094502"/>
              <a:gd name="connsiteY0" fmla="*/ 2470150 h 3272380"/>
              <a:gd name="connsiteX1" fmla="*/ 1672900 w 4094502"/>
              <a:gd name="connsiteY1" fmla="*/ 2555875 h 3272380"/>
              <a:gd name="connsiteX2" fmla="*/ 1599875 w 4094502"/>
              <a:gd name="connsiteY2" fmla="*/ 2641600 h 3272380"/>
              <a:gd name="connsiteX3" fmla="*/ 1526850 w 4094502"/>
              <a:gd name="connsiteY3" fmla="*/ 2555875 h 3272380"/>
              <a:gd name="connsiteX4" fmla="*/ 1599875 w 4094502"/>
              <a:gd name="connsiteY4" fmla="*/ 2470150 h 3272380"/>
              <a:gd name="connsiteX5" fmla="*/ 464640 w 4094502"/>
              <a:gd name="connsiteY5" fmla="*/ 303480 h 3272380"/>
              <a:gd name="connsiteX6" fmla="*/ 3606192 w 4094502"/>
              <a:gd name="connsiteY6" fmla="*/ 466442 h 3272380"/>
              <a:gd name="connsiteX7" fmla="*/ 3334588 w 4094502"/>
              <a:gd name="connsiteY7" fmla="*/ 2747915 h 3272380"/>
              <a:gd name="connsiteX8" fmla="*/ 274517 w 4094502"/>
              <a:gd name="connsiteY8" fmla="*/ 2114173 h 3272380"/>
              <a:gd name="connsiteX9" fmla="*/ 464640 w 4094502"/>
              <a:gd name="connsiteY9" fmla="*/ 303480 h 3272380"/>
              <a:gd name="connsiteX10" fmla="*/ 409248 w 4094502"/>
              <a:gd name="connsiteY10" fmla="*/ 80088 h 3272380"/>
              <a:gd name="connsiteX11" fmla="*/ 261669 w 4094502"/>
              <a:gd name="connsiteY11" fmla="*/ 189140 h 3272380"/>
              <a:gd name="connsiteX12" fmla="*/ 71482 w 4094502"/>
              <a:gd name="connsiteY12" fmla="*/ 2192886 h 3272380"/>
              <a:gd name="connsiteX13" fmla="*/ 169802 w 4094502"/>
              <a:gd name="connsiteY13" fmla="*/ 2380836 h 3272380"/>
              <a:gd name="connsiteX14" fmla="*/ 3393948 w 4094502"/>
              <a:gd name="connsiteY14" fmla="*/ 3177816 h 3272380"/>
              <a:gd name="connsiteX15" fmla="*/ 3638476 w 4094502"/>
              <a:gd name="connsiteY15" fmla="*/ 3069137 h 3272380"/>
              <a:gd name="connsiteX16" fmla="*/ 3991683 w 4094502"/>
              <a:gd name="connsiteY16" fmla="*/ 370272 h 3272380"/>
              <a:gd name="connsiteX17" fmla="*/ 3855834 w 4094502"/>
              <a:gd name="connsiteY17" fmla="*/ 171027 h 3272380"/>
              <a:gd name="connsiteX18" fmla="*/ 468670 w 4094502"/>
              <a:gd name="connsiteY18" fmla="*/ 80461 h 3272380"/>
              <a:gd name="connsiteX19" fmla="*/ 409248 w 4094502"/>
              <a:gd name="connsiteY19" fmla="*/ 80088 h 3272380"/>
              <a:gd name="connsiteX20" fmla="*/ 387026 w 4094502"/>
              <a:gd name="connsiteY20" fmla="*/ 0 h 3272380"/>
              <a:gd name="connsiteX21" fmla="*/ 3949376 w 4094502"/>
              <a:gd name="connsiteY21" fmla="*/ 95250 h 3272380"/>
              <a:gd name="connsiteX22" fmla="*/ 4092251 w 4094502"/>
              <a:gd name="connsiteY22" fmla="*/ 304800 h 3272380"/>
              <a:gd name="connsiteX23" fmla="*/ 3720776 w 4094502"/>
              <a:gd name="connsiteY23" fmla="*/ 3143250 h 3272380"/>
              <a:gd name="connsiteX24" fmla="*/ 3463601 w 4094502"/>
              <a:gd name="connsiteY24" fmla="*/ 3257550 h 3272380"/>
              <a:gd name="connsiteX25" fmla="*/ 72701 w 4094502"/>
              <a:gd name="connsiteY25" fmla="*/ 2419350 h 3272380"/>
              <a:gd name="connsiteX26" fmla="*/ 6026 w 4094502"/>
              <a:gd name="connsiteY26" fmla="*/ 2238375 h 3272380"/>
              <a:gd name="connsiteX27" fmla="*/ 206051 w 4094502"/>
              <a:gd name="connsiteY27" fmla="*/ 114300 h 3272380"/>
              <a:gd name="connsiteX28" fmla="*/ 387026 w 4094502"/>
              <a:gd name="connsiteY28" fmla="*/ 0 h 3272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94502" h="3272380">
                <a:moveTo>
                  <a:pt x="1599875" y="2470150"/>
                </a:moveTo>
                <a:cubicBezTo>
                  <a:pt x="1640206" y="2470150"/>
                  <a:pt x="1672900" y="2508530"/>
                  <a:pt x="1672900" y="2555875"/>
                </a:cubicBezTo>
                <a:cubicBezTo>
                  <a:pt x="1672900" y="2603220"/>
                  <a:pt x="1640206" y="2641600"/>
                  <a:pt x="1599875" y="2641600"/>
                </a:cubicBezTo>
                <a:cubicBezTo>
                  <a:pt x="1559544" y="2641600"/>
                  <a:pt x="1526850" y="2603220"/>
                  <a:pt x="1526850" y="2555875"/>
                </a:cubicBezTo>
                <a:cubicBezTo>
                  <a:pt x="1526850" y="2508530"/>
                  <a:pt x="1559544" y="2470150"/>
                  <a:pt x="1599875" y="2470150"/>
                </a:cubicBezTo>
                <a:close/>
                <a:moveTo>
                  <a:pt x="464640" y="303480"/>
                </a:moveTo>
                <a:lnTo>
                  <a:pt x="3606192" y="466442"/>
                </a:lnTo>
                <a:lnTo>
                  <a:pt x="3334588" y="2747915"/>
                </a:lnTo>
                <a:lnTo>
                  <a:pt x="274517" y="2114173"/>
                </a:lnTo>
                <a:lnTo>
                  <a:pt x="464640" y="303480"/>
                </a:lnTo>
                <a:close/>
                <a:moveTo>
                  <a:pt x="409248" y="80088"/>
                </a:moveTo>
                <a:cubicBezTo>
                  <a:pt x="286405" y="83901"/>
                  <a:pt x="269594" y="120461"/>
                  <a:pt x="261669" y="189140"/>
                </a:cubicBezTo>
                <a:lnTo>
                  <a:pt x="71482" y="2192886"/>
                </a:lnTo>
                <a:cubicBezTo>
                  <a:pt x="53873" y="2331582"/>
                  <a:pt x="66380" y="2351272"/>
                  <a:pt x="169802" y="2380836"/>
                </a:cubicBezTo>
                <a:lnTo>
                  <a:pt x="3393948" y="3177816"/>
                </a:lnTo>
                <a:cubicBezTo>
                  <a:pt x="3506739" y="3198948"/>
                  <a:pt x="3605269" y="3248812"/>
                  <a:pt x="3638476" y="3069137"/>
                </a:cubicBezTo>
                <a:lnTo>
                  <a:pt x="3991683" y="370272"/>
                </a:lnTo>
                <a:cubicBezTo>
                  <a:pt x="4000740" y="294800"/>
                  <a:pt x="4030096" y="179926"/>
                  <a:pt x="3855834" y="171027"/>
                </a:cubicBezTo>
                <a:lnTo>
                  <a:pt x="468670" y="80461"/>
                </a:lnTo>
                <a:cubicBezTo>
                  <a:pt x="446510" y="79667"/>
                  <a:pt x="426797" y="79543"/>
                  <a:pt x="409248" y="80088"/>
                </a:cubicBezTo>
                <a:close/>
                <a:moveTo>
                  <a:pt x="387026" y="0"/>
                </a:moveTo>
                <a:lnTo>
                  <a:pt x="3949376" y="95250"/>
                </a:lnTo>
                <a:cubicBezTo>
                  <a:pt x="4085901" y="107950"/>
                  <a:pt x="4101776" y="225425"/>
                  <a:pt x="4092251" y="304800"/>
                </a:cubicBezTo>
                <a:lnTo>
                  <a:pt x="3720776" y="3143250"/>
                </a:lnTo>
                <a:cubicBezTo>
                  <a:pt x="3685851" y="3298825"/>
                  <a:pt x="3558851" y="3279775"/>
                  <a:pt x="3463601" y="3257550"/>
                </a:cubicBezTo>
                <a:lnTo>
                  <a:pt x="72701" y="2419350"/>
                </a:lnTo>
                <a:cubicBezTo>
                  <a:pt x="-19374" y="2374900"/>
                  <a:pt x="-324" y="2346325"/>
                  <a:pt x="6026" y="2238375"/>
                </a:cubicBezTo>
                <a:lnTo>
                  <a:pt x="206051" y="114300"/>
                </a:lnTo>
                <a:cubicBezTo>
                  <a:pt x="215576" y="31750"/>
                  <a:pt x="247326" y="0"/>
                  <a:pt x="38702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92">
              <a:defRPr/>
            </a:pPr>
            <a:endParaRPr lang="en-US" sz="1000"/>
          </a:p>
        </p:txBody>
      </p:sp>
      <p:sp>
        <p:nvSpPr>
          <p:cNvPr id="81" name="Rectangle 80">
            <a:extLst>
              <a:ext uri="{FF2B5EF4-FFF2-40B4-BE49-F238E27FC236}">
                <a16:creationId xmlns:a16="http://schemas.microsoft.com/office/drawing/2014/main" id="{C0FDCFB1-A8AE-412D-A00E-D8626C62FA6A}"/>
              </a:ext>
            </a:extLst>
          </p:cNvPr>
          <p:cNvSpPr/>
          <p:nvPr/>
        </p:nvSpPr>
        <p:spPr>
          <a:xfrm>
            <a:off x="7418696" y="1944001"/>
            <a:ext cx="1230645" cy="66479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fontAlgn="base">
              <a:lnSpc>
                <a:spcPct val="90000"/>
              </a:lnSpc>
              <a:spcBef>
                <a:spcPct val="0"/>
              </a:spcBef>
              <a:spcAft>
                <a:spcPct val="0"/>
              </a:spcAft>
              <a:defRPr/>
            </a:pPr>
            <a:r>
              <a:rPr lang="en-US" sz="1200" dirty="0">
                <a:solidFill>
                  <a:srgbClr val="505050"/>
                </a:solidFill>
                <a:latin typeface="Segoe UI Semibold" panose="020B0702040204020203" pitchFamily="34" charset="0"/>
                <a:ea typeface="Segoe UI" pitchFamily="34" charset="0"/>
                <a:cs typeface="Segoe UI Semibold" panose="020B0702040204020203" pitchFamily="34" charset="0"/>
              </a:rPr>
              <a:t>Commercial, Pricing and billing model proposed.</a:t>
            </a:r>
          </a:p>
        </p:txBody>
      </p:sp>
      <p:sp>
        <p:nvSpPr>
          <p:cNvPr id="82" name="Rounded Rectangle 14">
            <a:extLst>
              <a:ext uri="{FF2B5EF4-FFF2-40B4-BE49-F238E27FC236}">
                <a16:creationId xmlns:a16="http://schemas.microsoft.com/office/drawing/2014/main" id="{5F51500E-62E4-4C1D-ABF3-A2EFCB1D5359}"/>
              </a:ext>
            </a:extLst>
          </p:cNvPr>
          <p:cNvSpPr/>
          <p:nvPr/>
        </p:nvSpPr>
        <p:spPr>
          <a:xfrm>
            <a:off x="7018326" y="2186138"/>
            <a:ext cx="344314" cy="243388"/>
          </a:xfrm>
          <a:custGeom>
            <a:avLst/>
            <a:gdLst/>
            <a:ahLst/>
            <a:cxnLst/>
            <a:rect l="l" t="t" r="r" b="b"/>
            <a:pathLst>
              <a:path w="3990453" h="3107352">
                <a:moveTo>
                  <a:pt x="1044313" y="1824213"/>
                </a:moveTo>
                <a:cubicBezTo>
                  <a:pt x="879214" y="1853582"/>
                  <a:pt x="856988" y="1925813"/>
                  <a:pt x="849051" y="1976613"/>
                </a:cubicBezTo>
                <a:cubicBezTo>
                  <a:pt x="850639" y="2101232"/>
                  <a:pt x="916520" y="2125838"/>
                  <a:pt x="982401" y="2143301"/>
                </a:cubicBezTo>
                <a:cubicBezTo>
                  <a:pt x="981606" y="2027413"/>
                  <a:pt x="1007007" y="1913907"/>
                  <a:pt x="1044313" y="1824213"/>
                </a:cubicBezTo>
                <a:close/>
                <a:moveTo>
                  <a:pt x="1146389" y="1732866"/>
                </a:moveTo>
                <a:cubicBezTo>
                  <a:pt x="1536777" y="1716429"/>
                  <a:pt x="2259533" y="2211218"/>
                  <a:pt x="2823724" y="2265356"/>
                </a:cubicBezTo>
                <a:cubicBezTo>
                  <a:pt x="3163290" y="2309425"/>
                  <a:pt x="3162514" y="2274572"/>
                  <a:pt x="3181724" y="2279127"/>
                </a:cubicBezTo>
                <a:cubicBezTo>
                  <a:pt x="3173302" y="2321259"/>
                  <a:pt x="2879991" y="2312685"/>
                  <a:pt x="2824688" y="2309352"/>
                </a:cubicBezTo>
                <a:cubicBezTo>
                  <a:pt x="2825662" y="2348291"/>
                  <a:pt x="2827323" y="2378705"/>
                  <a:pt x="2825488" y="2419520"/>
                </a:cubicBezTo>
                <a:cubicBezTo>
                  <a:pt x="2825488" y="2496439"/>
                  <a:pt x="2776195" y="2507632"/>
                  <a:pt x="2718326" y="2507632"/>
                </a:cubicBezTo>
                <a:cubicBezTo>
                  <a:pt x="2713566" y="2535413"/>
                  <a:pt x="2725475" y="2577481"/>
                  <a:pt x="2704046" y="2590974"/>
                </a:cubicBezTo>
                <a:cubicBezTo>
                  <a:pt x="2450841" y="2720356"/>
                  <a:pt x="2166680" y="2664000"/>
                  <a:pt x="1937288" y="2640982"/>
                </a:cubicBezTo>
                <a:cubicBezTo>
                  <a:pt x="1762738" y="2598120"/>
                  <a:pt x="1808696" y="2458338"/>
                  <a:pt x="1808696" y="2400469"/>
                </a:cubicBezTo>
                <a:cubicBezTo>
                  <a:pt x="1790439" y="2385630"/>
                  <a:pt x="1757895" y="2392222"/>
                  <a:pt x="1756307" y="2336902"/>
                </a:cubicBezTo>
                <a:cubicBezTo>
                  <a:pt x="1756417" y="2274240"/>
                  <a:pt x="1760029" y="2115081"/>
                  <a:pt x="1771829" y="1969370"/>
                </a:cubicBezTo>
                <a:cubicBezTo>
                  <a:pt x="1758945" y="1959213"/>
                  <a:pt x="1736535" y="1956200"/>
                  <a:pt x="1711744" y="1950805"/>
                </a:cubicBezTo>
                <a:cubicBezTo>
                  <a:pt x="1703530" y="2068162"/>
                  <a:pt x="1686457" y="2216055"/>
                  <a:pt x="1692013" y="2355233"/>
                </a:cubicBezTo>
                <a:cubicBezTo>
                  <a:pt x="1706566" y="2402328"/>
                  <a:pt x="1721119" y="2427993"/>
                  <a:pt x="1749959" y="2446514"/>
                </a:cubicBezTo>
                <a:cubicBezTo>
                  <a:pt x="1558023" y="2446514"/>
                  <a:pt x="1325603" y="2479852"/>
                  <a:pt x="1155099" y="2425083"/>
                </a:cubicBezTo>
                <a:cubicBezTo>
                  <a:pt x="1133535" y="2418601"/>
                  <a:pt x="1123101" y="2404951"/>
                  <a:pt x="1115750" y="2343325"/>
                </a:cubicBezTo>
                <a:cubicBezTo>
                  <a:pt x="1117526" y="2315809"/>
                  <a:pt x="1136786" y="2262341"/>
                  <a:pt x="1068126" y="2283795"/>
                </a:cubicBezTo>
                <a:cubicBezTo>
                  <a:pt x="993514" y="2285779"/>
                  <a:pt x="993909" y="2296075"/>
                  <a:pt x="982400" y="2226645"/>
                </a:cubicBezTo>
                <a:cubicBezTo>
                  <a:pt x="746656" y="2221485"/>
                  <a:pt x="680378" y="1771826"/>
                  <a:pt x="1072888" y="1743251"/>
                </a:cubicBezTo>
                <a:cubicBezTo>
                  <a:pt x="1095814" y="1737329"/>
                  <a:pt x="1120363" y="1733961"/>
                  <a:pt x="1146389" y="1732866"/>
                </a:cubicBezTo>
                <a:close/>
                <a:moveTo>
                  <a:pt x="1503829" y="942357"/>
                </a:moveTo>
                <a:cubicBezTo>
                  <a:pt x="1672640" y="942357"/>
                  <a:pt x="1809488" y="1079205"/>
                  <a:pt x="1809488" y="1248016"/>
                </a:cubicBezTo>
                <a:cubicBezTo>
                  <a:pt x="1809488" y="1367915"/>
                  <a:pt x="1740454" y="1471689"/>
                  <a:pt x="1639408" y="1520643"/>
                </a:cubicBezTo>
                <a:cubicBezTo>
                  <a:pt x="1720888" y="1538571"/>
                  <a:pt x="1794337" y="1577455"/>
                  <a:pt x="1854777" y="1631145"/>
                </a:cubicBezTo>
                <a:cubicBezTo>
                  <a:pt x="1807127" y="1687432"/>
                  <a:pt x="1769942" y="1748571"/>
                  <a:pt x="1744717" y="1818800"/>
                </a:cubicBezTo>
                <a:cubicBezTo>
                  <a:pt x="1513152" y="1706106"/>
                  <a:pt x="1307384" y="1629597"/>
                  <a:pt x="1113358" y="1681426"/>
                </a:cubicBezTo>
                <a:cubicBezTo>
                  <a:pt x="1116013" y="1677595"/>
                  <a:pt x="1119277" y="1673689"/>
                  <a:pt x="1122894" y="1669432"/>
                </a:cubicBezTo>
                <a:cubicBezTo>
                  <a:pt x="1182608" y="1603593"/>
                  <a:pt x="1271865" y="1546616"/>
                  <a:pt x="1371376" y="1522340"/>
                </a:cubicBezTo>
                <a:cubicBezTo>
                  <a:pt x="1268674" y="1473885"/>
                  <a:pt x="1198170" y="1369184"/>
                  <a:pt x="1198170" y="1248016"/>
                </a:cubicBezTo>
                <a:cubicBezTo>
                  <a:pt x="1198170" y="1079205"/>
                  <a:pt x="1335018" y="942357"/>
                  <a:pt x="1503829" y="942357"/>
                </a:cubicBezTo>
                <a:close/>
                <a:moveTo>
                  <a:pt x="2257163" y="852002"/>
                </a:moveTo>
                <a:cubicBezTo>
                  <a:pt x="2455308" y="852002"/>
                  <a:pt x="2615937" y="1012631"/>
                  <a:pt x="2615937" y="1210776"/>
                </a:cubicBezTo>
                <a:cubicBezTo>
                  <a:pt x="2615937" y="1348850"/>
                  <a:pt x="2537939" y="1468708"/>
                  <a:pt x="2422835" y="1527232"/>
                </a:cubicBezTo>
                <a:cubicBezTo>
                  <a:pt x="2482442" y="1537663"/>
                  <a:pt x="2537381" y="1561603"/>
                  <a:pt x="2584724" y="1595613"/>
                </a:cubicBezTo>
                <a:cubicBezTo>
                  <a:pt x="2664965" y="1654765"/>
                  <a:pt x="2725793" y="1751248"/>
                  <a:pt x="2765173" y="1875948"/>
                </a:cubicBezTo>
                <a:cubicBezTo>
                  <a:pt x="2866662" y="1848546"/>
                  <a:pt x="3003161" y="1750282"/>
                  <a:pt x="3125526" y="1583707"/>
                </a:cubicBezTo>
                <a:cubicBezTo>
                  <a:pt x="3147751" y="1636095"/>
                  <a:pt x="2929469" y="1905176"/>
                  <a:pt x="2785008" y="1931370"/>
                </a:cubicBezTo>
                <a:cubicBezTo>
                  <a:pt x="2797896" y="2030096"/>
                  <a:pt x="2825071" y="2119296"/>
                  <a:pt x="2823672" y="2227547"/>
                </a:cubicBezTo>
                <a:cubicBezTo>
                  <a:pt x="2424531" y="2172907"/>
                  <a:pt x="2093899" y="1989358"/>
                  <a:pt x="1804167" y="1847281"/>
                </a:cubicBezTo>
                <a:cubicBezTo>
                  <a:pt x="1846994" y="1697123"/>
                  <a:pt x="1957836" y="1574770"/>
                  <a:pt x="2106803" y="1535543"/>
                </a:cubicBezTo>
                <a:cubicBezTo>
                  <a:pt x="1983572" y="1479468"/>
                  <a:pt x="1898389" y="1355069"/>
                  <a:pt x="1898389" y="1210776"/>
                </a:cubicBezTo>
                <a:cubicBezTo>
                  <a:pt x="1898389" y="1012631"/>
                  <a:pt x="2059018" y="852002"/>
                  <a:pt x="2257163" y="852002"/>
                </a:cubicBezTo>
                <a:close/>
                <a:moveTo>
                  <a:pt x="199040" y="752858"/>
                </a:moveTo>
                <a:lnTo>
                  <a:pt x="199040" y="2908076"/>
                </a:lnTo>
                <a:lnTo>
                  <a:pt x="3791413" y="2908076"/>
                </a:lnTo>
                <a:lnTo>
                  <a:pt x="3791413" y="752858"/>
                </a:lnTo>
                <a:close/>
                <a:moveTo>
                  <a:pt x="182159" y="547131"/>
                </a:moveTo>
                <a:lnTo>
                  <a:pt x="3808294" y="547131"/>
                </a:lnTo>
                <a:cubicBezTo>
                  <a:pt x="3908897" y="547131"/>
                  <a:pt x="3990453" y="628687"/>
                  <a:pt x="3990453" y="729290"/>
                </a:cubicBezTo>
                <a:lnTo>
                  <a:pt x="3990453" y="2925195"/>
                </a:lnTo>
                <a:cubicBezTo>
                  <a:pt x="3990453" y="3025798"/>
                  <a:pt x="3908897" y="3107352"/>
                  <a:pt x="3808294" y="3107352"/>
                </a:cubicBezTo>
                <a:lnTo>
                  <a:pt x="182159" y="3107352"/>
                </a:lnTo>
                <a:cubicBezTo>
                  <a:pt x="81556" y="3107352"/>
                  <a:pt x="0" y="3025798"/>
                  <a:pt x="0" y="2925195"/>
                </a:cubicBezTo>
                <a:lnTo>
                  <a:pt x="0" y="729290"/>
                </a:lnTo>
                <a:cubicBezTo>
                  <a:pt x="0" y="628687"/>
                  <a:pt x="81556" y="547131"/>
                  <a:pt x="182159" y="547131"/>
                </a:cubicBezTo>
                <a:close/>
                <a:moveTo>
                  <a:pt x="3005386" y="243747"/>
                </a:moveTo>
                <a:lnTo>
                  <a:pt x="3005386" y="275647"/>
                </a:lnTo>
                <a:lnTo>
                  <a:pt x="3183153" y="275647"/>
                </a:lnTo>
                <a:lnTo>
                  <a:pt x="3183153" y="243747"/>
                </a:lnTo>
                <a:close/>
                <a:moveTo>
                  <a:pt x="3300679" y="145624"/>
                </a:moveTo>
                <a:lnTo>
                  <a:pt x="3402631" y="145624"/>
                </a:lnTo>
                <a:lnTo>
                  <a:pt x="3402631" y="247578"/>
                </a:lnTo>
                <a:lnTo>
                  <a:pt x="3300679" y="247578"/>
                </a:lnTo>
                <a:close/>
                <a:moveTo>
                  <a:pt x="3272608" y="117555"/>
                </a:moveTo>
                <a:lnTo>
                  <a:pt x="3272608" y="275647"/>
                </a:lnTo>
                <a:lnTo>
                  <a:pt x="3430700" y="275647"/>
                </a:lnTo>
                <a:lnTo>
                  <a:pt x="3430700" y="117555"/>
                </a:lnTo>
                <a:close/>
                <a:moveTo>
                  <a:pt x="3590754" y="103106"/>
                </a:moveTo>
                <a:lnTo>
                  <a:pt x="3557180" y="133327"/>
                </a:lnTo>
                <a:lnTo>
                  <a:pt x="3616978" y="199761"/>
                </a:lnTo>
                <a:lnTo>
                  <a:pt x="3550543" y="259559"/>
                </a:lnTo>
                <a:lnTo>
                  <a:pt x="3580764" y="293135"/>
                </a:lnTo>
                <a:lnTo>
                  <a:pt x="3647199" y="233335"/>
                </a:lnTo>
                <a:lnTo>
                  <a:pt x="3706998" y="299771"/>
                </a:lnTo>
                <a:lnTo>
                  <a:pt x="3740572" y="269549"/>
                </a:lnTo>
                <a:lnTo>
                  <a:pt x="3680774" y="203114"/>
                </a:lnTo>
                <a:lnTo>
                  <a:pt x="3747209" y="143317"/>
                </a:lnTo>
                <a:lnTo>
                  <a:pt x="3716988" y="109743"/>
                </a:lnTo>
                <a:lnTo>
                  <a:pt x="3650554" y="169541"/>
                </a:lnTo>
                <a:close/>
                <a:moveTo>
                  <a:pt x="190912" y="0"/>
                </a:moveTo>
                <a:lnTo>
                  <a:pt x="2858630" y="0"/>
                </a:lnTo>
                <a:lnTo>
                  <a:pt x="3799541" y="0"/>
                </a:lnTo>
                <a:lnTo>
                  <a:pt x="3815584" y="0"/>
                </a:lnTo>
                <a:lnTo>
                  <a:pt x="3815584" y="1618"/>
                </a:lnTo>
                <a:cubicBezTo>
                  <a:pt x="3913556" y="8856"/>
                  <a:pt x="3990453" y="90904"/>
                  <a:pt x="3990453" y="190912"/>
                </a:cubicBezTo>
                <a:lnTo>
                  <a:pt x="3990453" y="492263"/>
                </a:lnTo>
                <a:lnTo>
                  <a:pt x="3988177" y="489851"/>
                </a:lnTo>
                <a:cubicBezTo>
                  <a:pt x="3984130" y="436334"/>
                  <a:pt x="3938977" y="394796"/>
                  <a:pt x="3884122" y="394796"/>
                </a:cubicBezTo>
                <a:lnTo>
                  <a:pt x="1015383" y="394796"/>
                </a:lnTo>
                <a:lnTo>
                  <a:pt x="321519" y="392958"/>
                </a:lnTo>
                <a:lnTo>
                  <a:pt x="270175" y="394796"/>
                </a:lnTo>
                <a:lnTo>
                  <a:pt x="106331" y="394796"/>
                </a:lnTo>
                <a:cubicBezTo>
                  <a:pt x="51497" y="394796"/>
                  <a:pt x="6359" y="436302"/>
                  <a:pt x="2288" y="489790"/>
                </a:cubicBezTo>
                <a:cubicBezTo>
                  <a:pt x="1319" y="490456"/>
                  <a:pt x="656" y="491357"/>
                  <a:pt x="0" y="492263"/>
                </a:cubicBezTo>
                <a:lnTo>
                  <a:pt x="0" y="190912"/>
                </a:lnTo>
                <a:cubicBezTo>
                  <a:pt x="0" y="85475"/>
                  <a:pt x="85475" y="0"/>
                  <a:pt x="190912"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defTabSz="914292">
              <a:defRPr/>
            </a:pPr>
            <a:endParaRPr lang="en-US" sz="1200">
              <a:solidFill>
                <a:prstClr val="white"/>
              </a:solidFill>
              <a:latin typeface="Segoe UI"/>
            </a:endParaRPr>
          </a:p>
        </p:txBody>
      </p:sp>
      <p:grpSp>
        <p:nvGrpSpPr>
          <p:cNvPr id="97" name="Group 96">
            <a:extLst>
              <a:ext uri="{FF2B5EF4-FFF2-40B4-BE49-F238E27FC236}">
                <a16:creationId xmlns:a16="http://schemas.microsoft.com/office/drawing/2014/main" id="{9A1FFD91-DECA-454B-AC8B-98569275A1F0}"/>
              </a:ext>
            </a:extLst>
          </p:cNvPr>
          <p:cNvGrpSpPr/>
          <p:nvPr/>
        </p:nvGrpSpPr>
        <p:grpSpPr>
          <a:xfrm>
            <a:off x="304033" y="4761986"/>
            <a:ext cx="11580758" cy="1914268"/>
            <a:chOff x="303212" y="4677426"/>
            <a:chExt cx="11243879" cy="2054765"/>
          </a:xfrm>
        </p:grpSpPr>
        <p:grpSp>
          <p:nvGrpSpPr>
            <p:cNvPr id="98" name="Group 97">
              <a:extLst>
                <a:ext uri="{FF2B5EF4-FFF2-40B4-BE49-F238E27FC236}">
                  <a16:creationId xmlns:a16="http://schemas.microsoft.com/office/drawing/2014/main" id="{958CD5F5-CA13-4646-B867-BD03A3BDE20B}"/>
                </a:ext>
              </a:extLst>
            </p:cNvPr>
            <p:cNvGrpSpPr/>
            <p:nvPr/>
          </p:nvGrpSpPr>
          <p:grpSpPr>
            <a:xfrm>
              <a:off x="303212" y="4677426"/>
              <a:ext cx="2858806" cy="2051458"/>
              <a:chOff x="303212" y="4677426"/>
              <a:chExt cx="2858806" cy="2051458"/>
            </a:xfrm>
          </p:grpSpPr>
          <p:sp>
            <p:nvSpPr>
              <p:cNvPr id="108" name="Text Box 4">
                <a:extLst>
                  <a:ext uri="{FF2B5EF4-FFF2-40B4-BE49-F238E27FC236}">
                    <a16:creationId xmlns:a16="http://schemas.microsoft.com/office/drawing/2014/main" id="{DF56543A-BC55-41CE-AAC8-962E5A1BA2BE}"/>
                  </a:ext>
                </a:extLst>
              </p:cNvPr>
              <p:cNvSpPr txBox="1">
                <a:spLocks noChangeArrowheads="1"/>
              </p:cNvSpPr>
              <p:nvPr/>
            </p:nvSpPr>
            <p:spPr bwMode="gray">
              <a:xfrm>
                <a:off x="303212" y="4951746"/>
                <a:ext cx="2858806" cy="1777138"/>
              </a:xfrm>
              <a:prstGeom prst="rect">
                <a:avLst/>
              </a:prstGeom>
              <a:solidFill>
                <a:sysClr val="window" lastClr="FFFFFF">
                  <a:lumMod val="95000"/>
                </a:sysClr>
              </a:solidFill>
              <a:ln w="3175" cap="flat" cmpd="sng" algn="ctr">
                <a:noFill/>
                <a:prstDash val="solid"/>
              </a:ln>
              <a:effectLst/>
            </p:spPr>
            <p:txBody>
              <a:bodyPr lIns="91427" tIns="45714" rIns="91427" bIns="45714" rtlCol="0" anchor="t">
                <a:noAutofit/>
              </a:bodyPr>
              <a:lstStyle>
                <a:defPPr>
                  <a:defRPr lang="en-US"/>
                </a:defPPr>
                <a:lvl1pPr defTabSz="685645">
                  <a:defRPr sz="800">
                    <a:ln>
                      <a:solidFill>
                        <a:schemeClr val="bg1">
                          <a:alpha val="0"/>
                        </a:schemeClr>
                      </a:solidFill>
                    </a:ln>
                    <a:solidFill>
                      <a:schemeClr val="tx1">
                        <a:lumMod val="75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36525" indent="-136525">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Position partnership rapidly at a key time for biodiversity issue</a:t>
                </a:r>
                <a:endParaRPr lang="en-US"/>
              </a:p>
              <a:p>
                <a:pPr marL="136525" indent="-136525">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Engage friendly clients to gain feedback and design MVP GTM per sub sector</a:t>
                </a:r>
                <a:endParaRPr lang="en-US" sz="1050" dirty="0">
                  <a:ln>
                    <a:noFill/>
                  </a:ln>
                  <a:solidFill>
                    <a:srgbClr val="505050"/>
                  </a:solidFill>
                  <a:latin typeface="Segoe UI"/>
                  <a:cs typeface="Segoe UI"/>
                </a:endParaRPr>
              </a:p>
              <a:p>
                <a:pPr marL="136525" indent="-136525">
                  <a:spcBef>
                    <a:spcPts val="100"/>
                  </a:spcBef>
                  <a:spcAft>
                    <a:spcPts val="100"/>
                  </a:spcAft>
                  <a:buFont typeface="Arial" panose="020B0604020202020204" pitchFamily="34" charset="0"/>
                  <a:buChar char="•"/>
                  <a:defRPr/>
                </a:pPr>
                <a:endParaRPr lang="en-US" sz="1050" dirty="0">
                  <a:ln>
                    <a:noFill/>
                  </a:ln>
                  <a:solidFill>
                    <a:srgbClr val="505050"/>
                  </a:solidFill>
                  <a:latin typeface="Segoe UI"/>
                  <a:cs typeface="Segoe UI"/>
                </a:endParaRPr>
              </a:p>
            </p:txBody>
          </p:sp>
          <p:sp>
            <p:nvSpPr>
              <p:cNvPr id="109" name="Rectangle 108">
                <a:extLst>
                  <a:ext uri="{FF2B5EF4-FFF2-40B4-BE49-F238E27FC236}">
                    <a16:creationId xmlns:a16="http://schemas.microsoft.com/office/drawing/2014/main" id="{272055B3-AF4E-4E7A-AC6A-3734D69716DC}"/>
                  </a:ext>
                </a:extLst>
              </p:cNvPr>
              <p:cNvSpPr/>
              <p:nvPr/>
            </p:nvSpPr>
            <p:spPr>
              <a:xfrm>
                <a:off x="303212" y="4677426"/>
                <a:ext cx="2858806" cy="274320"/>
              </a:xfrm>
              <a:prstGeom prst="rect">
                <a:avLst/>
              </a:prstGeom>
              <a:solidFill>
                <a:srgbClr val="002050"/>
              </a:solidFill>
              <a:ln w="3175" cap="flat" cmpd="sng" algn="ctr">
                <a:noFill/>
                <a:prstDash val="solid"/>
              </a:ln>
              <a:effectLst/>
            </p:spPr>
            <p:txBody>
              <a:bodyPr wrap="square" lIns="91427" tIns="45714" rIns="91427" bIns="45714" rtlCol="0" anchor="ctr">
                <a:noAutofit/>
              </a:bodyPr>
              <a:lstStyle/>
              <a:p>
                <a:pPr lvl="1" algn="ctr" defTabSz="1218009" fontAlgn="base">
                  <a:buClr>
                    <a:srgbClr val="FFFF99"/>
                  </a:buClr>
                  <a:buSzPct val="90000"/>
                  <a:defRPr/>
                </a:pPr>
                <a:r>
                  <a:rPr lang="en-US" sz="1200">
                    <a:solidFill>
                      <a:srgbClr val="FFFFFF"/>
                    </a:solidFill>
                    <a:latin typeface="Segoe UI Semibold" panose="020B0702040204020203" pitchFamily="34" charset="0"/>
                    <a:ea typeface="Segoe UI" pitchFamily="34" charset="0"/>
                    <a:cs typeface="Segoe UI" pitchFamily="34" charset="0"/>
                  </a:rPr>
                  <a:t>Benefits</a:t>
                </a:r>
              </a:p>
            </p:txBody>
          </p:sp>
        </p:grpSp>
        <p:grpSp>
          <p:nvGrpSpPr>
            <p:cNvPr id="99" name="Group 98">
              <a:extLst>
                <a:ext uri="{FF2B5EF4-FFF2-40B4-BE49-F238E27FC236}">
                  <a16:creationId xmlns:a16="http://schemas.microsoft.com/office/drawing/2014/main" id="{7CFB387D-CD0E-49EB-B81F-615FDA363143}"/>
                </a:ext>
              </a:extLst>
            </p:cNvPr>
            <p:cNvGrpSpPr/>
            <p:nvPr/>
          </p:nvGrpSpPr>
          <p:grpSpPr>
            <a:xfrm>
              <a:off x="3221455" y="4677426"/>
              <a:ext cx="2678716" cy="2054765"/>
              <a:chOff x="3391166" y="4677426"/>
              <a:chExt cx="2678716" cy="2054765"/>
            </a:xfrm>
          </p:grpSpPr>
          <p:sp>
            <p:nvSpPr>
              <p:cNvPr id="106" name="Text Box 4">
                <a:extLst>
                  <a:ext uri="{FF2B5EF4-FFF2-40B4-BE49-F238E27FC236}">
                    <a16:creationId xmlns:a16="http://schemas.microsoft.com/office/drawing/2014/main" id="{AE5EF93D-2469-4ED1-A927-678175CC8551}"/>
                  </a:ext>
                </a:extLst>
              </p:cNvPr>
              <p:cNvSpPr txBox="1">
                <a:spLocks noChangeArrowheads="1"/>
              </p:cNvSpPr>
              <p:nvPr/>
            </p:nvSpPr>
            <p:spPr bwMode="gray">
              <a:xfrm>
                <a:off x="3391166" y="4951747"/>
                <a:ext cx="2678716" cy="1780444"/>
              </a:xfrm>
              <a:prstGeom prst="rect">
                <a:avLst/>
              </a:prstGeom>
              <a:solidFill>
                <a:sysClr val="window" lastClr="FFFFFF">
                  <a:lumMod val="95000"/>
                </a:sysClr>
              </a:solidFill>
              <a:ln w="3175" cap="flat" cmpd="sng" algn="ctr">
                <a:noFill/>
                <a:prstDash val="solid"/>
              </a:ln>
              <a:effectLst/>
            </p:spPr>
            <p:txBody>
              <a:bodyPr lIns="91427" tIns="45714" rIns="91427" bIns="45714" rtlCol="0" anchor="t">
                <a:noAutofit/>
              </a:bodyPr>
              <a:lstStyle>
                <a:defPPr>
                  <a:defRPr lang="en-US"/>
                </a:defPPr>
                <a:lvl1pPr defTabSz="685645">
                  <a:defRPr sz="800">
                    <a:ln>
                      <a:solidFill>
                        <a:schemeClr val="bg1">
                          <a:alpha val="0"/>
                        </a:schemeClr>
                      </a:solidFill>
                    </a:ln>
                    <a:solidFill>
                      <a:schemeClr val="tx1">
                        <a:lumMod val="75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Firm up underpinning strategy and criteria upfront. Evolve as we learn.</a:t>
                </a:r>
              </a:p>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Focus on simplification….all the time. </a:t>
                </a:r>
              </a:p>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Share data, as best we can to get the most from partners</a:t>
                </a:r>
              </a:p>
            </p:txBody>
          </p:sp>
          <p:sp>
            <p:nvSpPr>
              <p:cNvPr id="107" name="Rectangle 106">
                <a:extLst>
                  <a:ext uri="{FF2B5EF4-FFF2-40B4-BE49-F238E27FC236}">
                    <a16:creationId xmlns:a16="http://schemas.microsoft.com/office/drawing/2014/main" id="{4236A8BB-2710-417F-8281-A89799DF8342}"/>
                  </a:ext>
                </a:extLst>
              </p:cNvPr>
              <p:cNvSpPr/>
              <p:nvPr/>
            </p:nvSpPr>
            <p:spPr>
              <a:xfrm>
                <a:off x="3391166" y="4677426"/>
                <a:ext cx="2678716" cy="274320"/>
              </a:xfrm>
              <a:prstGeom prst="rect">
                <a:avLst/>
              </a:prstGeom>
              <a:solidFill>
                <a:srgbClr val="0072C6"/>
              </a:solidFill>
              <a:ln w="3175" cap="flat" cmpd="sng" algn="ctr">
                <a:noFill/>
                <a:prstDash val="solid"/>
              </a:ln>
              <a:effectLst/>
            </p:spPr>
            <p:txBody>
              <a:bodyPr wrap="square" lIns="91427" tIns="45714" rIns="91427" bIns="45714" rtlCol="0" anchor="ctr">
                <a:noAutofit/>
              </a:bodyPr>
              <a:lstStyle/>
              <a:p>
                <a:pPr lvl="1" algn="ctr" defTabSz="1218009" fontAlgn="base">
                  <a:spcBef>
                    <a:spcPts val="200"/>
                  </a:spcBef>
                  <a:buClr>
                    <a:srgbClr val="FFFF99"/>
                  </a:buClr>
                  <a:buSzPct val="90000"/>
                  <a:defRPr/>
                </a:pPr>
                <a:r>
                  <a:rPr lang="en-US" sz="1200">
                    <a:solidFill>
                      <a:srgbClr val="FFFFFF"/>
                    </a:solidFill>
                    <a:latin typeface="Segoe UI Semibold" panose="020B0702040204020203" pitchFamily="34" charset="0"/>
                    <a:ea typeface="Segoe UI" pitchFamily="34" charset="0"/>
                    <a:cs typeface="Segoe UI" pitchFamily="34" charset="0"/>
                  </a:rPr>
                  <a:t>Start </a:t>
                </a:r>
              </a:p>
            </p:txBody>
          </p:sp>
        </p:grpSp>
        <p:grpSp>
          <p:nvGrpSpPr>
            <p:cNvPr id="100" name="Group 99">
              <a:extLst>
                <a:ext uri="{FF2B5EF4-FFF2-40B4-BE49-F238E27FC236}">
                  <a16:creationId xmlns:a16="http://schemas.microsoft.com/office/drawing/2014/main" id="{17F6CDA1-57C4-45D9-BEC9-111B6F65AE20}"/>
                </a:ext>
              </a:extLst>
            </p:cNvPr>
            <p:cNvGrpSpPr/>
            <p:nvPr/>
          </p:nvGrpSpPr>
          <p:grpSpPr>
            <a:xfrm>
              <a:off x="5959608" y="4677426"/>
              <a:ext cx="2669241" cy="2054765"/>
              <a:chOff x="6118941" y="4677426"/>
              <a:chExt cx="2669241" cy="2054765"/>
            </a:xfrm>
          </p:grpSpPr>
          <p:sp>
            <p:nvSpPr>
              <p:cNvPr id="104" name="Text Box 4">
                <a:extLst>
                  <a:ext uri="{FF2B5EF4-FFF2-40B4-BE49-F238E27FC236}">
                    <a16:creationId xmlns:a16="http://schemas.microsoft.com/office/drawing/2014/main" id="{CEF995FF-EFB3-43EB-8158-D943723216EC}"/>
                  </a:ext>
                </a:extLst>
              </p:cNvPr>
              <p:cNvSpPr txBox="1">
                <a:spLocks noChangeArrowheads="1"/>
              </p:cNvSpPr>
              <p:nvPr/>
            </p:nvSpPr>
            <p:spPr bwMode="gray">
              <a:xfrm>
                <a:off x="6118941" y="4951747"/>
                <a:ext cx="2669241" cy="1780444"/>
              </a:xfrm>
              <a:prstGeom prst="rect">
                <a:avLst/>
              </a:prstGeom>
              <a:solidFill>
                <a:sysClr val="window" lastClr="FFFFFF">
                  <a:lumMod val="95000"/>
                </a:sysClr>
              </a:solidFill>
              <a:ln w="3175" cap="flat" cmpd="sng" algn="ctr">
                <a:noFill/>
                <a:prstDash val="solid"/>
              </a:ln>
              <a:effectLst/>
            </p:spPr>
            <p:txBody>
              <a:bodyPr lIns="91427" tIns="45714" rIns="91427" bIns="45714" rtlCol="0" anchor="t">
                <a:noAutofit/>
              </a:bodyPr>
              <a:lstStyle>
                <a:defPPr>
                  <a:defRPr lang="en-US"/>
                </a:defPPr>
                <a:lvl1pPr defTabSz="685645">
                  <a:defRPr sz="800">
                    <a:ln>
                      <a:solidFill>
                        <a:schemeClr val="bg1">
                          <a:alpha val="0"/>
                        </a:schemeClr>
                      </a:solidFill>
                    </a:ln>
                    <a:solidFill>
                      <a:schemeClr val="tx1">
                        <a:lumMod val="75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Client confusion and lack of direction</a:t>
                </a:r>
              </a:p>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Decision making without scientific peer reviewed data</a:t>
                </a:r>
              </a:p>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Client making risk decisions without taking into account biodiversity</a:t>
                </a:r>
              </a:p>
              <a:p>
                <a:pPr marL="137149" indent="-137149">
                  <a:spcBef>
                    <a:spcPts val="100"/>
                  </a:spcBef>
                  <a:spcAft>
                    <a:spcPts val="100"/>
                  </a:spcAft>
                  <a:buFont typeface="Arial" panose="020B0604020202020204" pitchFamily="34" charset="0"/>
                  <a:buChar char="•"/>
                  <a:defRPr/>
                </a:pPr>
                <a:endParaRPr lang="en-US" sz="1050" dirty="0">
                  <a:ln>
                    <a:noFill/>
                  </a:ln>
                  <a:solidFill>
                    <a:srgbClr val="505050"/>
                  </a:solidFill>
                  <a:latin typeface="Segoe UI"/>
                </a:endParaRPr>
              </a:p>
            </p:txBody>
          </p:sp>
          <p:sp>
            <p:nvSpPr>
              <p:cNvPr id="105" name="Rectangle 104">
                <a:extLst>
                  <a:ext uri="{FF2B5EF4-FFF2-40B4-BE49-F238E27FC236}">
                    <a16:creationId xmlns:a16="http://schemas.microsoft.com/office/drawing/2014/main" id="{D97C9F33-7748-4334-A471-F1750C5EF67C}"/>
                  </a:ext>
                </a:extLst>
              </p:cNvPr>
              <p:cNvSpPr/>
              <p:nvPr/>
            </p:nvSpPr>
            <p:spPr>
              <a:xfrm>
                <a:off x="6118941" y="4677426"/>
                <a:ext cx="2669241" cy="274320"/>
              </a:xfrm>
              <a:prstGeom prst="rect">
                <a:avLst/>
              </a:prstGeom>
              <a:solidFill>
                <a:srgbClr val="7FBA00"/>
              </a:solidFill>
              <a:ln w="3175" cap="flat" cmpd="sng" algn="ctr">
                <a:noFill/>
                <a:prstDash val="solid"/>
              </a:ln>
              <a:effectLst/>
            </p:spPr>
            <p:txBody>
              <a:bodyPr wrap="square" lIns="91427" tIns="45714" rIns="91427" bIns="45714" rtlCol="0" anchor="ctr">
                <a:noAutofit/>
              </a:bodyPr>
              <a:lstStyle/>
              <a:p>
                <a:pPr lvl="1" algn="ctr" defTabSz="1218009" fontAlgn="base">
                  <a:spcBef>
                    <a:spcPts val="200"/>
                  </a:spcBef>
                  <a:buClr>
                    <a:srgbClr val="FFFF99"/>
                  </a:buClr>
                  <a:buSzPct val="90000"/>
                  <a:defRPr/>
                </a:pPr>
                <a:r>
                  <a:rPr lang="en-US" sz="1200">
                    <a:solidFill>
                      <a:srgbClr val="FFFFFF"/>
                    </a:solidFill>
                    <a:latin typeface="Segoe UI Semibold" panose="020B0702040204020203" pitchFamily="34" charset="0"/>
                    <a:ea typeface="Segoe UI" pitchFamily="34" charset="0"/>
                    <a:cs typeface="Segoe UI" pitchFamily="34" charset="0"/>
                  </a:rPr>
                  <a:t>Stop</a:t>
                </a:r>
              </a:p>
            </p:txBody>
          </p:sp>
        </p:grpSp>
        <p:grpSp>
          <p:nvGrpSpPr>
            <p:cNvPr id="101" name="Group 100">
              <a:extLst>
                <a:ext uri="{FF2B5EF4-FFF2-40B4-BE49-F238E27FC236}">
                  <a16:creationId xmlns:a16="http://schemas.microsoft.com/office/drawing/2014/main" id="{F77095A0-2405-41E5-B255-34D1E2DCE6E6}"/>
                </a:ext>
              </a:extLst>
            </p:cNvPr>
            <p:cNvGrpSpPr/>
            <p:nvPr/>
          </p:nvGrpSpPr>
          <p:grpSpPr>
            <a:xfrm>
              <a:off x="8688285" y="4677426"/>
              <a:ext cx="2858806" cy="2054765"/>
              <a:chOff x="9026806" y="4677426"/>
              <a:chExt cx="2858806" cy="2054765"/>
            </a:xfrm>
          </p:grpSpPr>
          <p:sp>
            <p:nvSpPr>
              <p:cNvPr id="102" name="Text Box 4">
                <a:extLst>
                  <a:ext uri="{FF2B5EF4-FFF2-40B4-BE49-F238E27FC236}">
                    <a16:creationId xmlns:a16="http://schemas.microsoft.com/office/drawing/2014/main" id="{667E4947-3302-49AB-9F84-3F3461CCFF2B}"/>
                  </a:ext>
                </a:extLst>
              </p:cNvPr>
              <p:cNvSpPr txBox="1">
                <a:spLocks noChangeArrowheads="1"/>
              </p:cNvSpPr>
              <p:nvPr/>
            </p:nvSpPr>
            <p:spPr bwMode="gray">
              <a:xfrm>
                <a:off x="9026806" y="4951747"/>
                <a:ext cx="2858806" cy="1780444"/>
              </a:xfrm>
              <a:prstGeom prst="rect">
                <a:avLst/>
              </a:prstGeom>
              <a:solidFill>
                <a:sysClr val="window" lastClr="FFFFFF">
                  <a:lumMod val="95000"/>
                </a:sysClr>
              </a:solidFill>
              <a:ln w="3175" cap="flat" cmpd="sng" algn="ctr">
                <a:noFill/>
                <a:prstDash val="solid"/>
              </a:ln>
              <a:effectLst/>
            </p:spPr>
            <p:txBody>
              <a:bodyPr lIns="91427" tIns="45714" rIns="91427" bIns="45714" rtlCol="0" anchor="t">
                <a:noAutofit/>
              </a:bodyPr>
              <a:lstStyle>
                <a:defPPr>
                  <a:defRPr lang="en-US"/>
                </a:defPPr>
                <a:lvl1pPr defTabSz="685645">
                  <a:defRPr sz="800">
                    <a:ln>
                      <a:solidFill>
                        <a:schemeClr val="bg1">
                          <a:alpha val="0"/>
                        </a:schemeClr>
                      </a:solidFill>
                    </a:ln>
                    <a:solidFill>
                      <a:schemeClr val="tx1">
                        <a:lumMod val="75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Bringing best advice to clients through trusted relationships</a:t>
                </a:r>
              </a:p>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Bring best in class partnerships</a:t>
                </a:r>
              </a:p>
              <a:p>
                <a:pPr marL="137149" indent="-137149">
                  <a:spcBef>
                    <a:spcPts val="100"/>
                  </a:spcBef>
                  <a:spcAft>
                    <a:spcPts val="100"/>
                  </a:spcAft>
                  <a:buFont typeface="Arial" panose="020B0604020202020204" pitchFamily="34" charset="0"/>
                  <a:buChar char="•"/>
                  <a:defRPr/>
                </a:pPr>
                <a:r>
                  <a:rPr lang="en-US" sz="1050" dirty="0">
                    <a:ln>
                      <a:noFill/>
                    </a:ln>
                    <a:solidFill>
                      <a:srgbClr val="505050"/>
                    </a:solidFill>
                    <a:latin typeface="Segoe UI"/>
                  </a:rPr>
                  <a:t>Improving triple bottom line, People, profit and planet</a:t>
                </a:r>
              </a:p>
            </p:txBody>
          </p:sp>
          <p:sp>
            <p:nvSpPr>
              <p:cNvPr id="103" name="Rectangle 102">
                <a:extLst>
                  <a:ext uri="{FF2B5EF4-FFF2-40B4-BE49-F238E27FC236}">
                    <a16:creationId xmlns:a16="http://schemas.microsoft.com/office/drawing/2014/main" id="{7E0A15BF-C4E8-46A3-B4C5-EC7FC6E35291}"/>
                  </a:ext>
                </a:extLst>
              </p:cNvPr>
              <p:cNvSpPr/>
              <p:nvPr/>
            </p:nvSpPr>
            <p:spPr>
              <a:xfrm>
                <a:off x="9026806" y="4677426"/>
                <a:ext cx="2858806" cy="274320"/>
              </a:xfrm>
              <a:prstGeom prst="rect">
                <a:avLst/>
              </a:prstGeom>
              <a:solidFill>
                <a:srgbClr val="FFB900"/>
              </a:solidFill>
              <a:ln w="3175" cap="flat" cmpd="sng" algn="ctr">
                <a:noFill/>
                <a:prstDash val="solid"/>
              </a:ln>
              <a:effectLst/>
            </p:spPr>
            <p:txBody>
              <a:bodyPr wrap="square" lIns="91427" tIns="45714" rIns="91427" bIns="45714" rtlCol="0" anchor="ctr">
                <a:noAutofit/>
              </a:bodyPr>
              <a:lstStyle/>
              <a:p>
                <a:pPr lvl="1" algn="ctr" defTabSz="1218009" fontAlgn="base">
                  <a:spcBef>
                    <a:spcPts val="200"/>
                  </a:spcBef>
                  <a:buClr>
                    <a:srgbClr val="FFFF99"/>
                  </a:buClr>
                  <a:buSzPct val="90000"/>
                  <a:defRPr/>
                </a:pPr>
                <a:r>
                  <a:rPr lang="en-US" sz="1200">
                    <a:solidFill>
                      <a:sysClr val="windowText" lastClr="000000"/>
                    </a:solidFill>
                    <a:latin typeface="Segoe UI Semibold" panose="020B0702040204020203" pitchFamily="34" charset="0"/>
                    <a:ea typeface="Segoe UI" pitchFamily="34" charset="0"/>
                    <a:cs typeface="Segoe UI" pitchFamily="34" charset="0"/>
                  </a:rPr>
                  <a:t>Continue</a:t>
                </a:r>
              </a:p>
            </p:txBody>
          </p:sp>
        </p:grpSp>
      </p:grpSp>
      <p:sp>
        <p:nvSpPr>
          <p:cNvPr id="15" name="Callout: Bent Line with Accent Bar 14">
            <a:extLst>
              <a:ext uri="{FF2B5EF4-FFF2-40B4-BE49-F238E27FC236}">
                <a16:creationId xmlns:a16="http://schemas.microsoft.com/office/drawing/2014/main" id="{6889D3DB-10BC-4E53-A213-EC279B30DC80}"/>
              </a:ext>
            </a:extLst>
          </p:cNvPr>
          <p:cNvSpPr/>
          <p:nvPr/>
        </p:nvSpPr>
        <p:spPr bwMode="auto">
          <a:xfrm>
            <a:off x="3978226" y="2017150"/>
            <a:ext cx="1553035" cy="705925"/>
          </a:xfrm>
          <a:prstGeom prst="accentCallout2">
            <a:avLst>
              <a:gd name="adj1" fmla="val 69141"/>
              <a:gd name="adj2" fmla="val -8837"/>
              <a:gd name="adj3" fmla="val 96352"/>
              <a:gd name="adj4" fmla="val -32792"/>
              <a:gd name="adj5" fmla="val 145758"/>
              <a:gd name="adj6" fmla="val -68839"/>
            </a:avLst>
          </a:prstGeom>
          <a:solidFill>
            <a:schemeClr val="tx1">
              <a:lumMod val="20000"/>
              <a:lumOff val="80000"/>
            </a:schemeClr>
          </a:solid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70585" rIns="179285" bIns="143428" numCol="1" spcCol="0" rtlCol="0" fromWordArt="0" anchor="t" anchorCtr="0" forceAA="0" compatLnSpc="1">
            <a:prstTxWarp prst="textNoShape">
              <a:avLst/>
            </a:prstTxWarp>
            <a:noAutofit/>
          </a:bodyPr>
          <a:lstStyle/>
          <a:p>
            <a:pPr algn="ctr" defTabSz="914205" fontAlgn="base">
              <a:lnSpc>
                <a:spcPct val="90000"/>
              </a:lnSpc>
              <a:spcBef>
                <a:spcPct val="0"/>
              </a:spcBef>
              <a:spcAft>
                <a:spcPct val="0"/>
              </a:spcAft>
            </a:pPr>
            <a:r>
              <a:rPr lang="en-US" sz="1079">
                <a:solidFill>
                  <a:schemeClr val="tx1">
                    <a:lumMod val="50000"/>
                  </a:schemeClr>
                </a:solidFill>
                <a:cs typeface="Segoe UI" pitchFamily="34" charset="0"/>
              </a:rPr>
              <a:t>Preliminary ”Go, no-go”</a:t>
            </a:r>
          </a:p>
          <a:p>
            <a:pPr algn="ctr" defTabSz="914205" fontAlgn="base">
              <a:lnSpc>
                <a:spcPct val="90000"/>
              </a:lnSpc>
              <a:spcBef>
                <a:spcPct val="0"/>
              </a:spcBef>
              <a:spcAft>
                <a:spcPct val="0"/>
              </a:spcAft>
            </a:pPr>
            <a:r>
              <a:rPr lang="en-US" sz="1079">
                <a:solidFill>
                  <a:schemeClr val="tx1">
                    <a:lumMod val="50000"/>
                  </a:schemeClr>
                </a:solidFill>
                <a:cs typeface="Segoe UI" pitchFamily="34" charset="0"/>
              </a:rPr>
              <a:t>Stop here if basic criteria not met.</a:t>
            </a:r>
          </a:p>
        </p:txBody>
      </p:sp>
      <p:sp>
        <p:nvSpPr>
          <p:cNvPr id="84" name="Callout: Bent Line with Accent Bar 83">
            <a:extLst>
              <a:ext uri="{FF2B5EF4-FFF2-40B4-BE49-F238E27FC236}">
                <a16:creationId xmlns:a16="http://schemas.microsoft.com/office/drawing/2014/main" id="{C35BE773-D8B8-48EC-BCBC-808D7AE47975}"/>
              </a:ext>
            </a:extLst>
          </p:cNvPr>
          <p:cNvSpPr/>
          <p:nvPr/>
        </p:nvSpPr>
        <p:spPr bwMode="auto">
          <a:xfrm>
            <a:off x="942751" y="3287815"/>
            <a:ext cx="1420717" cy="1399691"/>
          </a:xfrm>
          <a:prstGeom prst="accentCallout2">
            <a:avLst>
              <a:gd name="adj1" fmla="val 69141"/>
              <a:gd name="adj2" fmla="val -8837"/>
              <a:gd name="adj3" fmla="val -86064"/>
              <a:gd name="adj4" fmla="val -25233"/>
              <a:gd name="adj5" fmla="val -146511"/>
              <a:gd name="adj6" fmla="val -1315"/>
            </a:avLst>
          </a:prstGeom>
          <a:solidFill>
            <a:schemeClr val="tx1">
              <a:lumMod val="20000"/>
              <a:lumOff val="80000"/>
            </a:schemeClr>
          </a:solid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70585" rIns="179285" bIns="143428" numCol="1" spcCol="0" rtlCol="0" fromWordArt="0" anchor="t" anchorCtr="0" forceAA="0" compatLnSpc="1">
            <a:prstTxWarp prst="textNoShape">
              <a:avLst/>
            </a:prstTxWarp>
            <a:noAutofit/>
          </a:bodyPr>
          <a:lstStyle/>
          <a:p>
            <a:pPr algn="ctr" defTabSz="914205" fontAlgn="base">
              <a:lnSpc>
                <a:spcPct val="90000"/>
              </a:lnSpc>
              <a:spcBef>
                <a:spcPct val="0"/>
              </a:spcBef>
              <a:spcAft>
                <a:spcPct val="0"/>
              </a:spcAft>
            </a:pPr>
            <a:r>
              <a:rPr lang="en-US" sz="1079" dirty="0">
                <a:solidFill>
                  <a:schemeClr val="tx1">
                    <a:lumMod val="50000"/>
                  </a:schemeClr>
                </a:solidFill>
                <a:ea typeface="Segoe UI" pitchFamily="34" charset="0"/>
                <a:cs typeface="Segoe UI" pitchFamily="34" charset="0"/>
              </a:rPr>
              <a:t>Internal access to value proposition/Video of partnership leads discussing value prop, market issues, value prop and a demo</a:t>
            </a:r>
          </a:p>
        </p:txBody>
      </p:sp>
      <p:sp>
        <p:nvSpPr>
          <p:cNvPr id="85" name="Callout: Bent Line with Accent Bar 84">
            <a:extLst>
              <a:ext uri="{FF2B5EF4-FFF2-40B4-BE49-F238E27FC236}">
                <a16:creationId xmlns:a16="http://schemas.microsoft.com/office/drawing/2014/main" id="{3713B4FF-F218-4FBD-8550-E9A35DC12158}"/>
              </a:ext>
            </a:extLst>
          </p:cNvPr>
          <p:cNvSpPr/>
          <p:nvPr/>
        </p:nvSpPr>
        <p:spPr bwMode="auto">
          <a:xfrm>
            <a:off x="7860813" y="1099448"/>
            <a:ext cx="1411849" cy="705925"/>
          </a:xfrm>
          <a:prstGeom prst="accentCallout2">
            <a:avLst>
              <a:gd name="adj1" fmla="val 69141"/>
              <a:gd name="adj2" fmla="val -8837"/>
              <a:gd name="adj3" fmla="val 96352"/>
              <a:gd name="adj4" fmla="val -32792"/>
              <a:gd name="adj5" fmla="val 145758"/>
              <a:gd name="adj6" fmla="val -68839"/>
            </a:avLst>
          </a:prstGeom>
          <a:solidFill>
            <a:schemeClr val="tx1">
              <a:lumMod val="20000"/>
              <a:lumOff val="80000"/>
            </a:schemeClr>
          </a:solidFill>
          <a:ln>
            <a:solidFill>
              <a:schemeClr val="bg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70585" rIns="179285" bIns="143428" numCol="1" spcCol="0" rtlCol="0" fromWordArt="0" anchor="ctr" anchorCtr="0" forceAA="0" compatLnSpc="1">
            <a:prstTxWarp prst="textNoShape">
              <a:avLst/>
            </a:prstTxWarp>
            <a:noAutofit/>
          </a:bodyPr>
          <a:lstStyle/>
          <a:p>
            <a:pPr algn="ctr" defTabSz="914205" fontAlgn="base">
              <a:lnSpc>
                <a:spcPct val="90000"/>
              </a:lnSpc>
              <a:spcBef>
                <a:spcPct val="0"/>
              </a:spcBef>
              <a:spcAft>
                <a:spcPct val="0"/>
              </a:spcAft>
            </a:pPr>
            <a:r>
              <a:rPr lang="en-US" sz="1079">
                <a:solidFill>
                  <a:schemeClr val="tx1">
                    <a:lumMod val="50000"/>
                  </a:schemeClr>
                </a:solidFill>
                <a:cs typeface="Segoe UI" pitchFamily="34" charset="0"/>
              </a:rPr>
              <a:t>Final ”Go, no-go”?</a:t>
            </a:r>
          </a:p>
        </p:txBody>
      </p:sp>
      <p:sp>
        <p:nvSpPr>
          <p:cNvPr id="86" name="Oval 85">
            <a:extLst>
              <a:ext uri="{FF2B5EF4-FFF2-40B4-BE49-F238E27FC236}">
                <a16:creationId xmlns:a16="http://schemas.microsoft.com/office/drawing/2014/main" id="{DCF0B0E5-0E23-4B86-93F0-55C27DB460A5}"/>
              </a:ext>
            </a:extLst>
          </p:cNvPr>
          <p:cNvSpPr/>
          <p:nvPr/>
        </p:nvSpPr>
        <p:spPr bwMode="auto">
          <a:xfrm>
            <a:off x="7789469" y="2982311"/>
            <a:ext cx="137288" cy="124626"/>
          </a:xfrm>
          <a:prstGeom prst="ellipse">
            <a:avLst/>
          </a:prstGeom>
          <a:solidFill>
            <a:srgbClr val="0070C0"/>
          </a:solidFill>
          <a:ln w="19050" cap="flat" cmpd="sng" algn="ctr">
            <a:solidFill>
              <a:schemeClr val="bg1">
                <a:lumMod val="95000"/>
              </a:schemeClr>
            </a:solidFill>
            <a:prstDash val="solid"/>
            <a:headEnd type="none" w="med" len="med"/>
            <a:tailEnd type="none" w="med" len="med"/>
          </a:ln>
          <a:effectLst/>
        </p:spPr>
        <p:txBody>
          <a:bodyPr rot="0" spcFirstLastPara="0" vert="horz" wrap="square" lIns="179213" tIns="143371" rIns="179213" bIns="143371"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844" fontAlgn="base">
              <a:lnSpc>
                <a:spcPct val="90000"/>
              </a:lnSpc>
              <a:spcBef>
                <a:spcPct val="0"/>
              </a:spcBef>
              <a:spcAft>
                <a:spcPct val="0"/>
              </a:spcAft>
              <a:defRPr/>
            </a:pPr>
            <a:endParaRPr lang="en-US" sz="2352" kern="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7" name="Man's Body">
            <a:extLst>
              <a:ext uri="{FF2B5EF4-FFF2-40B4-BE49-F238E27FC236}">
                <a16:creationId xmlns:a16="http://schemas.microsoft.com/office/drawing/2014/main" id="{4F6BD5E6-0233-4D9B-A240-F8727F16BCB5}"/>
              </a:ext>
            </a:extLst>
          </p:cNvPr>
          <p:cNvSpPr>
            <a:spLocks noChangeAspect="1"/>
          </p:cNvSpPr>
          <p:nvPr/>
        </p:nvSpPr>
        <p:spPr bwMode="auto">
          <a:xfrm flipH="1">
            <a:off x="7521619" y="3020680"/>
            <a:ext cx="269722" cy="343657"/>
          </a:xfrm>
          <a:custGeom>
            <a:avLst/>
            <a:gdLst>
              <a:gd name="connsiteX0" fmla="*/ 452684 w 673603"/>
              <a:gd name="connsiteY0" fmla="*/ 499119 h 858249"/>
              <a:gd name="connsiteX1" fmla="*/ 364244 w 673603"/>
              <a:gd name="connsiteY1" fmla="*/ 552651 h 858249"/>
              <a:gd name="connsiteX2" fmla="*/ 310399 w 673603"/>
              <a:gd name="connsiteY2" fmla="*/ 763544 h 858249"/>
              <a:gd name="connsiteX3" fmla="*/ 343737 w 673603"/>
              <a:gd name="connsiteY3" fmla="*/ 794501 h 858249"/>
              <a:gd name="connsiteX4" fmla="*/ 367549 w 673603"/>
              <a:gd name="connsiteY4" fmla="*/ 777832 h 858249"/>
              <a:gd name="connsiteX5" fmla="*/ 362787 w 673603"/>
              <a:gd name="connsiteY5" fmla="*/ 754019 h 858249"/>
              <a:gd name="connsiteX6" fmla="*/ 386599 w 673603"/>
              <a:gd name="connsiteY6" fmla="*/ 746876 h 858249"/>
              <a:gd name="connsiteX7" fmla="*/ 398506 w 673603"/>
              <a:gd name="connsiteY7" fmla="*/ 777832 h 858249"/>
              <a:gd name="connsiteX8" fmla="*/ 343737 w 673603"/>
              <a:gd name="connsiteY8" fmla="*/ 815932 h 858249"/>
              <a:gd name="connsiteX9" fmla="*/ 279443 w 673603"/>
              <a:gd name="connsiteY9" fmla="*/ 773069 h 858249"/>
              <a:gd name="connsiteX10" fmla="*/ 331831 w 673603"/>
              <a:gd name="connsiteY10" fmla="*/ 577807 h 858249"/>
              <a:gd name="connsiteX11" fmla="*/ 305637 w 673603"/>
              <a:gd name="connsiteY11" fmla="*/ 563519 h 858249"/>
              <a:gd name="connsiteX12" fmla="*/ 311779 w 673603"/>
              <a:gd name="connsiteY12" fmla="*/ 547549 h 858249"/>
              <a:gd name="connsiteX13" fmla="*/ 237741 w 673603"/>
              <a:gd name="connsiteY13" fmla="*/ 500485 h 858249"/>
              <a:gd name="connsiteX14" fmla="*/ 224038 w 673603"/>
              <a:gd name="connsiteY14" fmla="*/ 528452 h 858249"/>
              <a:gd name="connsiteX15" fmla="*/ 153447 w 673603"/>
              <a:gd name="connsiteY15" fmla="*/ 578809 h 858249"/>
              <a:gd name="connsiteX16" fmla="*/ 8401 w 673603"/>
              <a:gd name="connsiteY16" fmla="*/ 653033 h 858249"/>
              <a:gd name="connsiteX17" fmla="*/ 67793 w 673603"/>
              <a:gd name="connsiteY17" fmla="*/ 850206 h 858249"/>
              <a:gd name="connsiteX18" fmla="*/ 124357 w 673603"/>
              <a:gd name="connsiteY18" fmla="*/ 749115 h 858249"/>
              <a:gd name="connsiteX19" fmla="*/ 100924 w 673603"/>
              <a:gd name="connsiteY19" fmla="*/ 852938 h 858249"/>
              <a:gd name="connsiteX20" fmla="*/ 488320 w 673603"/>
              <a:gd name="connsiteY20" fmla="*/ 858165 h 858249"/>
              <a:gd name="connsiteX21" fmla="*/ 488345 w 673603"/>
              <a:gd name="connsiteY21" fmla="*/ 858249 h 858249"/>
              <a:gd name="connsiteX22" fmla="*/ 489349 w 673603"/>
              <a:gd name="connsiteY22" fmla="*/ 858186 h 858249"/>
              <a:gd name="connsiteX23" fmla="*/ 492440 w 673603"/>
              <a:gd name="connsiteY23" fmla="*/ 858249 h 858249"/>
              <a:gd name="connsiteX24" fmla="*/ 492755 w 673603"/>
              <a:gd name="connsiteY24" fmla="*/ 857971 h 858249"/>
              <a:gd name="connsiteX25" fmla="*/ 572680 w 673603"/>
              <a:gd name="connsiteY25" fmla="*/ 852938 h 858249"/>
              <a:gd name="connsiteX26" fmla="*/ 549247 w 673603"/>
              <a:gd name="connsiteY26" fmla="*/ 749115 h 858249"/>
              <a:gd name="connsiteX27" fmla="*/ 605811 w 673603"/>
              <a:gd name="connsiteY27" fmla="*/ 850206 h 858249"/>
              <a:gd name="connsiteX28" fmla="*/ 665203 w 673603"/>
              <a:gd name="connsiteY28" fmla="*/ 653033 h 858249"/>
              <a:gd name="connsiteX29" fmla="*/ 520157 w 673603"/>
              <a:gd name="connsiteY29" fmla="*/ 578809 h 858249"/>
              <a:gd name="connsiteX30" fmla="*/ 416545 w 673603"/>
              <a:gd name="connsiteY30" fmla="*/ 619374 h 858249"/>
              <a:gd name="connsiteX31" fmla="*/ 402735 w 673603"/>
              <a:gd name="connsiteY31" fmla="*/ 611762 h 858249"/>
              <a:gd name="connsiteX32" fmla="*/ 480966 w 673603"/>
              <a:gd name="connsiteY32" fmla="*/ 558317 h 858249"/>
              <a:gd name="connsiteX33" fmla="*/ 452684 w 673603"/>
              <a:gd name="connsiteY33" fmla="*/ 499119 h 858249"/>
              <a:gd name="connsiteX34" fmla="*/ 360713 w 673603"/>
              <a:gd name="connsiteY34" fmla="*/ 167 h 858249"/>
              <a:gd name="connsiteX35" fmla="*/ 241395 w 673603"/>
              <a:gd name="connsiteY35" fmla="*/ 59839 h 858249"/>
              <a:gd name="connsiteX36" fmla="*/ 169081 w 673603"/>
              <a:gd name="connsiteY36" fmla="*/ 160974 h 858249"/>
              <a:gd name="connsiteX37" fmla="*/ 192109 w 673603"/>
              <a:gd name="connsiteY37" fmla="*/ 186030 h 858249"/>
              <a:gd name="connsiteX38" fmla="*/ 209480 w 673603"/>
              <a:gd name="connsiteY38" fmla="*/ 168263 h 858249"/>
              <a:gd name="connsiteX39" fmla="*/ 352895 w 673603"/>
              <a:gd name="connsiteY39" fmla="*/ 122251 h 858249"/>
              <a:gd name="connsiteX40" fmla="*/ 205036 w 673603"/>
              <a:gd name="connsiteY40" fmla="*/ 213819 h 858249"/>
              <a:gd name="connsiteX41" fmla="*/ 205036 w 673603"/>
              <a:gd name="connsiteY41" fmla="*/ 254364 h 858249"/>
              <a:gd name="connsiteX42" fmla="*/ 186453 w 673603"/>
              <a:gd name="connsiteY42" fmla="*/ 269397 h 858249"/>
              <a:gd name="connsiteX43" fmla="*/ 206248 w 673603"/>
              <a:gd name="connsiteY43" fmla="*/ 358232 h 858249"/>
              <a:gd name="connsiteX44" fmla="*/ 217560 w 673603"/>
              <a:gd name="connsiteY44" fmla="*/ 365976 h 858249"/>
              <a:gd name="connsiteX45" fmla="*/ 265230 w 673603"/>
              <a:gd name="connsiteY45" fmla="*/ 473033 h 858249"/>
              <a:gd name="connsiteX46" fmla="*/ 352895 w 673603"/>
              <a:gd name="connsiteY46" fmla="*/ 522690 h 858249"/>
              <a:gd name="connsiteX47" fmla="*/ 447024 w 673603"/>
              <a:gd name="connsiteY47" fmla="*/ 460733 h 858249"/>
              <a:gd name="connsiteX48" fmla="*/ 488231 w 673603"/>
              <a:gd name="connsiteY48" fmla="*/ 361421 h 858249"/>
              <a:gd name="connsiteX49" fmla="*/ 521357 w 673603"/>
              <a:gd name="connsiteY49" fmla="*/ 283520 h 858249"/>
              <a:gd name="connsiteX50" fmla="*/ 508430 w 673603"/>
              <a:gd name="connsiteY50" fmla="*/ 261653 h 858249"/>
              <a:gd name="connsiteX51" fmla="*/ 535901 w 673603"/>
              <a:gd name="connsiteY51" fmla="*/ 181930 h 858249"/>
              <a:gd name="connsiteX52" fmla="*/ 426016 w 673603"/>
              <a:gd name="connsiteY52" fmla="*/ 17472 h 858249"/>
              <a:gd name="connsiteX53" fmla="*/ 360713 w 673603"/>
              <a:gd name="connsiteY53" fmla="*/ 167 h 858249"/>
              <a:gd name="connsiteX0" fmla="*/ 452684 w 673603"/>
              <a:gd name="connsiteY0" fmla="*/ 499119 h 858249"/>
              <a:gd name="connsiteX1" fmla="*/ 364244 w 673603"/>
              <a:gd name="connsiteY1" fmla="*/ 552651 h 858249"/>
              <a:gd name="connsiteX2" fmla="*/ 303255 w 673603"/>
              <a:gd name="connsiteY2" fmla="*/ 763544 h 858249"/>
              <a:gd name="connsiteX3" fmla="*/ 343737 w 673603"/>
              <a:gd name="connsiteY3" fmla="*/ 794501 h 858249"/>
              <a:gd name="connsiteX4" fmla="*/ 367549 w 673603"/>
              <a:gd name="connsiteY4" fmla="*/ 777832 h 858249"/>
              <a:gd name="connsiteX5" fmla="*/ 362787 w 673603"/>
              <a:gd name="connsiteY5" fmla="*/ 754019 h 858249"/>
              <a:gd name="connsiteX6" fmla="*/ 386599 w 673603"/>
              <a:gd name="connsiteY6" fmla="*/ 746876 h 858249"/>
              <a:gd name="connsiteX7" fmla="*/ 398506 w 673603"/>
              <a:gd name="connsiteY7" fmla="*/ 777832 h 858249"/>
              <a:gd name="connsiteX8" fmla="*/ 343737 w 673603"/>
              <a:gd name="connsiteY8" fmla="*/ 815932 h 858249"/>
              <a:gd name="connsiteX9" fmla="*/ 279443 w 673603"/>
              <a:gd name="connsiteY9" fmla="*/ 773069 h 858249"/>
              <a:gd name="connsiteX10" fmla="*/ 331831 w 673603"/>
              <a:gd name="connsiteY10" fmla="*/ 577807 h 858249"/>
              <a:gd name="connsiteX11" fmla="*/ 305637 w 673603"/>
              <a:gd name="connsiteY11" fmla="*/ 563519 h 858249"/>
              <a:gd name="connsiteX12" fmla="*/ 311779 w 673603"/>
              <a:gd name="connsiteY12" fmla="*/ 547549 h 858249"/>
              <a:gd name="connsiteX13" fmla="*/ 237741 w 673603"/>
              <a:gd name="connsiteY13" fmla="*/ 500485 h 858249"/>
              <a:gd name="connsiteX14" fmla="*/ 224038 w 673603"/>
              <a:gd name="connsiteY14" fmla="*/ 528452 h 858249"/>
              <a:gd name="connsiteX15" fmla="*/ 153447 w 673603"/>
              <a:gd name="connsiteY15" fmla="*/ 578809 h 858249"/>
              <a:gd name="connsiteX16" fmla="*/ 8401 w 673603"/>
              <a:gd name="connsiteY16" fmla="*/ 653033 h 858249"/>
              <a:gd name="connsiteX17" fmla="*/ 67793 w 673603"/>
              <a:gd name="connsiteY17" fmla="*/ 850206 h 858249"/>
              <a:gd name="connsiteX18" fmla="*/ 124357 w 673603"/>
              <a:gd name="connsiteY18" fmla="*/ 749115 h 858249"/>
              <a:gd name="connsiteX19" fmla="*/ 100924 w 673603"/>
              <a:gd name="connsiteY19" fmla="*/ 852938 h 858249"/>
              <a:gd name="connsiteX20" fmla="*/ 488320 w 673603"/>
              <a:gd name="connsiteY20" fmla="*/ 858165 h 858249"/>
              <a:gd name="connsiteX21" fmla="*/ 488345 w 673603"/>
              <a:gd name="connsiteY21" fmla="*/ 858249 h 858249"/>
              <a:gd name="connsiteX22" fmla="*/ 489349 w 673603"/>
              <a:gd name="connsiteY22" fmla="*/ 858186 h 858249"/>
              <a:gd name="connsiteX23" fmla="*/ 492440 w 673603"/>
              <a:gd name="connsiteY23" fmla="*/ 858249 h 858249"/>
              <a:gd name="connsiteX24" fmla="*/ 492755 w 673603"/>
              <a:gd name="connsiteY24" fmla="*/ 857971 h 858249"/>
              <a:gd name="connsiteX25" fmla="*/ 572680 w 673603"/>
              <a:gd name="connsiteY25" fmla="*/ 852938 h 858249"/>
              <a:gd name="connsiteX26" fmla="*/ 549247 w 673603"/>
              <a:gd name="connsiteY26" fmla="*/ 749115 h 858249"/>
              <a:gd name="connsiteX27" fmla="*/ 605811 w 673603"/>
              <a:gd name="connsiteY27" fmla="*/ 850206 h 858249"/>
              <a:gd name="connsiteX28" fmla="*/ 665203 w 673603"/>
              <a:gd name="connsiteY28" fmla="*/ 653033 h 858249"/>
              <a:gd name="connsiteX29" fmla="*/ 520157 w 673603"/>
              <a:gd name="connsiteY29" fmla="*/ 578809 h 858249"/>
              <a:gd name="connsiteX30" fmla="*/ 416545 w 673603"/>
              <a:gd name="connsiteY30" fmla="*/ 619374 h 858249"/>
              <a:gd name="connsiteX31" fmla="*/ 402735 w 673603"/>
              <a:gd name="connsiteY31" fmla="*/ 611762 h 858249"/>
              <a:gd name="connsiteX32" fmla="*/ 480966 w 673603"/>
              <a:gd name="connsiteY32" fmla="*/ 558317 h 858249"/>
              <a:gd name="connsiteX33" fmla="*/ 452684 w 673603"/>
              <a:gd name="connsiteY33" fmla="*/ 499119 h 858249"/>
              <a:gd name="connsiteX34" fmla="*/ 360713 w 673603"/>
              <a:gd name="connsiteY34" fmla="*/ 167 h 858249"/>
              <a:gd name="connsiteX35" fmla="*/ 241395 w 673603"/>
              <a:gd name="connsiteY35" fmla="*/ 59839 h 858249"/>
              <a:gd name="connsiteX36" fmla="*/ 169081 w 673603"/>
              <a:gd name="connsiteY36" fmla="*/ 160974 h 858249"/>
              <a:gd name="connsiteX37" fmla="*/ 192109 w 673603"/>
              <a:gd name="connsiteY37" fmla="*/ 186030 h 858249"/>
              <a:gd name="connsiteX38" fmla="*/ 209480 w 673603"/>
              <a:gd name="connsiteY38" fmla="*/ 168263 h 858249"/>
              <a:gd name="connsiteX39" fmla="*/ 352895 w 673603"/>
              <a:gd name="connsiteY39" fmla="*/ 122251 h 858249"/>
              <a:gd name="connsiteX40" fmla="*/ 205036 w 673603"/>
              <a:gd name="connsiteY40" fmla="*/ 213819 h 858249"/>
              <a:gd name="connsiteX41" fmla="*/ 205036 w 673603"/>
              <a:gd name="connsiteY41" fmla="*/ 254364 h 858249"/>
              <a:gd name="connsiteX42" fmla="*/ 186453 w 673603"/>
              <a:gd name="connsiteY42" fmla="*/ 269397 h 858249"/>
              <a:gd name="connsiteX43" fmla="*/ 206248 w 673603"/>
              <a:gd name="connsiteY43" fmla="*/ 358232 h 858249"/>
              <a:gd name="connsiteX44" fmla="*/ 217560 w 673603"/>
              <a:gd name="connsiteY44" fmla="*/ 365976 h 858249"/>
              <a:gd name="connsiteX45" fmla="*/ 265230 w 673603"/>
              <a:gd name="connsiteY45" fmla="*/ 473033 h 858249"/>
              <a:gd name="connsiteX46" fmla="*/ 352895 w 673603"/>
              <a:gd name="connsiteY46" fmla="*/ 522690 h 858249"/>
              <a:gd name="connsiteX47" fmla="*/ 447024 w 673603"/>
              <a:gd name="connsiteY47" fmla="*/ 460733 h 858249"/>
              <a:gd name="connsiteX48" fmla="*/ 488231 w 673603"/>
              <a:gd name="connsiteY48" fmla="*/ 361421 h 858249"/>
              <a:gd name="connsiteX49" fmla="*/ 521357 w 673603"/>
              <a:gd name="connsiteY49" fmla="*/ 283520 h 858249"/>
              <a:gd name="connsiteX50" fmla="*/ 508430 w 673603"/>
              <a:gd name="connsiteY50" fmla="*/ 261653 h 858249"/>
              <a:gd name="connsiteX51" fmla="*/ 535901 w 673603"/>
              <a:gd name="connsiteY51" fmla="*/ 181930 h 858249"/>
              <a:gd name="connsiteX52" fmla="*/ 426016 w 673603"/>
              <a:gd name="connsiteY52" fmla="*/ 17472 h 858249"/>
              <a:gd name="connsiteX53" fmla="*/ 360713 w 673603"/>
              <a:gd name="connsiteY53" fmla="*/ 167 h 858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73603" h="858249">
                <a:moveTo>
                  <a:pt x="452684" y="499119"/>
                </a:moveTo>
                <a:cubicBezTo>
                  <a:pt x="445971" y="497526"/>
                  <a:pt x="395679" y="543306"/>
                  <a:pt x="364244" y="552651"/>
                </a:cubicBezTo>
                <a:lnTo>
                  <a:pt x="303255" y="763544"/>
                </a:lnTo>
                <a:lnTo>
                  <a:pt x="343737" y="794501"/>
                </a:lnTo>
                <a:lnTo>
                  <a:pt x="367549" y="777832"/>
                </a:lnTo>
                <a:lnTo>
                  <a:pt x="362787" y="754019"/>
                </a:lnTo>
                <a:lnTo>
                  <a:pt x="386599" y="746876"/>
                </a:lnTo>
                <a:lnTo>
                  <a:pt x="398506" y="777832"/>
                </a:lnTo>
                <a:lnTo>
                  <a:pt x="343737" y="815932"/>
                </a:lnTo>
                <a:lnTo>
                  <a:pt x="279443" y="773069"/>
                </a:lnTo>
                <a:lnTo>
                  <a:pt x="331831" y="577807"/>
                </a:lnTo>
                <a:lnTo>
                  <a:pt x="305637" y="563519"/>
                </a:lnTo>
                <a:lnTo>
                  <a:pt x="311779" y="547549"/>
                </a:lnTo>
                <a:cubicBezTo>
                  <a:pt x="265856" y="532518"/>
                  <a:pt x="243484" y="498328"/>
                  <a:pt x="237741" y="500485"/>
                </a:cubicBezTo>
                <a:cubicBezTo>
                  <a:pt x="234382" y="501482"/>
                  <a:pt x="229709" y="514159"/>
                  <a:pt x="224038" y="528452"/>
                </a:cubicBezTo>
                <a:cubicBezTo>
                  <a:pt x="205457" y="548836"/>
                  <a:pt x="184781" y="572298"/>
                  <a:pt x="153447" y="578809"/>
                </a:cubicBezTo>
                <a:cubicBezTo>
                  <a:pt x="143751" y="576532"/>
                  <a:pt x="24966" y="624345"/>
                  <a:pt x="8401" y="653033"/>
                </a:cubicBezTo>
                <a:cubicBezTo>
                  <a:pt x="-8568" y="682176"/>
                  <a:pt x="-4932" y="756856"/>
                  <a:pt x="67793" y="850206"/>
                </a:cubicBezTo>
                <a:cubicBezTo>
                  <a:pt x="75470" y="796473"/>
                  <a:pt x="115065" y="755035"/>
                  <a:pt x="124357" y="749115"/>
                </a:cubicBezTo>
                <a:cubicBezTo>
                  <a:pt x="112236" y="775071"/>
                  <a:pt x="101328" y="823340"/>
                  <a:pt x="100924" y="852938"/>
                </a:cubicBezTo>
                <a:cubicBezTo>
                  <a:pt x="129463" y="855236"/>
                  <a:pt x="441914" y="856925"/>
                  <a:pt x="488320" y="858165"/>
                </a:cubicBezTo>
                <a:cubicBezTo>
                  <a:pt x="488326" y="858194"/>
                  <a:pt x="488336" y="858221"/>
                  <a:pt x="488345" y="858249"/>
                </a:cubicBezTo>
                <a:lnTo>
                  <a:pt x="489349" y="858186"/>
                </a:lnTo>
                <a:lnTo>
                  <a:pt x="492440" y="858249"/>
                </a:lnTo>
                <a:cubicBezTo>
                  <a:pt x="492562" y="858190"/>
                  <a:pt x="492684" y="858130"/>
                  <a:pt x="492755" y="857971"/>
                </a:cubicBezTo>
                <a:cubicBezTo>
                  <a:pt x="517797" y="856858"/>
                  <a:pt x="544705" y="855190"/>
                  <a:pt x="572680" y="852938"/>
                </a:cubicBezTo>
                <a:cubicBezTo>
                  <a:pt x="572277" y="823340"/>
                  <a:pt x="561368" y="775071"/>
                  <a:pt x="549247" y="749115"/>
                </a:cubicBezTo>
                <a:cubicBezTo>
                  <a:pt x="558539" y="755035"/>
                  <a:pt x="598134" y="796473"/>
                  <a:pt x="605811" y="850206"/>
                </a:cubicBezTo>
                <a:cubicBezTo>
                  <a:pt x="678536" y="756856"/>
                  <a:pt x="682172" y="682176"/>
                  <a:pt x="665203" y="653033"/>
                </a:cubicBezTo>
                <a:cubicBezTo>
                  <a:pt x="648638" y="624345"/>
                  <a:pt x="529853" y="576532"/>
                  <a:pt x="520157" y="578809"/>
                </a:cubicBezTo>
                <a:cubicBezTo>
                  <a:pt x="513668" y="580027"/>
                  <a:pt x="471919" y="609413"/>
                  <a:pt x="416545" y="619374"/>
                </a:cubicBezTo>
                <a:cubicBezTo>
                  <a:pt x="412236" y="616547"/>
                  <a:pt x="407719" y="613840"/>
                  <a:pt x="402735" y="611762"/>
                </a:cubicBezTo>
                <a:cubicBezTo>
                  <a:pt x="445434" y="596908"/>
                  <a:pt x="480070" y="566055"/>
                  <a:pt x="480966" y="558317"/>
                </a:cubicBezTo>
                <a:cubicBezTo>
                  <a:pt x="482178" y="547388"/>
                  <a:pt x="460765" y="500485"/>
                  <a:pt x="452684" y="499119"/>
                </a:cubicBezTo>
                <a:close/>
                <a:moveTo>
                  <a:pt x="360713" y="167"/>
                </a:moveTo>
                <a:cubicBezTo>
                  <a:pt x="320835" y="2218"/>
                  <a:pt x="277249" y="23109"/>
                  <a:pt x="241395" y="59839"/>
                </a:cubicBezTo>
                <a:cubicBezTo>
                  <a:pt x="184029" y="118607"/>
                  <a:pt x="167869" y="149129"/>
                  <a:pt x="169081" y="160974"/>
                </a:cubicBezTo>
                <a:cubicBezTo>
                  <a:pt x="170294" y="172363"/>
                  <a:pt x="182009" y="188307"/>
                  <a:pt x="192109" y="186030"/>
                </a:cubicBezTo>
                <a:cubicBezTo>
                  <a:pt x="202612" y="183752"/>
                  <a:pt x="203824" y="173729"/>
                  <a:pt x="209480" y="168263"/>
                </a:cubicBezTo>
                <a:cubicBezTo>
                  <a:pt x="276542" y="104484"/>
                  <a:pt x="330676" y="114506"/>
                  <a:pt x="352895" y="122251"/>
                </a:cubicBezTo>
                <a:cubicBezTo>
                  <a:pt x="266442" y="130451"/>
                  <a:pt x="209480" y="202430"/>
                  <a:pt x="205036" y="213819"/>
                </a:cubicBezTo>
                <a:cubicBezTo>
                  <a:pt x="200593" y="224750"/>
                  <a:pt x="205034" y="254351"/>
                  <a:pt x="205036" y="254364"/>
                </a:cubicBezTo>
                <a:cubicBezTo>
                  <a:pt x="205007" y="254367"/>
                  <a:pt x="186453" y="255741"/>
                  <a:pt x="186453" y="269397"/>
                </a:cubicBezTo>
                <a:cubicBezTo>
                  <a:pt x="186453" y="283062"/>
                  <a:pt x="206241" y="358204"/>
                  <a:pt x="206248" y="358232"/>
                </a:cubicBezTo>
                <a:cubicBezTo>
                  <a:pt x="206263" y="358257"/>
                  <a:pt x="211509" y="367342"/>
                  <a:pt x="217560" y="365976"/>
                </a:cubicBezTo>
                <a:cubicBezTo>
                  <a:pt x="224023" y="421555"/>
                  <a:pt x="246243" y="456178"/>
                  <a:pt x="265230" y="473033"/>
                </a:cubicBezTo>
                <a:cubicBezTo>
                  <a:pt x="283813" y="489434"/>
                  <a:pt x="327040" y="522690"/>
                  <a:pt x="352895" y="522690"/>
                </a:cubicBezTo>
                <a:cubicBezTo>
                  <a:pt x="378750" y="522690"/>
                  <a:pt x="442176" y="469844"/>
                  <a:pt x="447024" y="460733"/>
                </a:cubicBezTo>
                <a:cubicBezTo>
                  <a:pt x="452275" y="451622"/>
                  <a:pt x="487018" y="411077"/>
                  <a:pt x="488231" y="361421"/>
                </a:cubicBezTo>
                <a:cubicBezTo>
                  <a:pt x="505198" y="360054"/>
                  <a:pt x="514894" y="309942"/>
                  <a:pt x="521357" y="283520"/>
                </a:cubicBezTo>
                <a:cubicBezTo>
                  <a:pt x="526607" y="261206"/>
                  <a:pt x="508444" y="261652"/>
                  <a:pt x="508430" y="261653"/>
                </a:cubicBezTo>
                <a:cubicBezTo>
                  <a:pt x="508448" y="261603"/>
                  <a:pt x="533882" y="191493"/>
                  <a:pt x="535901" y="181930"/>
                </a:cubicBezTo>
                <a:cubicBezTo>
                  <a:pt x="537517" y="172818"/>
                  <a:pt x="554484" y="11549"/>
                  <a:pt x="426016" y="17472"/>
                </a:cubicBezTo>
                <a:cubicBezTo>
                  <a:pt x="407231" y="4488"/>
                  <a:pt x="384639" y="-1064"/>
                  <a:pt x="360713" y="167"/>
                </a:cubicBezTo>
                <a:close/>
              </a:path>
            </a:pathLst>
          </a:custGeom>
          <a:solidFill>
            <a:srgbClr val="7F7F7F"/>
          </a:solidFill>
          <a:ln w="25400" cap="flat" cmpd="sng" algn="ctr">
            <a:noFill/>
            <a:prstDash val="solid"/>
          </a:ln>
          <a:effectLst/>
        </p:spPr>
        <p:txBody>
          <a:bodyPr rot="0" spcFirstLastPara="0" vert="horz" wrap="square" lIns="91427" tIns="91427" rIns="91427" bIns="91427"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168">
              <a:defRPr/>
            </a:pPr>
            <a:endParaRPr lang="en-US" sz="1200" kern="0">
              <a:solidFill>
                <a:srgbClr val="FFFFFF"/>
              </a:solidFill>
              <a:latin typeface="Segoe UI"/>
            </a:endParaRPr>
          </a:p>
        </p:txBody>
      </p:sp>
      <p:sp>
        <p:nvSpPr>
          <p:cNvPr id="88" name="Freeform 129">
            <a:extLst>
              <a:ext uri="{FF2B5EF4-FFF2-40B4-BE49-F238E27FC236}">
                <a16:creationId xmlns:a16="http://schemas.microsoft.com/office/drawing/2014/main" id="{9439B598-FA1B-42F6-A544-B8D0549DC901}"/>
              </a:ext>
            </a:extLst>
          </p:cNvPr>
          <p:cNvSpPr/>
          <p:nvPr/>
        </p:nvSpPr>
        <p:spPr>
          <a:xfrm>
            <a:off x="7598278" y="3167976"/>
            <a:ext cx="418985" cy="303972"/>
          </a:xfrm>
          <a:custGeom>
            <a:avLst/>
            <a:gdLst>
              <a:gd name="connsiteX0" fmla="*/ 1599875 w 4094502"/>
              <a:gd name="connsiteY0" fmla="*/ 2470150 h 3272380"/>
              <a:gd name="connsiteX1" fmla="*/ 1672900 w 4094502"/>
              <a:gd name="connsiteY1" fmla="*/ 2555875 h 3272380"/>
              <a:gd name="connsiteX2" fmla="*/ 1599875 w 4094502"/>
              <a:gd name="connsiteY2" fmla="*/ 2641600 h 3272380"/>
              <a:gd name="connsiteX3" fmla="*/ 1526850 w 4094502"/>
              <a:gd name="connsiteY3" fmla="*/ 2555875 h 3272380"/>
              <a:gd name="connsiteX4" fmla="*/ 1599875 w 4094502"/>
              <a:gd name="connsiteY4" fmla="*/ 2470150 h 3272380"/>
              <a:gd name="connsiteX5" fmla="*/ 464640 w 4094502"/>
              <a:gd name="connsiteY5" fmla="*/ 303480 h 3272380"/>
              <a:gd name="connsiteX6" fmla="*/ 3606192 w 4094502"/>
              <a:gd name="connsiteY6" fmla="*/ 466442 h 3272380"/>
              <a:gd name="connsiteX7" fmla="*/ 3334588 w 4094502"/>
              <a:gd name="connsiteY7" fmla="*/ 2747915 h 3272380"/>
              <a:gd name="connsiteX8" fmla="*/ 274517 w 4094502"/>
              <a:gd name="connsiteY8" fmla="*/ 2114173 h 3272380"/>
              <a:gd name="connsiteX9" fmla="*/ 464640 w 4094502"/>
              <a:gd name="connsiteY9" fmla="*/ 303480 h 3272380"/>
              <a:gd name="connsiteX10" fmla="*/ 409248 w 4094502"/>
              <a:gd name="connsiteY10" fmla="*/ 80088 h 3272380"/>
              <a:gd name="connsiteX11" fmla="*/ 261669 w 4094502"/>
              <a:gd name="connsiteY11" fmla="*/ 189140 h 3272380"/>
              <a:gd name="connsiteX12" fmla="*/ 71482 w 4094502"/>
              <a:gd name="connsiteY12" fmla="*/ 2192886 h 3272380"/>
              <a:gd name="connsiteX13" fmla="*/ 169802 w 4094502"/>
              <a:gd name="connsiteY13" fmla="*/ 2380836 h 3272380"/>
              <a:gd name="connsiteX14" fmla="*/ 3393948 w 4094502"/>
              <a:gd name="connsiteY14" fmla="*/ 3177816 h 3272380"/>
              <a:gd name="connsiteX15" fmla="*/ 3638476 w 4094502"/>
              <a:gd name="connsiteY15" fmla="*/ 3069137 h 3272380"/>
              <a:gd name="connsiteX16" fmla="*/ 3991683 w 4094502"/>
              <a:gd name="connsiteY16" fmla="*/ 370272 h 3272380"/>
              <a:gd name="connsiteX17" fmla="*/ 3855834 w 4094502"/>
              <a:gd name="connsiteY17" fmla="*/ 171027 h 3272380"/>
              <a:gd name="connsiteX18" fmla="*/ 468670 w 4094502"/>
              <a:gd name="connsiteY18" fmla="*/ 80461 h 3272380"/>
              <a:gd name="connsiteX19" fmla="*/ 409248 w 4094502"/>
              <a:gd name="connsiteY19" fmla="*/ 80088 h 3272380"/>
              <a:gd name="connsiteX20" fmla="*/ 387026 w 4094502"/>
              <a:gd name="connsiteY20" fmla="*/ 0 h 3272380"/>
              <a:gd name="connsiteX21" fmla="*/ 3949376 w 4094502"/>
              <a:gd name="connsiteY21" fmla="*/ 95250 h 3272380"/>
              <a:gd name="connsiteX22" fmla="*/ 4092251 w 4094502"/>
              <a:gd name="connsiteY22" fmla="*/ 304800 h 3272380"/>
              <a:gd name="connsiteX23" fmla="*/ 3720776 w 4094502"/>
              <a:gd name="connsiteY23" fmla="*/ 3143250 h 3272380"/>
              <a:gd name="connsiteX24" fmla="*/ 3463601 w 4094502"/>
              <a:gd name="connsiteY24" fmla="*/ 3257550 h 3272380"/>
              <a:gd name="connsiteX25" fmla="*/ 72701 w 4094502"/>
              <a:gd name="connsiteY25" fmla="*/ 2419350 h 3272380"/>
              <a:gd name="connsiteX26" fmla="*/ 6026 w 4094502"/>
              <a:gd name="connsiteY26" fmla="*/ 2238375 h 3272380"/>
              <a:gd name="connsiteX27" fmla="*/ 206051 w 4094502"/>
              <a:gd name="connsiteY27" fmla="*/ 114300 h 3272380"/>
              <a:gd name="connsiteX28" fmla="*/ 387026 w 4094502"/>
              <a:gd name="connsiteY28" fmla="*/ 0 h 3272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94502" h="3272380">
                <a:moveTo>
                  <a:pt x="1599875" y="2470150"/>
                </a:moveTo>
                <a:cubicBezTo>
                  <a:pt x="1640206" y="2470150"/>
                  <a:pt x="1672900" y="2508530"/>
                  <a:pt x="1672900" y="2555875"/>
                </a:cubicBezTo>
                <a:cubicBezTo>
                  <a:pt x="1672900" y="2603220"/>
                  <a:pt x="1640206" y="2641600"/>
                  <a:pt x="1599875" y="2641600"/>
                </a:cubicBezTo>
                <a:cubicBezTo>
                  <a:pt x="1559544" y="2641600"/>
                  <a:pt x="1526850" y="2603220"/>
                  <a:pt x="1526850" y="2555875"/>
                </a:cubicBezTo>
                <a:cubicBezTo>
                  <a:pt x="1526850" y="2508530"/>
                  <a:pt x="1559544" y="2470150"/>
                  <a:pt x="1599875" y="2470150"/>
                </a:cubicBezTo>
                <a:close/>
                <a:moveTo>
                  <a:pt x="464640" y="303480"/>
                </a:moveTo>
                <a:lnTo>
                  <a:pt x="3606192" y="466442"/>
                </a:lnTo>
                <a:lnTo>
                  <a:pt x="3334588" y="2747915"/>
                </a:lnTo>
                <a:lnTo>
                  <a:pt x="274517" y="2114173"/>
                </a:lnTo>
                <a:lnTo>
                  <a:pt x="464640" y="303480"/>
                </a:lnTo>
                <a:close/>
                <a:moveTo>
                  <a:pt x="409248" y="80088"/>
                </a:moveTo>
                <a:cubicBezTo>
                  <a:pt x="286405" y="83901"/>
                  <a:pt x="269594" y="120461"/>
                  <a:pt x="261669" y="189140"/>
                </a:cubicBezTo>
                <a:lnTo>
                  <a:pt x="71482" y="2192886"/>
                </a:lnTo>
                <a:cubicBezTo>
                  <a:pt x="53873" y="2331582"/>
                  <a:pt x="66380" y="2351272"/>
                  <a:pt x="169802" y="2380836"/>
                </a:cubicBezTo>
                <a:lnTo>
                  <a:pt x="3393948" y="3177816"/>
                </a:lnTo>
                <a:cubicBezTo>
                  <a:pt x="3506739" y="3198948"/>
                  <a:pt x="3605269" y="3248812"/>
                  <a:pt x="3638476" y="3069137"/>
                </a:cubicBezTo>
                <a:lnTo>
                  <a:pt x="3991683" y="370272"/>
                </a:lnTo>
                <a:cubicBezTo>
                  <a:pt x="4000740" y="294800"/>
                  <a:pt x="4030096" y="179926"/>
                  <a:pt x="3855834" y="171027"/>
                </a:cubicBezTo>
                <a:lnTo>
                  <a:pt x="468670" y="80461"/>
                </a:lnTo>
                <a:cubicBezTo>
                  <a:pt x="446510" y="79667"/>
                  <a:pt x="426797" y="79543"/>
                  <a:pt x="409248" y="80088"/>
                </a:cubicBezTo>
                <a:close/>
                <a:moveTo>
                  <a:pt x="387026" y="0"/>
                </a:moveTo>
                <a:lnTo>
                  <a:pt x="3949376" y="95250"/>
                </a:lnTo>
                <a:cubicBezTo>
                  <a:pt x="4085901" y="107950"/>
                  <a:pt x="4101776" y="225425"/>
                  <a:pt x="4092251" y="304800"/>
                </a:cubicBezTo>
                <a:lnTo>
                  <a:pt x="3720776" y="3143250"/>
                </a:lnTo>
                <a:cubicBezTo>
                  <a:pt x="3685851" y="3298825"/>
                  <a:pt x="3558851" y="3279775"/>
                  <a:pt x="3463601" y="3257550"/>
                </a:cubicBezTo>
                <a:lnTo>
                  <a:pt x="72701" y="2419350"/>
                </a:lnTo>
                <a:cubicBezTo>
                  <a:pt x="-19374" y="2374900"/>
                  <a:pt x="-324" y="2346325"/>
                  <a:pt x="6026" y="2238375"/>
                </a:cubicBezTo>
                <a:lnTo>
                  <a:pt x="206051" y="114300"/>
                </a:lnTo>
                <a:cubicBezTo>
                  <a:pt x="215576" y="31750"/>
                  <a:pt x="247326" y="0"/>
                  <a:pt x="387026" y="0"/>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92">
              <a:defRPr/>
            </a:pPr>
            <a:endParaRPr lang="en-US" sz="1000"/>
          </a:p>
        </p:txBody>
      </p:sp>
      <p:sp>
        <p:nvSpPr>
          <p:cNvPr id="89" name="Rectangle 88">
            <a:extLst>
              <a:ext uri="{FF2B5EF4-FFF2-40B4-BE49-F238E27FC236}">
                <a16:creationId xmlns:a16="http://schemas.microsoft.com/office/drawing/2014/main" id="{CB97EC59-9D5C-4ADA-B931-E80BFD16079D}"/>
              </a:ext>
            </a:extLst>
          </p:cNvPr>
          <p:cNvSpPr/>
          <p:nvPr/>
        </p:nvSpPr>
        <p:spPr>
          <a:xfrm>
            <a:off x="7093478" y="3508039"/>
            <a:ext cx="1230645" cy="166199"/>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844">
              <a:lnSpc>
                <a:spcPct val="90000"/>
              </a:lnSpc>
              <a:spcBef>
                <a:spcPct val="0"/>
              </a:spcBef>
              <a:spcAft>
                <a:spcPct val="0"/>
              </a:spcAft>
              <a:defRPr/>
            </a:pPr>
            <a:r>
              <a:rPr lang="en-US" sz="1200" dirty="0">
                <a:solidFill>
                  <a:srgbClr val="505050"/>
                </a:solidFill>
                <a:latin typeface="Segoe UI Semibold"/>
                <a:cs typeface="Segoe UI Semibold"/>
              </a:rPr>
              <a:t>TBA</a:t>
            </a:r>
            <a:endParaRPr lang="en-US" dirty="0"/>
          </a:p>
        </p:txBody>
      </p:sp>
      <p:sp>
        <p:nvSpPr>
          <p:cNvPr id="2" name="TextBox 1">
            <a:extLst>
              <a:ext uri="{FF2B5EF4-FFF2-40B4-BE49-F238E27FC236}">
                <a16:creationId xmlns:a16="http://schemas.microsoft.com/office/drawing/2014/main" id="{C27E7CA7-AAF5-4F7C-B26D-8A995836E000}"/>
              </a:ext>
            </a:extLst>
          </p:cNvPr>
          <p:cNvSpPr txBox="1"/>
          <p:nvPr/>
        </p:nvSpPr>
        <p:spPr>
          <a:xfrm>
            <a:off x="2948839" y="77752"/>
            <a:ext cx="6721392" cy="393890"/>
          </a:xfrm>
          <a:prstGeom prst="rect">
            <a:avLst/>
          </a:prstGeom>
          <a:noFill/>
        </p:spPr>
        <p:txBody>
          <a:bodyPr wrap="none" rtlCol="0">
            <a:spAutoFit/>
          </a:bodyPr>
          <a:lstStyle/>
          <a:p>
            <a:pPr algn="ctr" defTabSz="914406">
              <a:lnSpc>
                <a:spcPct val="90000"/>
              </a:lnSpc>
              <a:buClr>
                <a:srgbClr val="FFFFFF"/>
              </a:buClr>
              <a:buSzPts val="2400"/>
            </a:pPr>
            <a:r>
              <a:rPr lang="en-GB" sz="2177" b="1" dirty="0">
                <a:solidFill>
                  <a:schemeClr val="tx2">
                    <a:lumMod val="50000"/>
                  </a:schemeClr>
                </a:solidFill>
                <a:latin typeface="+mj-lt"/>
                <a:ea typeface="+mj-ea"/>
                <a:cs typeface="Calibri" panose="020F0502020204030204" pitchFamily="34" charset="0"/>
              </a:rPr>
              <a:t>High level GTM readiness and Sales process (3 month cycle)</a:t>
            </a:r>
          </a:p>
        </p:txBody>
      </p:sp>
      <p:sp>
        <p:nvSpPr>
          <p:cNvPr id="5" name="TextBox 4">
            <a:extLst>
              <a:ext uri="{FF2B5EF4-FFF2-40B4-BE49-F238E27FC236}">
                <a16:creationId xmlns:a16="http://schemas.microsoft.com/office/drawing/2014/main" id="{8D86A1DC-5DC4-442B-9C5C-881254DB9CB7}"/>
              </a:ext>
            </a:extLst>
          </p:cNvPr>
          <p:cNvSpPr txBox="1"/>
          <p:nvPr/>
        </p:nvSpPr>
        <p:spPr>
          <a:xfrm>
            <a:off x="108879" y="71163"/>
            <a:ext cx="2418628" cy="399468"/>
          </a:xfrm>
          <a:prstGeom prst="rect">
            <a:avLst/>
          </a:prstGeom>
          <a:noFill/>
        </p:spPr>
        <p:txBody>
          <a:bodyPr wrap="square" rtlCol="0">
            <a:spAutoFit/>
          </a:bodyPr>
          <a:lstStyle/>
          <a:p>
            <a:r>
              <a:rPr lang="en-GB" sz="998" dirty="0">
                <a:solidFill>
                  <a:schemeClr val="bg1"/>
                </a:solidFill>
              </a:rPr>
              <a:t>Simple start:  We need scenarios and personas from the customer’s POV</a:t>
            </a:r>
          </a:p>
        </p:txBody>
      </p:sp>
    </p:spTree>
    <p:extLst>
      <p:ext uri="{BB962C8B-B14F-4D97-AF65-F5344CB8AC3E}">
        <p14:creationId xmlns:p14="http://schemas.microsoft.com/office/powerpoint/2010/main" val="3113687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C7C2034B454B4782E9F34958E26E49" ma:contentTypeVersion="3" ma:contentTypeDescription="Create a new document." ma:contentTypeScope="" ma:versionID="997c8405c91386b2c9b9c974b62d6790">
  <xsd:schema xmlns:xsd="http://www.w3.org/2001/XMLSchema" xmlns:xs="http://www.w3.org/2001/XMLSchema" xmlns:p="http://schemas.microsoft.com/office/2006/metadata/properties" xmlns:ns2="214aa0a2-2765-4207-a26f-1760d9193c2c" targetNamespace="http://schemas.microsoft.com/office/2006/metadata/properties" ma:root="true" ma:fieldsID="980dcc925742e10cd4869ff1b3b0bcf4" ns2:_="">
    <xsd:import namespace="214aa0a2-2765-4207-a26f-1760d9193c2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4aa0a2-2765-4207-a26f-1760d9193c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518CEEA-9C01-46EB-B738-D59295EB7124}"/>
</file>

<file path=customXml/itemProps2.xml><?xml version="1.0" encoding="utf-8"?>
<ds:datastoreItem xmlns:ds="http://schemas.openxmlformats.org/officeDocument/2006/customXml" ds:itemID="{4B8EF9D3-46A8-4937-BCC8-D73497D2196D}"/>
</file>

<file path=customXml/itemProps3.xml><?xml version="1.0" encoding="utf-8"?>
<ds:datastoreItem xmlns:ds="http://schemas.openxmlformats.org/officeDocument/2006/customXml" ds:itemID="{D0DE8F6F-9620-4ED9-B5D2-2B085BB4D4FF}"/>
</file>

<file path=docProps/app.xml><?xml version="1.0" encoding="utf-8"?>
<Properties xmlns="http://schemas.openxmlformats.org/officeDocument/2006/extended-properties" xmlns:vt="http://schemas.openxmlformats.org/officeDocument/2006/docPropsVTypes">
  <TotalTime>200</TotalTime>
  <Words>2985</Words>
  <Application>Microsoft Office PowerPoint</Application>
  <PresentationFormat>Widescreen</PresentationFormat>
  <Paragraphs>349</Paragraphs>
  <Slides>5</Slides>
  <Notes>3</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 Benefits Dependency Network </vt:lpstr>
      <vt:lpstr>PowerPoint Presentation</vt:lpstr>
      <vt:lpstr>Business Model Canvas (BMC)</vt:lpstr>
      <vt:lpstr>Notional GTM Go Live work back plan Project Schedule and Milestones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Paolo Tibaldeschi</dc:creator>
  <cp:lastModifiedBy>Richard Peers</cp:lastModifiedBy>
  <cp:revision>79</cp:revision>
  <dcterms:created xsi:type="dcterms:W3CDTF">2023-04-21T07:56:23Z</dcterms:created>
  <dcterms:modified xsi:type="dcterms:W3CDTF">2025-10-30T18:26:25Z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0x010100E8C7C2034B454B4782E9F34958E26E49</vt:lpwstr>
  </property>
</Properties>
</file>